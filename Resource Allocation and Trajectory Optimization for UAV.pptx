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1420" r:id="rId2"/>
    <p:sldId id="1421" r:id="rId3"/>
    <p:sldId id="1422" r:id="rId4"/>
    <p:sldId id="1423" r:id="rId5"/>
    <p:sldId id="1424" r:id="rId6"/>
    <p:sldId id="1425" r:id="rId7"/>
    <p:sldId id="1426" r:id="rId8"/>
    <p:sldId id="1427" r:id="rId9"/>
    <p:sldId id="1428" r:id="rId10"/>
    <p:sldId id="1429" r:id="rId11"/>
    <p:sldId id="1430" r:id="rId12"/>
    <p:sldId id="1431" r:id="rId13"/>
    <p:sldId id="1432" r:id="rId14"/>
    <p:sldId id="1433" r:id="rId15"/>
    <p:sldId id="1434" r:id="rId16"/>
    <p:sldId id="1435" r:id="rId17"/>
    <p:sldId id="1436" r:id="rId18"/>
    <p:sldId id="1437" r:id="rId19"/>
    <p:sldId id="1438" r:id="rId20"/>
    <p:sldId id="1439" r:id="rId21"/>
    <p:sldId id="1440" r:id="rId22"/>
    <p:sldId id="1441" r:id="rId23"/>
    <p:sldId id="1442" r:id="rId24"/>
    <p:sldId id="1443" r:id="rId25"/>
    <p:sldId id="1444" r:id="rId26"/>
    <p:sldId id="1445" r:id="rId27"/>
    <p:sldId id="1446" r:id="rId28"/>
    <p:sldId id="1447" r:id="rId29"/>
    <p:sldId id="1448" r:id="rId30"/>
    <p:sldId id="1449" r:id="rId31"/>
    <p:sldId id="1450" r:id="rId32"/>
    <p:sldId id="1451" r:id="rId33"/>
    <p:sldId id="1452" r:id="rId34"/>
    <p:sldId id="1453" r:id="rId35"/>
    <p:sldId id="1454" r:id="rId36"/>
    <p:sldId id="1455" r:id="rId37"/>
    <p:sldId id="1456" r:id="rId38"/>
    <p:sldId id="1457" r:id="rId39"/>
    <p:sldId id="1458" r:id="rId40"/>
    <p:sldId id="1459" r:id="rId41"/>
    <p:sldId id="1460" r:id="rId42"/>
    <p:sldId id="1461" r:id="rId43"/>
    <p:sldId id="1462" r:id="rId44"/>
    <p:sldId id="1463" r:id="rId45"/>
    <p:sldId id="1464" r:id="rId46"/>
    <p:sldId id="1465" r:id="rId47"/>
    <p:sldId id="1466" r:id="rId48"/>
    <p:sldId id="1467" r:id="rId49"/>
    <p:sldId id="1468" r:id="rId50"/>
    <p:sldId id="1469" r:id="rId51"/>
    <p:sldId id="1470" r:id="rId52"/>
    <p:sldId id="1471" r:id="rId53"/>
    <p:sldId id="1472" r:id="rId54"/>
    <p:sldId id="1473" r:id="rId55"/>
    <p:sldId id="1474" r:id="rId56"/>
    <p:sldId id="1475" r:id="rId57"/>
    <p:sldId id="1476" r:id="rId58"/>
    <p:sldId id="1477" r:id="rId59"/>
    <p:sldId id="1478" r:id="rId60"/>
    <p:sldId id="1479" r:id="rId61"/>
    <p:sldId id="1480" r:id="rId62"/>
    <p:sldId id="1481" r:id="rId63"/>
    <p:sldId id="1482" r:id="rId64"/>
  </p:sldIdLst>
  <p:sldSz cx="12192000" cy="6858000"/>
  <p:notesSz cx="6858000" cy="9144000"/>
  <p:defaultTextStyle>
    <a:defPPr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193C43-86CB-4E59-B1EB-ADE4B892B60F}" v="3" dt="2026-03-09T01:02:53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K MD GULAM" userId="3629686c-1963-4ad0-9d90-f64896f145bd" providerId="ADAL" clId="{C1066301-46E8-4A63-ABD9-64A0D5EA0B02}"/>
    <pc:docChg chg="custSel modSld">
      <pc:chgData name="ISHAK MD GULAM" userId="3629686c-1963-4ad0-9d90-f64896f145bd" providerId="ADAL" clId="{C1066301-46E8-4A63-ABD9-64A0D5EA0B02}" dt="2026-03-09T01:06:44.258" v="194" actId="20577"/>
      <pc:docMkLst>
        <pc:docMk/>
      </pc:docMkLst>
      <pc:sldChg chg="modSp mod">
        <pc:chgData name="ISHAK MD GULAM" userId="3629686c-1963-4ad0-9d90-f64896f145bd" providerId="ADAL" clId="{C1066301-46E8-4A63-ABD9-64A0D5EA0B02}" dt="2026-03-09T01:06:44.258" v="194" actId="20577"/>
        <pc:sldMkLst>
          <pc:docMk/>
          <pc:sldMk cId="1157537709" sldId="1420"/>
        </pc:sldMkLst>
        <pc:spChg chg="mod">
          <ac:chgData name="ISHAK MD GULAM" userId="3629686c-1963-4ad0-9d90-f64896f145bd" providerId="ADAL" clId="{C1066301-46E8-4A63-ABD9-64A0D5EA0B02}" dt="2026-03-09T01:03:37.255" v="185" actId="27636"/>
          <ac:spMkLst>
            <pc:docMk/>
            <pc:sldMk cId="1157537709" sldId="1420"/>
            <ac:spMk id="2" creationId="{773E81F8-418E-46B0-BF79-A9E5C85CC220}"/>
          </ac:spMkLst>
        </pc:spChg>
        <pc:spChg chg="mod">
          <ac:chgData name="ISHAK MD GULAM" userId="3629686c-1963-4ad0-9d90-f64896f145bd" providerId="ADAL" clId="{C1066301-46E8-4A63-ABD9-64A0D5EA0B02}" dt="2026-03-09T01:06:44.258" v="194" actId="20577"/>
          <ac:spMkLst>
            <pc:docMk/>
            <pc:sldMk cId="1157537709" sldId="1420"/>
            <ac:spMk id="3" creationId="{9B30F031-E57C-4418-8811-D07BEE7C11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A80AD-75C0-4139-8349-D7A56AAE3422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06930-2FBF-4BDF-BB7A-ED0F3C0B8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36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BAEBA-F25F-4473-80C2-25CDA93B21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EA62A-FC14-43A6-9DFC-64DD0EA5E6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73821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FBF63-6BE2-44A2-9B92-27824B37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F48-9CCD-4EE9-BB40-4739D0DAE972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8BBDE-AC92-4490-AADC-B4FE998E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7C4298-2A89-4F0A-B1C0-77A88295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8C916F-6552-480F-893B-32796E62A980}"/>
              </a:ext>
            </a:extLst>
          </p:cNvPr>
          <p:cNvSpPr/>
          <p:nvPr userDrawn="1"/>
        </p:nvSpPr>
        <p:spPr>
          <a:xfrm>
            <a:off x="838200" y="3599357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1520A-C81E-4CF1-AECD-A61D6660DB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8E0C27-FA2C-4144-B7E7-505744E575A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FB215-C15F-4E74-86DC-78FAD0147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ADD3-F434-478C-876A-1D3933DF4707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EAFA9-F342-4D37-B503-8DFA950A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22012F-5023-43D1-B1CF-BFE3A893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5CEF90-2A69-4F23-93AB-B8D6AADF74CD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89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8F93D-390F-465E-B0D5-72A75C273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70026"/>
            <a:ext cx="10515600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01743D-6833-4A7C-B35A-0BDDB635A98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2845C-3C54-4151-820C-12503D6F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F26BB-6A75-410D-A6B0-8FD34915C10D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5650C-CE10-43E1-AA00-22EE20BA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FE2F95-697E-490C-9C4D-A59E0F91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1879A5-E33B-484A-B193-FE66531AACAC}"/>
              </a:ext>
            </a:extLst>
          </p:cNvPr>
          <p:cNvSpPr/>
          <p:nvPr userDrawn="1"/>
        </p:nvSpPr>
        <p:spPr>
          <a:xfrm>
            <a:off x="838200" y="4413578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86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7D261-400F-43CD-95C8-FE0DF8044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346026-ED45-448B-8D67-475453B7B9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649691"/>
            <a:ext cx="5104598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86C6A5-08D8-440E-B258-B881C64EC21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649691"/>
            <a:ext cx="5181600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FDB51-62F3-4D1B-B8F7-D40284A7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CDF8-1723-475A-8393-34F016E9B184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744B04-D686-4DE2-BDDC-A3B4F371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FBE183-4474-4131-AEA4-9ADE4020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208725-7285-4D04-9690-A0DD84547197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4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BF73A-35E0-4388-AE26-587E2089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9F70A1-A021-4782-95A0-99F4C3203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0FFB53-257A-4315-A28C-9FE12D4C9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A17D5D-46C0-4878-B7E2-BD08FCD07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C2F3F9-8CCB-4F5B-85A6-D7470170D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47C80F-A4FC-4C78-89AB-B072C5C0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CD4A-1F8C-4D3E-BDD6-84C4090AF0D6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D4C5CE-D7DE-4C43-8F9E-7EA5847E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1C2CFA-CB2F-4476-8491-FBDAB29C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16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B9CC5-A2AF-47C1-8376-B695DF82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A6AA3E-6C10-4BA8-AF8D-ECF436F9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73545-46C1-49FB-A041-5415163523D0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DE3192-439D-4BEF-8848-4DF7C36D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05EAAA-CE1A-4578-A8FD-BDB3D530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670823-6C59-4996-843F-A4B8E1292D69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5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FA01BA-2C19-4BC8-9D08-60CC0DEE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BC6A4-6274-4803-89FF-1DA18D4FE7AA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921DE2-A0F7-482E-898F-C86B8C83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6F57A-5DCA-4541-B19A-1752D1A3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11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04372-0C6C-4F44-86AB-8DDAF142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88709-254A-4ED6-9188-74666615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5872FF-AC9A-49BF-AC6E-F9EA1A406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7015C5-8E89-4986-AA3C-42A3F8FB6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353D-6971-4305-AB04-6AEE4DD0E048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82C019-EAA8-4CD6-BD5A-68BA9842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776716-556D-4628-94B1-7BC9A345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15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E144E-AA68-4DFD-9736-416AF8EE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C731A3-5F0D-4649-AF33-2F2F12D18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0070ED-93CE-4C5B-9A13-47766D18C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3E617-2B4B-4C49-B34C-F13496F5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5523-461B-44DB-AD97-7C06B206BE7B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88F62D-BB02-4585-B0DB-6C572478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DA3767-C6FA-46EE-B82E-E441B336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994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A2004-1E3B-4055-8772-F325E519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9AC7F-90CD-432E-AFBA-09A312E26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CBBB0-BA78-4216-B318-AF5F69D9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620A-9A66-47B0-9218-43F171A33458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E3B40-907A-49D6-9FA8-D643E4B4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417526-857D-45AD-9891-D1359E79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E34BDA-8046-4B35-A748-33A5A9C8C415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78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286F9E-ABB1-47D9-BCD5-5FE077BEA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4F122D-472C-4176-9045-BF5B3ED41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40FC9-5A0B-483C-BEC0-6349DDDF1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86D9-B5F3-454A-8918-B4C99ED5AEDE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F7ACB-A377-4E38-BF13-4CE4A72C6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2AD96-62E9-4856-8C7D-4FC6FA78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34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0155A6-5E23-4681-A0F6-D6378107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357F3-390C-49AE-BB15-6F8F57DC0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49691"/>
            <a:ext cx="10515600" cy="4527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9027F-305A-4270-8200-1B8B6B4B7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38399" y="6356350"/>
            <a:ext cx="13331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9D1D2423-15C0-4D7C-B759-40ACCC100800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1B4A95-7775-4330-B809-DA1B22478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F4CA50-4832-40EE-82BE-A431AAD80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331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A439D109-9F59-4B0B-8E20-D6D3A384B1F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EB3B3E-F3B6-4A77-8CE1-CA270A7A296F}"/>
              </a:ext>
            </a:extLst>
          </p:cNvPr>
          <p:cNvSpPr/>
          <p:nvPr userDrawn="1"/>
        </p:nvSpPr>
        <p:spPr>
          <a:xfrm>
            <a:off x="0" y="0"/>
            <a:ext cx="12192000" cy="235670"/>
          </a:xfrm>
          <a:prstGeom prst="rect">
            <a:avLst/>
          </a:prstGeom>
          <a:gradFill>
            <a:gsLst>
              <a:gs pos="63000">
                <a:schemeClr val="tx1"/>
              </a:gs>
              <a:gs pos="0">
                <a:schemeClr val="tx1"/>
              </a:gs>
              <a:gs pos="8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4D56D-F798-41D4-B204-99B8E8DEAB5A}"/>
              </a:ext>
            </a:extLst>
          </p:cNvPr>
          <p:cNvSpPr txBox="1"/>
          <p:nvPr userDrawn="1"/>
        </p:nvSpPr>
        <p:spPr>
          <a:xfrm>
            <a:off x="8501826" y="6550223"/>
            <a:ext cx="3690174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ognitive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ommunications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ystems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aboratory</a:t>
            </a:r>
            <a:endParaRPr lang="en-US" altLang="ko-KR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01637D-BAF8-43B2-A298-C5B3DAB22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77" b="34980"/>
          <a:stretch/>
        </p:blipFill>
        <p:spPr>
          <a:xfrm>
            <a:off x="9886511" y="17253"/>
            <a:ext cx="527404" cy="5262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0D9003C-FC42-4D68-ADBA-ADDEC8861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t="68955" b="6534"/>
          <a:stretch/>
        </p:blipFill>
        <p:spPr>
          <a:xfrm>
            <a:off x="10413915" y="17253"/>
            <a:ext cx="1760832" cy="52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xpl/RecentIssue.jsp?punumber=25" TargetMode="External"/><Relationship Id="rId3" Type="http://schemas.openxmlformats.org/officeDocument/2006/relationships/hyperlink" Target="https://ieeexplore.ieee.org/author/37085775419" TargetMode="External"/><Relationship Id="rId7" Type="http://schemas.openxmlformats.org/officeDocument/2006/relationships/hyperlink" Target="https://ieeexplore.ieee.org/author/37281394100" TargetMode="External"/><Relationship Id="rId2" Type="http://schemas.openxmlformats.org/officeDocument/2006/relationships/hyperlink" Target="https://ieeexplore.ieee.org/author/37085515078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eeexplore.ieee.org/author/37278653500" TargetMode="External"/><Relationship Id="rId5" Type="http://schemas.openxmlformats.org/officeDocument/2006/relationships/hyperlink" Target="https://ieeexplore.ieee.org/author/37281026600" TargetMode="External"/><Relationship Id="rId4" Type="http://schemas.openxmlformats.org/officeDocument/2006/relationships/hyperlink" Target="https://ieeexplore.ieee.org/author/38516823600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E81F8-418E-46B0-BF79-A9E5C85CC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169878"/>
            <a:ext cx="10501993" cy="1418326"/>
          </a:xfrm>
        </p:spPr>
        <p:txBody>
          <a:bodyPr>
            <a:noAutofit/>
          </a:bodyPr>
          <a:lstStyle/>
          <a:p>
            <a:r>
              <a:rPr lang="en-US" sz="3600" b="0" dirty="0"/>
              <a:t>Resource Allocation and Trajectory Optimization for UAV-Enabled Multi-User Covert Communications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30F031-E57C-4418-8811-D07BEE7C1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704436"/>
            <a:ext cx="10501993" cy="141832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u="sng" dirty="0">
                <a:hlinkClick r:id="rId2"/>
              </a:rPr>
              <a:t>Xu Jiang</a:t>
            </a:r>
            <a:r>
              <a:rPr lang="en-US" dirty="0"/>
              <a:t>; </a:t>
            </a:r>
            <a:r>
              <a:rPr lang="en-US" u="sng" dirty="0" err="1">
                <a:hlinkClick r:id="rId3"/>
              </a:rPr>
              <a:t>Zhutian</a:t>
            </a:r>
            <a:r>
              <a:rPr lang="en-US" u="sng" dirty="0">
                <a:hlinkClick r:id="rId3"/>
              </a:rPr>
              <a:t> Yang</a:t>
            </a:r>
            <a:r>
              <a:rPr lang="en-US" dirty="0"/>
              <a:t>; </a:t>
            </a:r>
            <a:r>
              <a:rPr lang="en-US" u="sng" dirty="0">
                <a:hlinkClick r:id="rId4"/>
              </a:rPr>
              <a:t>Nan Zhao</a:t>
            </a:r>
            <a:r>
              <a:rPr lang="en-US" dirty="0"/>
              <a:t>; </a:t>
            </a:r>
            <a:r>
              <a:rPr lang="en-US" u="sng" dirty="0" err="1">
                <a:hlinkClick r:id="rId5"/>
              </a:rPr>
              <a:t>Yunfei</a:t>
            </a:r>
            <a:r>
              <a:rPr lang="en-US" u="sng" dirty="0">
                <a:hlinkClick r:id="rId5"/>
              </a:rPr>
              <a:t> Chen</a:t>
            </a:r>
            <a:r>
              <a:rPr lang="en-US" dirty="0"/>
              <a:t>; </a:t>
            </a:r>
            <a:r>
              <a:rPr lang="en-US" u="sng" dirty="0" err="1">
                <a:hlinkClick r:id="rId6"/>
              </a:rPr>
              <a:t>Zhiguo</a:t>
            </a:r>
            <a:r>
              <a:rPr lang="en-US" u="sng" dirty="0">
                <a:hlinkClick r:id="rId6"/>
              </a:rPr>
              <a:t> Ding</a:t>
            </a:r>
            <a:r>
              <a:rPr lang="en-US" dirty="0"/>
              <a:t>; </a:t>
            </a:r>
            <a:r>
              <a:rPr lang="en-US" u="sng" dirty="0" err="1">
                <a:hlinkClick r:id="rId7"/>
              </a:rPr>
              <a:t>Xianbin</a:t>
            </a:r>
            <a:r>
              <a:rPr lang="en-US" u="sng" dirty="0">
                <a:hlinkClick r:id="rId7"/>
              </a:rPr>
              <a:t> Wang</a:t>
            </a:r>
            <a:endParaRPr lang="en-US" u="sng" dirty="0"/>
          </a:p>
          <a:p>
            <a:r>
              <a:rPr lang="en-US" b="1" dirty="0"/>
              <a:t>Published in: </a:t>
            </a:r>
            <a:r>
              <a:rPr lang="en-US" dirty="0">
                <a:hlinkClick r:id="rId8"/>
              </a:rPr>
              <a:t>IEEE Transactions on Vehicular Technology</a:t>
            </a:r>
            <a:endParaRPr lang="en-US" dirty="0"/>
          </a:p>
          <a:p>
            <a:r>
              <a:rPr lang="en-US" b="1" dirty="0"/>
              <a:t>Date of Publication:</a:t>
            </a:r>
            <a:r>
              <a:rPr lang="en-US" dirty="0"/>
              <a:t> 22 January 2021 </a:t>
            </a:r>
            <a:br>
              <a:rPr lang="en-US" dirty="0"/>
            </a:br>
            <a:br>
              <a:rPr lang="en-US" dirty="0"/>
            </a:br>
            <a:endParaRPr lang="en-US" altLang="ko-KR" dirty="0">
              <a:latin typeface="Arial"/>
              <a:ea typeface="맑은 고딕"/>
              <a:cs typeface="Arial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3469BC-9EBF-44CC-97A2-356DEFF5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537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B0A80-90E4-0AA9-896C-3625941CD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100A0-6BF2-3C73-BA46-918AB03DE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  <a:p>
            <a:r>
              <a:rPr lang="en-US" dirty="0"/>
              <a:t>Introduction</a:t>
            </a:r>
          </a:p>
          <a:p>
            <a:r>
              <a:rPr lang="en-US" dirty="0"/>
              <a:t>System Model</a:t>
            </a:r>
          </a:p>
          <a:p>
            <a:r>
              <a:rPr lang="en-US" dirty="0"/>
              <a:t>Problem Formulation</a:t>
            </a:r>
          </a:p>
          <a:p>
            <a:r>
              <a:rPr lang="en-US" dirty="0"/>
              <a:t>Covert rate maximization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3AFC9-135D-9458-18FC-9049F2BEE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04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86762-B87E-4E6B-3B88-54DD048A0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BCA16C-EC45-5AD6-B648-6B4207D3AD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Covert UAV Air-to-Ground Communication</a:t>
                </a:r>
              </a:p>
              <a:p>
                <a:pPr lvl="1"/>
                <a:r>
                  <a:rPr lang="en-US" b="1" dirty="0"/>
                  <a:t>Motivation</a:t>
                </a:r>
              </a:p>
              <a:p>
                <a:pPr lvl="2"/>
                <a:r>
                  <a:rPr lang="en-US" dirty="0"/>
                  <a:t>UAV wireless transmissions may be detected by a ground warden. </a:t>
                </a:r>
              </a:p>
              <a:p>
                <a:pPr lvl="2"/>
                <a:r>
                  <a:rPr lang="en-US" dirty="0"/>
                  <a:t>Covert communication aims to hide the </a:t>
                </a:r>
                <a:r>
                  <a:rPr lang="en-US" b="1" dirty="0"/>
                  <a:t>existence of the UAV transmission</a:t>
                </a:r>
                <a:r>
                  <a:rPr lang="en-US" dirty="0"/>
                  <a:t>. </a:t>
                </a:r>
              </a:p>
              <a:p>
                <a:pPr lvl="2"/>
                <a:r>
                  <a:rPr lang="en-US" dirty="0"/>
                  <a:t>The warden has: </a:t>
                </a:r>
              </a:p>
              <a:p>
                <a:pPr lvl="3"/>
                <a:r>
                  <a:rPr lang="en-US" dirty="0"/>
                  <a:t>A limited number of signal observations </a:t>
                </a:r>
              </a:p>
              <a:p>
                <a:pPr lvl="3"/>
                <a:r>
                  <a:rPr lang="en-US" dirty="0"/>
                  <a:t>Uncertain location information </a:t>
                </a:r>
              </a:p>
              <a:p>
                <a:pPr lvl="1"/>
                <a:r>
                  <a:rPr lang="en-US" b="1" dirty="0"/>
                  <a:t>Main Objective</a:t>
                </a:r>
              </a:p>
              <a:p>
                <a:pPr lvl="2"/>
                <a:r>
                  <a:rPr lang="en-US" dirty="0"/>
                  <a:t>Maximize the </a:t>
                </a:r>
                <a:r>
                  <a:rPr lang="en-US" b="1" dirty="0"/>
                  <a:t>average covert communication rate</a:t>
                </a:r>
                <a:r>
                  <a:rPr lang="en-US" dirty="0"/>
                  <a:t> from the UAV to the ground receiver. </a:t>
                </a:r>
              </a:p>
              <a:p>
                <a:pPr lvl="2"/>
                <a:r>
                  <a:rPr lang="en-US" dirty="0"/>
                  <a:t>Guarantee communication covertness under the </a:t>
                </a:r>
                <a:r>
                  <a:rPr lang="en-US" b="1" dirty="0"/>
                  <a:t>worst-case warden location</a:t>
                </a:r>
                <a:r>
                  <a:rPr lang="en-US" dirty="0"/>
                  <a:t>. </a:t>
                </a:r>
              </a:p>
              <a:p>
                <a:pPr lvl="1"/>
                <a:r>
                  <a:rPr lang="en-US" b="1" dirty="0"/>
                  <a:t>Key Consideration</a:t>
                </a:r>
              </a:p>
              <a:p>
                <a:pPr lvl="2"/>
                <a:r>
                  <a:rPr lang="en-US" dirty="0"/>
                  <a:t>The warden’s total detection error probability is analyzed under limited observations: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FA</m:t>
                        </m:r>
                      </m:sub>
                    </m:sSub>
                    <m:r>
                      <a:rPr lang="en-US"/>
                      <m:t>+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MD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A sufficiently large </a:t>
                </a:r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</m:oMath>
                </a14:m>
                <a:r>
                  <a:rPr lang="en-US" dirty="0"/>
                  <a:t>means that the warden cannot reliably determine whether the UAV is transmitting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BCA16C-EC45-5AD6-B648-6B4207D3AD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6DF40-1BF6-3047-761C-73FE446D8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752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B7D4B-7EBA-4459-2EDB-6EF02136D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37A6A-BE79-47D1-7B5C-9DD9F323E5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Proposed Optimization and Main Results</a:t>
                </a:r>
              </a:p>
              <a:p>
                <a:pPr lvl="1"/>
                <a:r>
                  <a:rPr lang="en-US" dirty="0"/>
                  <a:t>Joint Optimization Problem</a:t>
                </a:r>
              </a:p>
              <a:p>
                <a:pPr lvl="1"/>
                <a:r>
                  <a:rPr lang="en-US" dirty="0"/>
                  <a:t>The following variables are jointly optimized:</a:t>
                </a:r>
              </a:p>
              <a:p>
                <a:pPr lvl="2"/>
                <a:r>
                  <a:rPr lang="en-US" dirty="0"/>
                  <a:t>Time-slot allocation </a:t>
                </a:r>
              </a:p>
              <a:p>
                <a:pPr lvl="2"/>
                <a:r>
                  <a:rPr lang="en-US" dirty="0"/>
                  <a:t>UAV transmit-power allocation </a:t>
                </a:r>
              </a:p>
              <a:p>
                <a:pPr lvl="2"/>
                <a:r>
                  <a:rPr lang="en-US" dirty="0"/>
                  <a:t>UAV trajectory </a:t>
                </a:r>
              </a:p>
              <a:p>
                <a:pPr lvl="1"/>
                <a:r>
                  <a:rPr lang="en-US" dirty="0"/>
                  <a:t>Proposed Solution</a:t>
                </a:r>
              </a:p>
              <a:p>
                <a:pPr lvl="2"/>
                <a:r>
                  <a:rPr lang="en-US" dirty="0"/>
                  <a:t>A Block Coordinate Descent (BCD)-based iterative algorithm is developed. </a:t>
                </a:r>
              </a:p>
              <a:p>
                <a:pPr lvl="2"/>
                <a:r>
                  <a:rPr lang="en-US" dirty="0"/>
                  <a:t>The variables are optimized alternately: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/>
                      <m:t>Time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m:rPr>
                        <m:nor/>
                      </m:rPr>
                      <a:rPr lang="en-US" b="0" i="0"/>
                      <m:t>Allocation</m:t>
                    </m:r>
                    <m:r>
                      <a:rPr lang="en-US"/>
                      <m:t>→</m:t>
                    </m:r>
                    <m:r>
                      <m:rPr>
                        <m:nor/>
                      </m:rPr>
                      <a:rPr lang="en-US"/>
                      <m:t>Power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Allocation</m:t>
                    </m:r>
                    <m:r>
                      <a:rPr lang="en-US"/>
                      <m:t>→</m:t>
                    </m:r>
                    <m:r>
                      <m:rPr>
                        <m:nor/>
                      </m:rPr>
                      <a:rPr lang="en-US"/>
                      <m:t>UAV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Trajectory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The process is repeated until convergence. </a:t>
                </a:r>
              </a:p>
              <a:p>
                <a:pPr lvl="1"/>
                <a:r>
                  <a:rPr lang="en-US" dirty="0"/>
                  <a:t>Main Contributions and Results</a:t>
                </a:r>
              </a:p>
              <a:p>
                <a:pPr lvl="2"/>
                <a:r>
                  <a:rPr lang="en-US" dirty="0"/>
                  <a:t>Develops a detection-error model for a warden with limited observations. </a:t>
                </a:r>
              </a:p>
              <a:p>
                <a:pPr lvl="2"/>
                <a:r>
                  <a:rPr lang="en-US" dirty="0"/>
                  <a:t>Introduces a worst-case covertness constraint considering warden location uncertainty. </a:t>
                </a:r>
              </a:p>
              <a:p>
                <a:pPr lvl="2"/>
                <a:r>
                  <a:rPr lang="en-US" dirty="0"/>
                  <a:t>Jointly designs communication resources and UAV mobility. </a:t>
                </a:r>
              </a:p>
              <a:p>
                <a:pPr lvl="2"/>
                <a:r>
                  <a:rPr lang="en-US" dirty="0"/>
                  <a:t>Numerical results confirm that the proposed approach effectively improves the </a:t>
                </a:r>
                <a:r>
                  <a:rPr lang="en-US" b="1" dirty="0"/>
                  <a:t>average covert rate</a:t>
                </a:r>
                <a:r>
                  <a:rPr lang="en-US" dirty="0"/>
                  <a:t> while maintaining covertness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37A6A-BE79-47D1-7B5C-9DD9F323E5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1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6D05A-A518-21E0-C224-23431EB64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506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D1D6D-BAF5-0E07-1E3B-5DD0BA314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20359-4FAE-D544-F7FD-4C5104BC5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UAV-Assisted Wireless Communications</a:t>
            </a:r>
          </a:p>
          <a:p>
            <a:pPr lvl="1"/>
            <a:r>
              <a:rPr lang="en-US" dirty="0"/>
              <a:t>Advantages of UAV Communications</a:t>
            </a:r>
          </a:p>
          <a:p>
            <a:pPr lvl="2"/>
            <a:r>
              <a:rPr lang="en-US" dirty="0"/>
              <a:t>Flexible and rapid deployment </a:t>
            </a:r>
          </a:p>
          <a:p>
            <a:pPr lvl="2"/>
            <a:r>
              <a:rPr lang="en-US" dirty="0"/>
              <a:t>High mobility </a:t>
            </a:r>
          </a:p>
          <a:p>
            <a:pPr lvl="2"/>
            <a:r>
              <a:rPr lang="en-US" dirty="0"/>
              <a:t>Strong line-of-sight (</a:t>
            </a:r>
            <a:r>
              <a:rPr lang="en-US" dirty="0" err="1"/>
              <a:t>LoS</a:t>
            </a:r>
            <a:r>
              <a:rPr lang="en-US" dirty="0"/>
              <a:t>) air-to-ground channels </a:t>
            </a:r>
          </a:p>
          <a:p>
            <a:pPr lvl="2"/>
            <a:r>
              <a:rPr lang="en-US" dirty="0"/>
              <a:t>Ability to adjust position according to communication requirements </a:t>
            </a:r>
          </a:p>
          <a:p>
            <a:pPr lvl="1"/>
            <a:r>
              <a:rPr lang="en-US" dirty="0"/>
              <a:t>Major Applications</a:t>
            </a:r>
          </a:p>
          <a:p>
            <a:pPr lvl="2"/>
            <a:r>
              <a:rPr lang="en-US" dirty="0"/>
              <a:t>Disaster rescue </a:t>
            </a:r>
          </a:p>
          <a:p>
            <a:pPr lvl="2"/>
            <a:r>
              <a:rPr lang="en-US" dirty="0"/>
              <a:t>Surveillance </a:t>
            </a:r>
          </a:p>
          <a:p>
            <a:pPr lvl="2"/>
            <a:r>
              <a:rPr lang="en-US" dirty="0"/>
              <a:t>Data gathering </a:t>
            </a:r>
          </a:p>
          <a:p>
            <a:pPr lvl="2"/>
            <a:r>
              <a:rPr lang="en-US" dirty="0"/>
              <a:t>Wireless data relaying </a:t>
            </a:r>
          </a:p>
          <a:p>
            <a:pPr lvl="2"/>
            <a:r>
              <a:rPr lang="en-US" dirty="0"/>
              <a:t>Military communications </a:t>
            </a:r>
          </a:p>
          <a:p>
            <a:pPr lvl="1"/>
            <a:r>
              <a:rPr lang="en-US" dirty="0"/>
              <a:t>Security Challenge</a:t>
            </a:r>
          </a:p>
          <a:p>
            <a:pPr lvl="2"/>
            <a:r>
              <a:rPr lang="en-US" dirty="0"/>
              <a:t>Wireless signals are naturally broadcast. </a:t>
            </a:r>
          </a:p>
          <a:p>
            <a:pPr lvl="2"/>
            <a:r>
              <a:rPr lang="en-US" dirty="0"/>
              <a:t>Strong </a:t>
            </a:r>
            <a:r>
              <a:rPr lang="en-US" dirty="0" err="1"/>
              <a:t>LoS</a:t>
            </a:r>
            <a:r>
              <a:rPr lang="en-US" dirty="0"/>
              <a:t> links make UAV transmissions easier to detect. </a:t>
            </a:r>
          </a:p>
          <a:p>
            <a:pPr lvl="2"/>
            <a:r>
              <a:rPr lang="en-US" dirty="0"/>
              <a:t>UAV communications are therefore vulnerable to: </a:t>
            </a:r>
          </a:p>
          <a:p>
            <a:pPr lvl="3"/>
            <a:r>
              <a:rPr lang="en-US" dirty="0"/>
              <a:t>Malicious eavesdroppers </a:t>
            </a:r>
          </a:p>
          <a:p>
            <a:pPr lvl="3"/>
            <a:r>
              <a:rPr lang="en-US" dirty="0"/>
              <a:t>Terrestrial wardens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A4B2B-10F8-15A0-40D9-26D77FCFC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364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14873-B580-E814-666D-260BAED18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78799-95EC-AE0B-0CF3-DB0149B55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Physical Layer Security vs. Covert Communication</a:t>
            </a:r>
          </a:p>
          <a:p>
            <a:pPr lvl="1"/>
            <a:r>
              <a:rPr lang="en-US" dirty="0"/>
              <a:t>Physical Layer Security</a:t>
            </a:r>
          </a:p>
          <a:p>
            <a:pPr lvl="2"/>
            <a:r>
              <a:rPr lang="en-US" dirty="0"/>
              <a:t>Prevents an eavesdropper from decoding confidential information. </a:t>
            </a:r>
          </a:p>
          <a:p>
            <a:pPr lvl="2"/>
            <a:r>
              <a:rPr lang="en-US" dirty="0"/>
              <a:t>Security can be improved through: </a:t>
            </a:r>
          </a:p>
          <a:p>
            <a:pPr lvl="3"/>
            <a:r>
              <a:rPr lang="en-US" dirty="0"/>
              <a:t>UAV transmit-power control </a:t>
            </a:r>
          </a:p>
          <a:p>
            <a:pPr lvl="3"/>
            <a:r>
              <a:rPr lang="en-US" dirty="0"/>
              <a:t>UAV trajectory optimization </a:t>
            </a:r>
          </a:p>
          <a:p>
            <a:pPr lvl="1"/>
            <a:r>
              <a:rPr lang="en-US" dirty="0"/>
              <a:t>Limitation of Physical Layer Security</a:t>
            </a:r>
          </a:p>
          <a:p>
            <a:pPr lvl="2"/>
            <a:r>
              <a:rPr lang="en-US" dirty="0"/>
              <a:t>The adversary may still detect that a transmission is taking place. </a:t>
            </a:r>
          </a:p>
          <a:p>
            <a:pPr lvl="2"/>
            <a:r>
              <a:rPr lang="en-US" dirty="0"/>
              <a:t>In critical applications, detecting the transmission itself may reveal: </a:t>
            </a:r>
          </a:p>
          <a:p>
            <a:pPr lvl="3"/>
            <a:r>
              <a:rPr lang="en-US" dirty="0"/>
              <a:t>UAV activity </a:t>
            </a:r>
          </a:p>
          <a:p>
            <a:pPr lvl="3"/>
            <a:r>
              <a:rPr lang="en-US" dirty="0"/>
              <a:t>Communication location </a:t>
            </a:r>
          </a:p>
          <a:p>
            <a:pPr lvl="3"/>
            <a:r>
              <a:rPr lang="en-US" dirty="0"/>
              <a:t>Possible military operations </a:t>
            </a:r>
          </a:p>
          <a:p>
            <a:pPr lvl="1"/>
            <a:r>
              <a:rPr lang="en-US" dirty="0"/>
              <a:t>Covert Communication</a:t>
            </a:r>
          </a:p>
          <a:p>
            <a:pPr lvl="2"/>
            <a:r>
              <a:rPr lang="en-US" dirty="0"/>
              <a:t>Also known as low probability of intercept communication. </a:t>
            </a:r>
          </a:p>
          <a:p>
            <a:pPr lvl="2"/>
            <a:r>
              <a:rPr lang="en-US" dirty="0"/>
              <a:t>Its objective is to hide the existence of wireless transmission from the warden.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4C46E-198A-6212-C0BA-FED6EFB9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427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008D0-D017-0691-44E5-180F47901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70979-957B-272D-43A6-4E774BD28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Existing Research on Covert UAV Communications</a:t>
            </a:r>
          </a:p>
          <a:p>
            <a:pPr lvl="1"/>
            <a:r>
              <a:rPr lang="en-US" dirty="0"/>
              <a:t>Previous Studies</a:t>
            </a:r>
          </a:p>
          <a:p>
            <a:pPr lvl="2"/>
            <a:r>
              <a:rPr lang="en-US" dirty="0"/>
              <a:t>Analyzed the total detection error probability of UAV transmission. </a:t>
            </a:r>
          </a:p>
          <a:p>
            <a:pPr lvl="2"/>
            <a:r>
              <a:rPr lang="en-US" dirty="0"/>
              <a:t>Used a UAV as a warden in multi-hop covert communication. </a:t>
            </a:r>
          </a:p>
          <a:p>
            <a:pPr lvl="2"/>
            <a:r>
              <a:rPr lang="en-US" dirty="0"/>
              <a:t>Jointly optimized UAV transmit power and altitude. </a:t>
            </a:r>
          </a:p>
          <a:p>
            <a:pPr lvl="2"/>
            <a:r>
              <a:rPr lang="en-US" dirty="0"/>
              <a:t>Jointly optimized UAV transmit power and trajectory. </a:t>
            </a:r>
          </a:p>
          <a:p>
            <a:pPr lvl="2"/>
            <a:r>
              <a:rPr lang="en-US" dirty="0"/>
              <a:t>Demonstrated that UAV mobility and resource allocation can improve covertness. </a:t>
            </a:r>
          </a:p>
          <a:p>
            <a:pPr lvl="1"/>
            <a:r>
              <a:rPr lang="en-US" dirty="0"/>
              <a:t>Main Assumptions in Previous Works</a:t>
            </a:r>
          </a:p>
          <a:p>
            <a:pPr lvl="2"/>
            <a:r>
              <a:rPr lang="en-US" dirty="0"/>
              <a:t>Most studies considered only a single ground user. </a:t>
            </a:r>
          </a:p>
          <a:p>
            <a:pPr lvl="2"/>
            <a:r>
              <a:rPr lang="en-US" dirty="0"/>
              <a:t>Some studies assumed that the warden had an infinite number of observations in each time slot. </a:t>
            </a:r>
          </a:p>
          <a:p>
            <a:pPr lvl="1"/>
            <a:r>
              <a:rPr lang="en-US" dirty="0"/>
              <a:t>Research Gap</a:t>
            </a:r>
          </a:p>
          <a:p>
            <a:pPr lvl="2"/>
            <a:r>
              <a:rPr lang="en-US" dirty="0"/>
              <a:t>Covert UAV communication for multiple ground users remains insufficiently studied. </a:t>
            </a:r>
          </a:p>
          <a:p>
            <a:pPr lvl="2"/>
            <a:r>
              <a:rPr lang="en-US" dirty="0"/>
              <a:t>The impact of a warden with a limited number of observations must also be considered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3A48E-3D8D-1D97-621B-39060366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430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2F2D7-912B-2020-E53D-9ACCBDAC5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34DC8-86AA-0341-64FD-EA538492C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Considered Multiuser Covert UAV System</a:t>
            </a:r>
          </a:p>
          <a:p>
            <a:pPr lvl="1"/>
            <a:r>
              <a:rPr lang="en-US" dirty="0"/>
              <a:t>System Scenario</a:t>
            </a:r>
          </a:p>
          <a:p>
            <a:pPr lvl="2"/>
            <a:r>
              <a:rPr lang="en-US" dirty="0"/>
              <a:t>One UAV transmits confidential information to multiple ground users. </a:t>
            </a:r>
          </a:p>
          <a:p>
            <a:pPr lvl="2"/>
            <a:r>
              <a:rPr lang="en-US" dirty="0"/>
              <a:t>A terrestrial warden attempts to detect the UAV’s transmission. </a:t>
            </a:r>
          </a:p>
          <a:p>
            <a:pPr lvl="2"/>
            <a:r>
              <a:rPr lang="en-US" dirty="0"/>
              <a:t>The warden knows the UAV’s exact location. </a:t>
            </a:r>
          </a:p>
          <a:p>
            <a:pPr lvl="2"/>
            <a:r>
              <a:rPr lang="en-US" dirty="0"/>
              <a:t>The UAV only knows an estimated location of the warden. </a:t>
            </a:r>
          </a:p>
          <a:p>
            <a:pPr lvl="1"/>
            <a:r>
              <a:rPr lang="en-US" dirty="0"/>
              <a:t>Multiuser Transmission</a:t>
            </a:r>
          </a:p>
          <a:p>
            <a:pPr lvl="2"/>
            <a:r>
              <a:rPr lang="en-US" dirty="0"/>
              <a:t>Time-Division Multiple Access (TDMA) is adopted. </a:t>
            </a:r>
          </a:p>
          <a:p>
            <a:pPr lvl="2"/>
            <a:r>
              <a:rPr lang="en-US" dirty="0"/>
              <a:t>Each time slot is assigned to one ground user. </a:t>
            </a:r>
          </a:p>
          <a:p>
            <a:pPr lvl="2"/>
            <a:r>
              <a:rPr lang="en-US" dirty="0"/>
              <a:t>The UAV can fly closer to the scheduled user to improve its communication rate. </a:t>
            </a:r>
          </a:p>
          <a:p>
            <a:pPr lvl="1"/>
            <a:r>
              <a:rPr lang="en-US" dirty="0"/>
              <a:t>Robust Covertness Requirement</a:t>
            </a:r>
          </a:p>
          <a:p>
            <a:pPr lvl="2"/>
            <a:r>
              <a:rPr lang="en-US" dirty="0"/>
              <a:t>Warden-location uncertainty is considered. </a:t>
            </a:r>
          </a:p>
          <a:p>
            <a:pPr lvl="2"/>
            <a:r>
              <a:rPr lang="en-US" dirty="0"/>
              <a:t>Covertness must be guaranteed under the worst-case possible warden location.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D6832-3243-213E-08F2-7C6B136D2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27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73AD-F1C7-2952-DE08-BC0B71A00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2499D-B01B-17A5-5718-79DD1730C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Formulation and Proposed Solution</a:t>
            </a:r>
          </a:p>
          <a:p>
            <a:pPr lvl="1"/>
            <a:r>
              <a:rPr lang="en-US" dirty="0"/>
              <a:t>Optimization Objective</a:t>
            </a:r>
          </a:p>
          <a:p>
            <a:pPr lvl="2"/>
            <a:r>
              <a:rPr lang="en-US" dirty="0"/>
              <a:t>Maximize the worst-case average covert communication rate by jointly optimizing:</a:t>
            </a:r>
          </a:p>
          <a:p>
            <a:pPr lvl="3"/>
            <a:r>
              <a:rPr lang="en-US" dirty="0"/>
              <a:t>Time-slot allocation </a:t>
            </a:r>
          </a:p>
          <a:p>
            <a:pPr lvl="3"/>
            <a:r>
              <a:rPr lang="en-US" dirty="0"/>
              <a:t>UAV transmit-power allocation </a:t>
            </a:r>
          </a:p>
          <a:p>
            <a:pPr lvl="3"/>
            <a:r>
              <a:rPr lang="en-US" dirty="0"/>
              <a:t>UAV flight trajectory </a:t>
            </a:r>
          </a:p>
          <a:p>
            <a:pPr lvl="1"/>
            <a:r>
              <a:rPr lang="en-US" dirty="0"/>
              <a:t>Main Challenge</a:t>
            </a:r>
          </a:p>
          <a:p>
            <a:pPr lvl="2"/>
            <a:r>
              <a:rPr lang="en-US" dirty="0"/>
              <a:t>The joint optimization problem is non-convex. </a:t>
            </a:r>
          </a:p>
          <a:p>
            <a:pPr lvl="2"/>
            <a:r>
              <a:rPr lang="en-US" dirty="0"/>
              <a:t>The optimization variables are strongly coupled through: </a:t>
            </a:r>
          </a:p>
          <a:p>
            <a:pPr lvl="3"/>
            <a:r>
              <a:rPr lang="en-US" dirty="0"/>
              <a:t>Communication-rate constraints </a:t>
            </a:r>
          </a:p>
          <a:p>
            <a:pPr lvl="3"/>
            <a:r>
              <a:rPr lang="en-US" dirty="0"/>
              <a:t>Covertness constraints </a:t>
            </a:r>
          </a:p>
          <a:p>
            <a:pPr lvl="3"/>
            <a:r>
              <a:rPr lang="en-US" dirty="0"/>
              <a:t>UAV mobility constraints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CC6B4-D5E1-62B8-FE69-047770C6D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546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9D28E-A38F-76CE-742E-8A434184D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EEAA96-BD8F-D1E7-5A88-176971016C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Problem Formulation and Proposed Solution</a:t>
                </a:r>
              </a:p>
              <a:p>
                <a:pPr lvl="1"/>
                <a:r>
                  <a:rPr lang="en-US" dirty="0"/>
                  <a:t>Proposed Solution</a:t>
                </a:r>
              </a:p>
              <a:p>
                <a:pPr lvl="2"/>
                <a:r>
                  <a:rPr lang="en-US" dirty="0"/>
                  <a:t>Analyze the covertness constraint from: </a:t>
                </a:r>
              </a:p>
              <a:p>
                <a:pPr lvl="3"/>
                <a:r>
                  <a:rPr lang="en-US" dirty="0"/>
                  <a:t>The warden’s perspective </a:t>
                </a:r>
              </a:p>
              <a:p>
                <a:pPr lvl="3"/>
                <a:r>
                  <a:rPr lang="en-US" dirty="0"/>
                  <a:t>The UAV’s perspective </a:t>
                </a:r>
              </a:p>
              <a:p>
                <a:pPr lvl="2"/>
                <a:r>
                  <a:rPr lang="en-US" dirty="0"/>
                  <a:t>Develop a low-complexity iterative algorithm based on Block Coordinate Descent (BCD). </a:t>
                </a:r>
              </a:p>
              <a:p>
                <a:pPr lvl="2"/>
                <a:r>
                  <a:rPr lang="en-US" dirty="0"/>
                  <a:t>Alternately optimize: 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Time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Allocation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Power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Allocation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Trajectory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Design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Expected Benefit</a:t>
                </a:r>
              </a:p>
              <a:p>
                <a:pPr lvl="2"/>
                <a:r>
                  <a:rPr lang="en-US" dirty="0"/>
                  <a:t>Improved multiuser covert rate </a:t>
                </a:r>
              </a:p>
              <a:p>
                <a:pPr lvl="2"/>
                <a:r>
                  <a:rPr lang="en-US" dirty="0"/>
                  <a:t>Robustness against warden-location uncertainty </a:t>
                </a:r>
              </a:p>
              <a:p>
                <a:pPr lvl="2"/>
                <a:r>
                  <a:rPr lang="en-US" dirty="0"/>
                  <a:t>Effective utilization of UAV mobility and communication resources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EEAA96-BD8F-D1E7-5A88-176971016C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4FA44-8AF7-F930-2212-768F54AD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025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2C655-8630-E1DB-5908-DF5C7023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D1CFB1C-70A9-682F-8CDF-5501E582F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990" y="1739021"/>
            <a:ext cx="8122067" cy="417216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39A07-430A-6CE4-7A56-B2E7214D6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228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EEC67-BD66-5FE2-ACF0-24711E4C0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F06BDC-1872-5C6A-4184-9096663661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System Overview</a:t>
                </a:r>
              </a:p>
              <a:p>
                <a:pPr lvl="1"/>
                <a:r>
                  <a:rPr lang="en-US" dirty="0"/>
                  <a:t>UAV-Enabled Multiuser Covert Communication</a:t>
                </a:r>
              </a:p>
              <a:p>
                <a:pPr lvl="2"/>
                <a:r>
                  <a:rPr lang="en-US" dirty="0"/>
                  <a:t>One UAV transmits confidential data to </a:t>
                </a:r>
                <a14:m>
                  <m:oMath xmlns:m="http://schemas.openxmlformats.org/officeDocument/2006/math">
                    <m:r>
                      <a:rPr lang="en-US" i="1"/>
                      <m:t>𝐾</m:t>
                    </m:r>
                  </m:oMath>
                </a14:m>
                <a:r>
                  <a:rPr lang="en-US" dirty="0"/>
                  <a:t> ground users. </a:t>
                </a:r>
              </a:p>
              <a:p>
                <a:pPr lvl="2"/>
                <a:r>
                  <a:rPr lang="en-US" dirty="0"/>
                  <a:t>A ground warden tries to detect whether the UAV is transmitting. </a:t>
                </a:r>
              </a:p>
              <a:p>
                <a:pPr lvl="2"/>
                <a:r>
                  <a:rPr lang="en-US" dirty="0"/>
                  <a:t>The UAV aims to communicate while hiding its transmission. </a:t>
                </a:r>
              </a:p>
              <a:p>
                <a:pPr lvl="1"/>
                <a:r>
                  <a:rPr lang="en-US" dirty="0"/>
                  <a:t>Node Locations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=1,….,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])</m:t>
                        </m:r>
                      </m:e>
                      <m:sup>
                        <m:r>
                          <a:rPr lang="en-US" i="1"/>
                          <m:t>𝑇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𝐬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: location of user </a:t>
                </a:r>
                <a14:m>
                  <m:oMath xmlns:m="http://schemas.openxmlformats.org/officeDocument/2006/math">
                    <m:r>
                      <a:rPr lang="en-US" i="1"/>
                      <m:t>𝑘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𝐰</m:t>
                    </m:r>
                  </m:oMath>
                </a14:m>
                <a:r>
                  <a:rPr lang="en-US" dirty="0"/>
                  <a:t>: location of the warden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: UAV horizontal location at time slot </a:t>
                </a:r>
                <a14:m>
                  <m:oMath xmlns:m="http://schemas.openxmlformats.org/officeDocument/2006/math">
                    <m:r>
                      <a:rPr lang="en-US" i="1"/>
                      <m:t>𝑛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F06BDC-1872-5C6A-4184-9096663661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072B5-EF73-8748-33A3-3B6123BE1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50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45E56-B9C1-CB45-2D0D-6AA17A099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35929E-074E-3E13-6AEA-EC2A48A7C2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Time Discretization and UAV Trajectory</a:t>
                </a:r>
              </a:p>
              <a:p>
                <a:pPr lvl="1"/>
                <a:r>
                  <a:rPr lang="en-US" dirty="0"/>
                  <a:t>Flight Period Division</a:t>
                </a:r>
              </a:p>
              <a:p>
                <a:pPr lvl="2"/>
                <a:r>
                  <a:rPr lang="en-US" dirty="0"/>
                  <a:t>The total flight time </a:t>
                </a:r>
                <a14:m>
                  <m:oMath xmlns:m="http://schemas.openxmlformats.org/officeDocument/2006/math">
                    <m:r>
                      <a:rPr lang="en-US" i="1"/>
                      <m:t>𝑇</m:t>
                    </m:r>
                  </m:oMath>
                </a14:m>
                <a:r>
                  <a:rPr lang="en-US" dirty="0"/>
                  <a:t> is divided into </a:t>
                </a:r>
                <a14:m>
                  <m:oMath xmlns:m="http://schemas.openxmlformats.org/officeDocument/2006/math">
                    <m:r>
                      <a:rPr lang="en-US" i="1"/>
                      <m:t>𝑁</m:t>
                    </m:r>
                  </m:oMath>
                </a14:m>
                <a:r>
                  <a:rPr lang="en-US" dirty="0"/>
                  <a:t>equal time slots: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𝛿</m:t>
                        </m:r>
                      </m:e>
                      <m:sub>
                        <m:r>
                          <a:rPr lang="en-US" i="1"/>
                          <m:t>𝑡</m:t>
                        </m:r>
                      </m:sub>
                    </m:sSub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𝑇</m:t>
                        </m:r>
                      </m:num>
                      <m:den>
                        <m:r>
                          <a:rPr lang="en-US" i="1"/>
                          <m:t>𝑁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UAV position is assumed almost unchanged within each slot when </a:t>
                </a:r>
                <a14:m>
                  <m:oMath xmlns:m="http://schemas.openxmlformats.org/officeDocument/2006/math">
                    <m:r>
                      <a:rPr lang="en-US" i="1"/>
                      <m:t>𝑁</m:t>
                    </m:r>
                  </m:oMath>
                </a14:m>
                <a:r>
                  <a:rPr lang="en-US" dirty="0"/>
                  <a:t>is sufficiently large.</a:t>
                </a:r>
              </a:p>
              <a:p>
                <a:pPr lvl="1"/>
                <a:r>
                  <a:rPr lang="en-US" dirty="0"/>
                  <a:t>Trajectory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𝐐</m:t>
                    </m:r>
                    <m:r>
                      <a:rPr lang="en-US"/>
                      <m:t>=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b="1"/>
                                  <m:t>𝐪</m:t>
                                </m:r>
                              </m:e>
                              <m:sub>
                                <m:r>
                                  <a:rPr lang="en-US" i="1"/>
                                  <m:t>𝑢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i="1"/>
                          <m:t>𝑛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𝑁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Initial and Final Position Constraints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/>
                          <m:t>1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𝐼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𝑁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𝐼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</m:oMath>
                </a14:m>
                <a:r>
                  <a:rPr lang="en-US" dirty="0"/>
                  <a:t> are fixed takeoff and landing points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35929E-074E-3E13-6AEA-EC2A48A7C2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8C70D-70CB-A72C-6AD6-C9FB0BF8B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09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980A-E8F9-8499-890D-DE4E4D5D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A01F6F-F50B-AA2B-5B5F-A7850528C7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UAV Mobility Constraint</a:t>
                </a:r>
              </a:p>
              <a:p>
                <a:pPr lvl="1"/>
                <a:r>
                  <a:rPr lang="en-US" dirty="0"/>
                  <a:t>Maximum Speed Constraint</a:t>
                </a:r>
              </a:p>
              <a:p>
                <a:pPr lvl="2"/>
                <a:r>
                  <a:rPr lang="en-US" dirty="0"/>
                  <a:t>If the UAV has maximum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max</m:t>
                        </m:r>
                      </m:sub>
                    </m:sSub>
                  </m:oMath>
                </a14:m>
                <a:r>
                  <a:rPr lang="en-US" dirty="0"/>
                  <a:t>, then the maximum travelling distance in each slot is: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max</m:t>
                        </m:r>
                      </m:sub>
                    </m:sSub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𝛿</m:t>
                        </m:r>
                      </m:e>
                      <m:sub>
                        <m:r>
                          <a:rPr lang="en-US" i="1"/>
                          <m:t>𝑡</m:t>
                        </m:r>
                      </m:sub>
                    </m:sSub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/>
                              <m:t>max</m:t>
                            </m:r>
                          </m:sub>
                        </m:sSub>
                        <m:r>
                          <a:rPr lang="en-US" i="1"/>
                          <m:t>𝑇</m:t>
                        </m:r>
                      </m:num>
                      <m:den>
                        <m:r>
                          <a:rPr lang="en-US" i="1"/>
                          <m:t>𝑁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Therefore,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  <m:r>
                          <a:rPr lang="en-US"/>
                          <m:t>+1</m:t>
                        </m:r>
                      </m:e>
                    </m:d>
                    <m:r>
                      <a:rPr lang="en-US"/>
                      <m:t>−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≤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/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i="1"/>
                                      <m:t>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/>
                                      <m:t>max</m:t>
                                    </m:r>
                                  </m:sub>
                                </m:sSub>
                                <m:r>
                                  <a:rPr lang="en-US" i="1"/>
                                  <m:t>𝑇</m:t>
                                </m:r>
                              </m:num>
                              <m:den>
                                <m:r>
                                  <a:rPr lang="en-US" i="1"/>
                                  <m:t>𝑁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r>
                      <a:rPr lang="en-US" i="1"/>
                      <m:t>𝑛</m:t>
                    </m:r>
                    <m:r>
                      <a:rPr lang="en-US"/>
                      <m:t>=1,…,</m:t>
                    </m:r>
                    <m:r>
                      <a:rPr lang="en-US" i="1"/>
                      <m:t>𝑁</m:t>
                    </m:r>
                    <m:r>
                      <a:rPr lang="en-US"/>
                      <m:t>−1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Interpretation</a:t>
                </a:r>
              </a:p>
              <a:p>
                <a:pPr lvl="2"/>
                <a:r>
                  <a:rPr lang="en-US" dirty="0"/>
                  <a:t>The UAV cannot move arbitrarily between two consecutive slots. </a:t>
                </a:r>
              </a:p>
              <a:p>
                <a:pPr lvl="2"/>
                <a:r>
                  <a:rPr lang="en-US" dirty="0"/>
                  <a:t>This constraint makes the trajectory physically feasible. </a:t>
                </a:r>
              </a:p>
              <a:p>
                <a:pPr lvl="2"/>
                <a:r>
                  <a:rPr lang="en-US" dirty="0"/>
                  <a:t>Larger </a:t>
                </a:r>
                <a14:m>
                  <m:oMath xmlns:m="http://schemas.openxmlformats.org/officeDocument/2006/math">
                    <m:r>
                      <a:rPr lang="en-US" i="1"/>
                      <m:t>𝑁</m:t>
                    </m:r>
                  </m:oMath>
                </a14:m>
                <a:r>
                  <a:rPr lang="en-US" dirty="0"/>
                  <a:t>gives better trajectory accuracy but increases computational complexity.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A01F6F-F50B-AA2B-5B5F-A7850528C7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367BC-75EE-2073-F343-CE8C22C90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204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95FCF-B003-1F58-D4B8-7E0E079F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A92BD8-82FA-0A94-AEE0-4557EBD124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Air-to-Ground Channel Model</a:t>
                </a:r>
              </a:p>
              <a:p>
                <a:pPr lvl="1"/>
                <a:r>
                  <a:rPr lang="en-US" dirty="0"/>
                  <a:t>Fixed UAV Altitude</a:t>
                </a:r>
              </a:p>
              <a:p>
                <a:pPr lvl="2"/>
                <a:r>
                  <a:rPr lang="en-US" dirty="0"/>
                  <a:t>The UAV flies at a fixed altitude </a:t>
                </a:r>
                <a14:m>
                  <m:oMath xmlns:m="http://schemas.openxmlformats.org/officeDocument/2006/math">
                    <m:r>
                      <a:rPr lang="en-US" i="1"/>
                      <m:t>𝐻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The 3D distance between UAV and user </a:t>
                </a:r>
                <a14:m>
                  <m:oMath xmlns:m="http://schemas.openxmlformats.org/officeDocument/2006/math">
                    <m:r>
                      <a:rPr lang="en-US" i="1"/>
                      <m:t>𝑘</m:t>
                    </m:r>
                  </m:oMath>
                </a14:m>
                <a:r>
                  <a:rPr lang="en-US" dirty="0"/>
                  <a:t> is: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𝑑</m:t>
                        </m:r>
                      </m:e>
                      <m:sub>
                        <m:r>
                          <a:rPr lang="en-US" i="1"/>
                          <m:t>𝑢𝑘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rad>
                      <m:radPr>
                        <m:degHide m:val="on"/>
                        <m:ctrlPr>
                          <a:rPr lang="en-US" i="1"/>
                        </m:ctrlPr>
                      </m:radPr>
                      <m:deg/>
                      <m:e>
                        <m:r>
                          <a:rPr lang="en-US"/>
                          <m:t>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𝐬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/>
                              <m:t>∥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𝐻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The 3D distance between UAV and warden is: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𝑑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rad>
                      <m:radPr>
                        <m:degHide m:val="on"/>
                        <m:ctrlPr>
                          <a:rPr lang="en-US" i="1"/>
                        </m:ctrlPr>
                      </m:radPr>
                      <m:deg/>
                      <m:e>
                        <m:r>
                          <a:rPr lang="en-US"/>
                          <m:t>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r>
                          <a:rPr lang="en-US" b="1"/>
                          <m:t>𝐰</m:t>
                        </m:r>
                        <m:sSup>
                          <m:sSupPr>
                            <m:ctrlPr>
                              <a:rPr lang="en-US" b="1" i="1"/>
                            </m:ctrlPr>
                          </m:sSupPr>
                          <m:e>
                            <m:r>
                              <a:rPr lang="en-US"/>
                              <m:t>∥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𝐻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b="0" dirty="0"/>
              </a:p>
              <a:p>
                <a:pPr lvl="1"/>
                <a:r>
                  <a:rPr lang="en-US" dirty="0" err="1"/>
                  <a:t>LoS</a:t>
                </a:r>
                <a:r>
                  <a:rPr lang="en-US" dirty="0"/>
                  <a:t> Channel Gain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𝛽</m:t>
                        </m:r>
                      </m:num>
                      <m:den>
                        <m:r>
                          <a:rPr lang="en-US"/>
                          <m:t>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𝐬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/>
                              <m:t>∥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𝐻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𝛽</m:t>
                        </m:r>
                      </m:num>
                      <m:den>
                        <m:r>
                          <a:rPr lang="en-US"/>
                          <m:t>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r>
                          <a:rPr lang="en-US" b="1"/>
                          <m:t>𝐰</m:t>
                        </m:r>
                        <m:sSup>
                          <m:sSupPr>
                            <m:ctrlPr>
                              <a:rPr lang="en-US" b="1" i="1"/>
                            </m:ctrlPr>
                          </m:sSupPr>
                          <m:e>
                            <m:r>
                              <a:rPr lang="en-US"/>
                              <m:t>∥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𝐻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/>
                      <m:t>𝛽</m:t>
                    </m:r>
                  </m:oMath>
                </a14:m>
                <a:r>
                  <a:rPr lang="en-US" dirty="0"/>
                  <a:t> is the reference channel gain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𝑑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  <m:r>
                      <a:rPr lang="en-US"/>
                      <m:t>=1</m:t>
                    </m:r>
                  </m:oMath>
                </a14:m>
                <a:r>
                  <a:rPr lang="en-US" dirty="0"/>
                  <a:t>m.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A92BD8-82FA-0A94-AEE0-4557EBD124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DFE56-5AC9-F5E1-2318-89A7F55E8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922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48157-5968-EE8B-F1E9-B7008BDCF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B760C6-3B8D-3867-0D62-091B6AC5BC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Warden’s Binary Hypothesis Test</a:t>
                </a:r>
              </a:p>
              <a:p>
                <a:pPr lvl="1"/>
                <a:r>
                  <a:rPr lang="en-US" dirty="0"/>
                  <a:t>Detection Problem</a:t>
                </a:r>
              </a:p>
              <a:p>
                <a:pPr lvl="2"/>
                <a:r>
                  <a:rPr lang="en-US" dirty="0"/>
                  <a:t>The warden decides between two hypotheses: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  <m:r>
                      <a:rPr lang="en-US"/>
                      <m:t>: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en-US"/>
                      <m:t>UAV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not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transmitting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r>
                      <a:rPr lang="en-US"/>
                      <m:t>: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en-US"/>
                      <m:t>UAV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transmitting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For the </a:t>
                </a:r>
                <a14:m>
                  <m:oMath xmlns:m="http://schemas.openxmlformats.org/officeDocument/2006/math">
                    <m:r>
                      <a:rPr lang="en-US" i="1"/>
                      <m:t>𝑙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observation in slot </a:t>
                </a:r>
                <a14:m>
                  <m:oMath xmlns:m="http://schemas.openxmlformats.org/officeDocument/2006/math">
                    <m:r>
                      <a:rPr lang="en-US" i="1"/>
                      <m:t>𝑛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𝑦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  <m: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𝑙</m:t>
                            </m:r>
                          </m:e>
                        </m:d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i="1"/>
                                  </m:ctrlPr>
                                </m:sSubSup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  <m:sub>
                                  <m:r>
                                    <a:rPr lang="en-US" i="1"/>
                                    <m:t>𝑤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𝑙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a:rPr lang="en-US"/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/>
                                    <m:t>ℋ</m:t>
                                  </m:r>
                                </m:e>
                                <m:sub>
                                  <m:r>
                                    <a:rPr lang="en-US"/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lang="en-US" i="1"/>
                                  </m:ctrlPr>
                                </m:radPr>
                                <m:deg/>
                                <m:e>
                                  <m:r>
                                    <a:rPr lang="en-US" i="1"/>
                                    <m:t>𝑃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𝑛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𝑢𝑤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𝑛</m:t>
                                      </m:r>
                                    </m:e>
                                  </m:d>
                                </m:e>
                              </m:rad>
                              <m:sSup>
                                <m:sSupPr>
                                  <m:ctrlPr>
                                    <a:rPr lang="en-US" i="1"/>
                                  </m:ctrlPr>
                                </m:sSupPr>
                                <m:e>
                                  <m:r>
                                    <a:rPr lang="en-US" i="1"/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𝑙</m:t>
                                      </m:r>
                                    </m:e>
                                  </m:d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a:rPr lang="en-US"/>
                                <m:t>+</m:t>
                              </m:r>
                              <m:sSubSup>
                                <m:sSubSupPr>
                                  <m:ctrlPr>
                                    <a:rPr lang="en-US" i="1"/>
                                  </m:ctrlPr>
                                </m:sSubSup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  <m:sub>
                                  <m:r>
                                    <a:rPr lang="en-US" i="1"/>
                                    <m:t>𝑤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𝑙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a:rPr lang="en-US"/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/>
                                    <m:t>ℋ</m:t>
                                  </m:r>
                                </m:e>
                                <m:sub>
                                  <m:r>
                                    <a:rPr lang="en-US"/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𝑙</m:t>
                            </m:r>
                          </m:e>
                        </m:d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∼</m:t>
                    </m:r>
                    <m:r>
                      <a:rPr lang="en-US"/>
                      <m:t>𝒞𝒩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𝑛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  <m: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𝑙</m:t>
                            </m:r>
                          </m:e>
                        </m:d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∼</m:t>
                    </m:r>
                    <m:r>
                      <a:rPr lang="en-US"/>
                      <m:t>𝒞𝒩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B760C6-3B8D-3867-0D62-091B6AC5BC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F650E-3ADF-76AC-7449-00BEE9CFE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500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009F2-7DE2-839C-59A7-0DFA0F49B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DA4251-3458-0E94-D4F1-C7996E4601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Received Signal Distribution at the Warden</a:t>
                </a:r>
              </a:p>
              <a:p>
                <a:pPr lvl="1"/>
                <a:r>
                  <a:rPr lang="en-US" dirty="0"/>
                  <a:t>Under No Transmission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  <m:r>
                      <a:rPr lang="en-US"/>
                      <m:t>: 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𝑦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  <m: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𝑙</m:t>
                            </m:r>
                          </m:e>
                        </m:d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∼</m:t>
                    </m:r>
                    <m:r>
                      <a:rPr lang="en-US"/>
                      <m:t>𝒞𝒩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Under UAV Transmission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r>
                      <a:rPr lang="en-US"/>
                      <m:t>: 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𝑦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  <m: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𝑙</m:t>
                            </m:r>
                          </m:e>
                        </m:d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∼</m:t>
                    </m:r>
                    <m:r>
                      <a:rPr lang="en-US"/>
                      <m:t>𝒞𝒩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Key Observation</a:t>
                </a:r>
              </a:p>
              <a:p>
                <a:pPr lvl="2"/>
                <a:r>
                  <a:rPr lang="en-US" dirty="0"/>
                  <a:t>The warden detects transmission by checking whether the received power increases.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𝜎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  <m:sup>
                        <m:r>
                          <a:rPr lang="en-US"/>
                          <m:t>2</m:t>
                        </m:r>
                      </m:sup>
                    </m:sSubSup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𝜎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𝜎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  <m:sup>
                        <m:r>
                          <a:rPr lang="en-US"/>
                          <m:t>2</m:t>
                        </m:r>
                      </m:sup>
                    </m:sSubSup>
                    <m:r>
                      <a:rPr lang="en-US"/>
                      <m:t>=</m:t>
                    </m:r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𝜎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Since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𝜎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  <m:sup>
                        <m:r>
                          <a:rPr lang="en-US"/>
                          <m:t>2</m:t>
                        </m:r>
                      </m:sup>
                    </m:sSubSup>
                    <m:r>
                      <a:rPr lang="en-US"/>
                      <m:t>&gt;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𝜎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  <m:sup>
                        <m:r>
                          <a:rPr lang="en-US"/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warden can detect the UAV more easily when </a:t>
                </a:r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is large.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DA4251-3458-0E94-D4F1-C7996E4601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F56AA-9456-43F4-E3F2-90AE2BEE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540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45C58-1EF1-42AC-D1AA-9BF1C7FE3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980B48-BE5E-801A-2DB7-74D764806A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Detection Error Probability</a:t>
                </a:r>
              </a:p>
              <a:p>
                <a:pPr lvl="1"/>
                <a:r>
                  <a:rPr lang="en-US" dirty="0"/>
                  <a:t>Warden’s Decisions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𝐷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  <m:r>
                      <a:rPr lang="en-US"/>
                      <m:t>:</m:t>
                    </m:r>
                    <m:r>
                      <m:rPr>
                        <m:nor/>
                      </m:rPr>
                      <a:rPr lang="en-US"/>
                      <m:t>decide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𝐷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r>
                      <a:rPr lang="en-US"/>
                      <m:t>:</m:t>
                    </m:r>
                    <m:r>
                      <m:rPr>
                        <m:nor/>
                      </m:rPr>
                      <a:rPr lang="en-US"/>
                      <m:t>decide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False Alarm Probability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r>
                      <a:rPr lang="en-US" i="1"/>
                      <m:t>𝑃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𝐷</m:t>
                            </m:r>
                          </m:e>
                          <m:sub>
                            <m:r>
                              <a:rPr lang="en-US"/>
                              <m:t>1</m:t>
                            </m:r>
                          </m:sub>
                        </m:sSub>
                        <m:r>
                          <a:rPr lang="en-US"/>
                          <m:t>∣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/>
                              <m:t>ℋ</m:t>
                            </m:r>
                          </m:e>
                          <m:sub>
                            <m:r>
                              <a:rPr lang="en-US"/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warden decides that the UAV is transmitting although it is silent.</a:t>
                </a:r>
              </a:p>
              <a:p>
                <a:pPr lvl="1"/>
                <a:r>
                  <a:rPr lang="en-US" dirty="0"/>
                  <a:t>Miss Detection Probability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𝑀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r>
                      <a:rPr lang="en-US" i="1"/>
                      <m:t>𝑃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𝐷</m:t>
                            </m:r>
                          </m:e>
                          <m:sub>
                            <m:r>
                              <a:rPr lang="en-US"/>
                              <m:t>0</m:t>
                            </m:r>
                          </m:sub>
                        </m:sSub>
                        <m:r>
                          <a:rPr lang="en-US"/>
                          <m:t>∣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/>
                              <m:t>ℋ</m:t>
                            </m:r>
                          </m:e>
                          <m:sub>
                            <m:r>
                              <a:rPr lang="en-US"/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warden decides that the UAV is silent although it is transmitting.</a:t>
                </a:r>
              </a:p>
              <a:p>
                <a:pPr lvl="1"/>
                <a:r>
                  <a:rPr lang="en-US" dirty="0"/>
                  <a:t>Total Detection Error Probability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𝑀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980B48-BE5E-801A-2DB7-74D764806A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09C40-630D-49A5-0725-31D803DA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5722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41D2C-F83A-B115-A3E0-6C7FA5663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09CE52-9FDB-03BF-6F73-4ECD42EA7D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Covertness Constraint</a:t>
                </a:r>
              </a:p>
              <a:p>
                <a:pPr lvl="1"/>
                <a:r>
                  <a:rPr lang="en-US" dirty="0"/>
                  <a:t>Covert Communication Requirement</a:t>
                </a:r>
              </a:p>
              <a:p>
                <a:pPr lvl="2"/>
                <a:r>
                  <a:rPr lang="en-US" dirty="0"/>
                  <a:t>The UAV wants the warden to be highly confused: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≈1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The formal covertness constraint is: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≥1−</m:t>
                    </m:r>
                    <m:r>
                      <a:rPr lang="en-US" i="1"/>
                      <m:t>𝜖</m:t>
                    </m:r>
                    <m:r>
                      <a:rPr lang="en-US"/>
                      <m:t>, ∀</m:t>
                    </m:r>
                    <m:r>
                      <a:rPr lang="en-US" i="1"/>
                      <m:t>𝑛</m:t>
                    </m:r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/>
                      <m:t>0≤</m:t>
                    </m:r>
                    <m:r>
                      <a:rPr lang="en-US" i="1"/>
                      <m:t>𝜖</m:t>
                    </m:r>
                    <m:r>
                      <a:rPr lang="en-US"/>
                      <m:t>≤1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Interpretation</a:t>
                </a:r>
              </a:p>
              <a:p>
                <a:pPr lvl="2"/>
                <a:r>
                  <a:rPr lang="en-US" dirty="0"/>
                  <a:t>Smaller </a:t>
                </a:r>
                <a14:m>
                  <m:oMath xmlns:m="http://schemas.openxmlformats.org/officeDocument/2006/math">
                    <m:r>
                      <a:rPr lang="en-US" i="1"/>
                      <m:t>𝜖</m:t>
                    </m:r>
                  </m:oMath>
                </a14:m>
                <a:r>
                  <a:rPr lang="en-US" dirty="0"/>
                  <a:t>means stricter covertness. 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is close to 1, the warden cannot reliably distinguish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lvl="2"/>
                <a:r>
                  <a:rPr lang="en-US" dirty="0"/>
                  <a:t>The UAV must control its power and trajectory to keep the signal weak at the warden.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09CE52-9FDB-03BF-6F73-4ECD42EA7D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9B1DD-4EC9-A52F-22B9-C44C0B4C3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645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4A706-42FD-5886-DCCA-75D52A99E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350628-5F9C-DA76-9658-3CF43B5A64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Energy Detector Expansion</a:t>
                </a:r>
              </a:p>
              <a:p>
                <a:pPr lvl="1"/>
                <a:r>
                  <a:rPr lang="en-US" dirty="0"/>
                  <a:t>Test Statistic</a:t>
                </a:r>
              </a:p>
              <a:p>
                <a:pPr lvl="2"/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i="1"/>
                      <m:t>𝐿</m:t>
                    </m:r>
                  </m:oMath>
                </a14:m>
                <a:r>
                  <a:rPr lang="en-US" dirty="0"/>
                  <a:t>observations, the warden can use the average received energy: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r>
                          <a:rPr lang="en-US" i="1"/>
                          <m:t>𝐿</m:t>
                        </m:r>
                      </m:den>
                    </m:f>
                    <m:nary>
                      <m:naryPr>
                        <m:chr m:val="∑"/>
                        <m:grow m:val="on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𝑙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𝐿</m:t>
                        </m:r>
                      </m:sup>
                      <m:e>
                        <m:r>
                          <a:rPr lang="en-US"/>
                          <m:t>∣</m:t>
                        </m:r>
                      </m:e>
                    </m:nary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𝑦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  <m: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𝑙</m:t>
                            </m:r>
                          </m:e>
                        </m:d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∣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warden compares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with a threshold </a:t>
                </a:r>
                <a14:m>
                  <m:oMath xmlns:m="http://schemas.openxmlformats.org/officeDocument/2006/math">
                    <m:r>
                      <a:rPr lang="en-US" i="1"/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/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≷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τ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lvl="1"/>
                <a:r>
                  <a:rPr lang="en-US" dirty="0"/>
                  <a:t>False Alarm and Miss Detection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r>
                      <a:rPr lang="en-US" i="1"/>
                      <m:t>𝑃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𝑇</m:t>
                            </m:r>
                          </m:e>
                          <m:sub>
                            <m:r>
                              <a:rPr lang="en-US" i="1"/>
                              <m:t>𝑤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&gt;</m:t>
                        </m:r>
                        <m:r>
                          <a:rPr lang="en-US" i="1"/>
                          <m:t>𝜏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∣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/>
                              <m:t>ℋ</m:t>
                            </m:r>
                          </m:e>
                          <m:sub>
                            <m:r>
                              <a:rPr lang="en-US"/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𝑀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r>
                      <a:rPr lang="en-US" i="1"/>
                      <m:t>𝑃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𝑇</m:t>
                            </m:r>
                          </m:e>
                          <m:sub>
                            <m:r>
                              <a:rPr lang="en-US" i="1"/>
                              <m:t>𝑤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≤</m:t>
                        </m:r>
                        <m:r>
                          <a:rPr lang="en-US" i="1"/>
                          <m:t>𝜏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∣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/>
                              <m:t>ℋ</m:t>
                            </m:r>
                          </m:e>
                          <m:sub>
                            <m:r>
                              <a:rPr lang="en-US"/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Effect of Limited Observations</a:t>
                </a:r>
              </a:p>
              <a:p>
                <a:pPr lvl="2"/>
                <a:r>
                  <a:rPr lang="en-US" dirty="0"/>
                  <a:t>Larger </a:t>
                </a:r>
                <a14:m>
                  <m:oMath xmlns:m="http://schemas.openxmlformats.org/officeDocument/2006/math">
                    <m:r>
                      <a:rPr lang="en-US" i="1"/>
                      <m:t>𝐿</m:t>
                    </m:r>
                  </m:oMath>
                </a14:m>
                <a:r>
                  <a:rPr lang="en-US" dirty="0"/>
                  <a:t>: warden estimates signal energy more accurately. </a:t>
                </a:r>
              </a:p>
              <a:p>
                <a:pPr lvl="2"/>
                <a:r>
                  <a:rPr lang="en-US" dirty="0"/>
                  <a:t>Smaller </a:t>
                </a:r>
                <a14:m>
                  <m:oMath xmlns:m="http://schemas.openxmlformats.org/officeDocument/2006/math">
                    <m:r>
                      <a:rPr lang="en-US" i="1"/>
                      <m:t>𝐿</m:t>
                    </m:r>
                  </m:oMath>
                </a14:m>
                <a:r>
                  <a:rPr lang="en-US" dirty="0"/>
                  <a:t>: detection becomes less reliable. </a:t>
                </a:r>
              </a:p>
              <a:p>
                <a:pPr lvl="2"/>
                <a:r>
                  <a:rPr lang="en-US" dirty="0"/>
                  <a:t>Therefore, limited observations help covert transmission.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350628-5F9C-DA76-9658-3CF43B5A64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E1B3A-F21D-BF96-0ACC-BD05AC62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650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A5CFF-8462-5C59-E92E-07A47E5D5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604CC9-37EA-83BE-0796-AF204027F3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TDMA-Based Multiuser Transmission</a:t>
                </a:r>
              </a:p>
              <a:p>
                <a:pPr lvl="1"/>
                <a:r>
                  <a:rPr lang="en-US" dirty="0"/>
                  <a:t>User Scheduling Variable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𝛼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r>
                                <a:rPr lang="en-US"/>
                                <m:t>1,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UAV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serves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user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a:rPr lang="en-US" i="1"/>
                                <m:t>𝑘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in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slot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a:rPr lang="en-US" i="1"/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/>
                                <m:t>0,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TDMA Constraint</a:t>
                </a:r>
              </a:p>
              <a:p>
                <a:pPr lvl="2"/>
                <a:r>
                  <a:rPr lang="en-US" dirty="0"/>
                  <a:t>The UAV can serve at most one user per slot: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/>
                        </m:ctrlPr>
                      </m:naryPr>
                      <m:sub>
                        <m:r>
                          <a:rPr lang="en-US" i="1"/>
                          <m:t>𝑘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𝛼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≤1, ∀</m:t>
                    </m:r>
                    <m:r>
                      <a:rPr lang="en-US" i="1"/>
                      <m:t>𝑛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𝛼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∈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Achievable Rate of User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i="1"/>
                      <m:t>𝑘</m:t>
                    </m:r>
                  </m:oMath>
                </a14:m>
                <a:endParaRPr lang="en-US" b="1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𝑅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𝛼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𝑃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h</m:t>
                                </m:r>
                              </m:e>
                              <m:sub>
                                <m:r>
                                  <a:rPr lang="en-US" i="1"/>
                                  <m:t>𝑢𝑘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604CC9-37EA-83BE-0796-AF204027F3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48E05-54BA-217A-3ABD-6A08633F6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8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499A0-60FE-34F5-925C-22A179E80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DDABFB-63CD-6018-5B44-7F6DAD9DB0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Rate Expansion Using Channel Gain</a:t>
                </a:r>
              </a:p>
              <a:p>
                <a:pPr lvl="1"/>
                <a:r>
                  <a:rPr lang="en-US" dirty="0"/>
                  <a:t>Substituting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𝛽</m:t>
                        </m:r>
                      </m:num>
                      <m:den>
                        <m:r>
                          <a:rPr lang="en-US"/>
                          <m:t>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𝐬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/>
                              <m:t>∥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𝐻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into the rate expression: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𝑅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𝛼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𝑃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 i="1"/>
                              <m:t>𝛽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/>
                                  <m:t>∥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b="1"/>
                                      <m:t>𝐪</m:t>
                                    </m:r>
                                  </m:e>
                                  <m:sub>
                                    <m:r>
                                      <a:rPr lang="en-US" i="1"/>
                                      <m:t>𝑢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𝑛</m:t>
                                    </m:r>
                                  </m:e>
                                </m:d>
                                <m:r>
                                  <a:rPr lang="en-US"/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b="1"/>
                                      <m:t>𝐬</m:t>
                                    </m:r>
                                  </m:e>
                                  <m:sub>
                                    <m:r>
                                      <a:rPr lang="en-US" i="1"/>
                                      <m:t>𝑘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i="1"/>
                                    </m:ctrlPr>
                                  </m:sSupPr>
                                  <m:e>
                                    <m:r>
                                      <a:rPr lang="en-US"/>
                                      <m:t>∥</m:t>
                                    </m:r>
                                  </m:e>
                                  <m:sup>
                                    <m:r>
                                      <a:rPr lang="en-US"/>
                                      <m:t>2</m:t>
                                    </m:r>
                                  </m:sup>
                                </m:sSup>
                                <m:r>
                                  <a:rPr lang="en-US"/>
                                  <m:t>+</m:t>
                                </m:r>
                                <m:sSup>
                                  <m:sSupPr>
                                    <m:ctrlPr>
                                      <a:rPr lang="en-US" i="1"/>
                                    </m:ctrlPr>
                                  </m:sSupPr>
                                  <m:e>
                                    <m:r>
                                      <a:rPr lang="en-US" i="1"/>
                                      <m:t>𝐻</m:t>
                                    </m:r>
                                  </m:e>
                                  <m:sup>
                                    <m:r>
                                      <a:rPr lang="en-US"/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Interpretation</a:t>
                </a:r>
              </a:p>
              <a:p>
                <a:pPr lvl="2"/>
                <a:r>
                  <a:rPr lang="en-US" dirty="0"/>
                  <a:t>The rate increases when: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↑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𝐬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↓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The UAV should fly closer to the scheduled user, but not too close to the warden.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DDABFB-63CD-6018-5B44-7F6DAD9DB0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BDC59-8481-0C18-D8B1-7E50EACA2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299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E88B9-BED6-51EF-9E71-ECFFA337F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734294-B468-8175-8183-941088E2E9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Core Tradeoff</a:t>
                </a:r>
              </a:p>
              <a:p>
                <a:pPr lvl="1"/>
                <a:r>
                  <a:rPr lang="en-US" dirty="0"/>
                  <a:t>Communication Objective</a:t>
                </a:r>
              </a:p>
              <a:p>
                <a:pPr lvl="2"/>
                <a:r>
                  <a:rPr lang="en-US" dirty="0"/>
                  <a:t>For high user rate: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should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large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Covertness Objective</a:t>
                </a:r>
              </a:p>
              <a:p>
                <a:pPr lvl="2"/>
                <a:r>
                  <a:rPr lang="en-US" dirty="0"/>
                  <a:t>For hiding from the warden: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should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small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Main Design Conflict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/>
                      <m:t>Increase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a:rPr lang="en-US" b="0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b="0" i="1"/>
                          <m:t>𝑛</m:t>
                        </m:r>
                      </m:e>
                    </m:d>
                    <m:r>
                      <a:rPr lang="en-US"/>
                      <m:t>⇒</m:t>
                    </m:r>
                    <m:r>
                      <m:rPr>
                        <m:nor/>
                      </m:rPr>
                      <a:rPr lang="en-US"/>
                      <m:t>higher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user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rate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/>
                      <m:t>Increase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a:rPr lang="en-US" b="0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b="0" i="1"/>
                          <m:t>𝑛</m:t>
                        </m:r>
                      </m:e>
                    </m:d>
                    <m:r>
                      <a:rPr lang="en-US"/>
                      <m:t>⇒</m:t>
                    </m:r>
                    <m:r>
                      <m:rPr>
                        <m:nor/>
                      </m:rPr>
                      <a:rPr lang="en-US"/>
                      <m:t>easier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detection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warden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Therefore</a:t>
                </a:r>
              </a:p>
              <a:p>
                <a:pPr lvl="2"/>
                <a:r>
                  <a:rPr lang="en-US" dirty="0"/>
                  <a:t>The UAV must jointly optimize:</a:t>
                </a:r>
              </a:p>
              <a:p>
                <a:pPr lvl="3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𝛼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b="0" dirty="0"/>
              </a:p>
              <a:p>
                <a:pPr lvl="3"/>
                <a:r>
                  <a:rPr lang="en-US" dirty="0"/>
                  <a:t>to balance rate maximization and covertness.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734294-B468-8175-8183-941088E2E9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C75A8-079A-7C79-874D-B79D89F4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460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EB4E1-E228-FF0F-1C0B-0838F5893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A4E908-5C2B-C963-6DC8-A70610DF16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Joint Resource Allocation and Trajectory Design</a:t>
                </a:r>
              </a:p>
              <a:p>
                <a:pPr lvl="1"/>
                <a:r>
                  <a:rPr lang="en-US" dirty="0"/>
                  <a:t>Optimization Variables</a:t>
                </a:r>
              </a:p>
              <a:p>
                <a:pPr lvl="2"/>
                <a:r>
                  <a:rPr lang="en-US" dirty="0"/>
                  <a:t>The UAV jointly optimizes: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1"/>
                      <m:t>𝜶</m:t>
                    </m:r>
                    <m:r>
                      <a:rPr lang="en-US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𝛼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, ∀</m:t>
                    </m:r>
                    <m:r>
                      <a:rPr lang="en-US" i="1"/>
                      <m:t>𝑘</m:t>
                    </m:r>
                    <m:r>
                      <a:rPr lang="en-US"/>
                      <m:t>,</m:t>
                    </m:r>
                    <m:r>
                      <a:rPr lang="en-US" i="1"/>
                      <m:t>𝑛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𝐏</m:t>
                    </m:r>
                    <m:r>
                      <a:rPr lang="en-US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, ∀</m:t>
                    </m:r>
                    <m:r>
                      <a:rPr lang="en-US" i="1"/>
                      <m:t>𝑛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𝐐</m:t>
                    </m:r>
                    <m:r>
                      <a:rPr lang="en-US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, ∀</m:t>
                    </m:r>
                    <m:r>
                      <a:rPr lang="en-US" i="1"/>
                      <m:t>𝑛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𝛼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: scheduling indicator for user </a:t>
                </a:r>
                <a14:m>
                  <m:oMath xmlns:m="http://schemas.openxmlformats.org/officeDocument/2006/math">
                    <m:r>
                      <a:rPr lang="en-US" i="1"/>
                      <m:t>𝑘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: UAV transmit power in slot </a:t>
                </a:r>
                <a14:m>
                  <m:oMath xmlns:m="http://schemas.openxmlformats.org/officeDocument/2006/math">
                    <m:r>
                      <a:rPr lang="en-US" i="1"/>
                      <m:t>𝑛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: UAV horizontal position in slot </a:t>
                </a:r>
                <a14:m>
                  <m:oMath xmlns:m="http://schemas.openxmlformats.org/officeDocument/2006/math">
                    <m:r>
                      <a:rPr lang="en-US" i="1"/>
                      <m:t>𝑛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Average Rate of User </a:t>
                </a:r>
                <a14:m>
                  <m:oMath xmlns:m="http://schemas.openxmlformats.org/officeDocument/2006/math">
                    <m:r>
                      <a:rPr lang="en-US" i="1"/>
                      <m:t>𝑘</m:t>
                    </m:r>
                  </m:oMath>
                </a14:m>
                <a:endParaRPr lang="en-US" b="1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/>
                            </m:ctrlPr>
                          </m:accPr>
                          <m:e>
                            <m:r>
                              <a:rPr lang="en-US" i="1"/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r>
                          <a:rPr lang="en-US" i="1"/>
                          <m:t>𝑁</m:t>
                        </m:r>
                      </m:den>
                    </m:f>
                    <m:nary>
                      <m:naryPr>
                        <m:chr m:val="∑"/>
                        <m:grow m:val="on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𝑛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𝛼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𝑃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h</m:t>
                                </m:r>
                              </m:e>
                              <m:sub>
                                <m:r>
                                  <a:rPr lang="en-US" i="1"/>
                                  <m:t>𝑢𝑘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objective is to maximize the minimum average rate among all users.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A4E908-5C2B-C963-6DC8-A70610DF16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5F245-605F-5B30-4ECF-75BF7B58A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35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52904-DE98-BC0E-8B25-5EC02E9F5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4F0D4F-DFAA-AB8A-BF48-E64763F360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Original Optimization Problem</a:t>
                </a:r>
              </a:p>
              <a:p>
                <a:pPr lvl="1"/>
                <a:r>
                  <a:rPr lang="en-US" dirty="0"/>
                  <a:t>Introduce a slack variable </a:t>
                </a:r>
                <a14:m>
                  <m:oMath xmlns:m="http://schemas.openxmlformats.org/officeDocument/2006/math">
                    <m:r>
                      <a:rPr lang="en-US" i="1"/>
                      <m:t>𝜂</m:t>
                    </m:r>
                  </m:oMath>
                </a14:m>
                <a:r>
                  <a:rPr lang="en-US" dirty="0"/>
                  <a:t>, representing the minimum average user rate:</a:t>
                </a:r>
              </a:p>
              <a:p>
                <a:pPr lvl="2"/>
                <a14:m>
                  <m:oMath xmlns:m="http://schemas.openxmlformats.org/officeDocument/2006/math">
                    <m:borderBox>
                      <m:borderBoxPr>
                        <m:ctrlPr>
                          <a:rPr lang="en-US"/>
                        </m:ctrlPr>
                      </m:borderBoxPr>
                      <m:e>
                        <m:limLow>
                          <m:limLowPr>
                            <m:ctrlPr>
                              <a:rPr lang="en-US"/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/>
                              <m:t>max</m:t>
                            </m:r>
                          </m:e>
                          <m:lim>
                            <m:r>
                              <a:rPr lang="en-US" i="1"/>
                              <m:t>𝜂</m:t>
                            </m:r>
                            <m:r>
                              <a:rPr lang="en-US"/>
                              <m:t>,</m:t>
                            </m:r>
                            <m:r>
                              <a:rPr lang="en-US" b="1" i="1"/>
                              <m:t>𝜶</m:t>
                            </m:r>
                            <m:r>
                              <a:rPr lang="en-US"/>
                              <m:t>,</m:t>
                            </m:r>
                            <m:r>
                              <a:rPr lang="en-US" b="1"/>
                              <m:t>𝐏</m:t>
                            </m:r>
                            <m:r>
                              <a:rPr lang="en-US"/>
                              <m:t>,</m:t>
                            </m:r>
                            <m:r>
                              <a:rPr lang="en-US" b="1"/>
                              <m:t>𝐐</m:t>
                            </m:r>
                          </m:lim>
                        </m:limLow>
                        <m:r>
                          <a:rPr lang="en-US"/>
                          <m:t> </m:t>
                        </m:r>
                        <m:r>
                          <a:rPr lang="en-US" i="1"/>
                          <m:t>𝜂</m:t>
                        </m:r>
                      </m:e>
                    </m:borderBox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:r>
                  <a:rPr lang="en-US" dirty="0"/>
                  <a:t>Minimum Average Rate Constraint</a:t>
                </a:r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US"/>
                        </m:ctrlPr>
                      </m:mPr>
                      <m:mr>
                        <m:e/>
                        <m:e>
                          <m:f>
                            <m:fPr>
                              <m:ctrlPr>
                                <a:rPr lang="en-US"/>
                              </m:ctrlPr>
                            </m:fPr>
                            <m:num>
                              <m:r>
                                <a:rPr lang="en-US"/>
                                <m:t>1</m:t>
                              </m:r>
                            </m:num>
                            <m:den>
                              <m:r>
                                <a:rPr lang="en-US" i="1"/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grow m:val="on"/>
                              <m:ctrlPr>
                                <a:rPr lang="en-US" i="1"/>
                              </m:ctrlPr>
                            </m:naryPr>
                            <m:sub>
                              <m:r>
                                <a:rPr lang="en-US" i="1"/>
                                <m:t>𝑛</m:t>
                              </m:r>
                              <m:r>
                                <a:rPr lang="en-US"/>
                                <m:t>=1</m:t>
                              </m:r>
                            </m:sub>
                            <m:sup>
                              <m:r>
                                <a:rPr lang="en-US" i="1"/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𝛼</m:t>
                                  </m:r>
                                </m:e>
                                <m:sub>
                                  <m:r>
                                    <a:rPr lang="en-US" i="1"/>
                                    <m:t>𝑘</m:t>
                                  </m:r>
                                </m:sub>
                              </m:sSub>
                            </m:e>
                          </m:nary>
                          <m:d>
                            <m:dPr>
                              <m:begChr m:val="["/>
                              <m:endChr m:val="]"/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𝑛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/>
                                <m:t>log</m:t>
                              </m:r>
                            </m:e>
                            <m:sub>
                              <m:r>
                                <a:rPr lang="en-US"/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/>
                                <m:t>1+</m:t>
                              </m:r>
                              <m:f>
                                <m:fPr>
                                  <m:ctrlPr>
                                    <a:rPr lang="en-US" i="1"/>
                                  </m:ctrlPr>
                                </m:fPr>
                                <m:num>
                                  <m:r>
                                    <a:rPr lang="en-US" i="1"/>
                                    <m:t>𝑃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𝑛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𝑢𝑘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𝑛</m:t>
                                      </m:r>
                                    </m:e>
                                  </m:d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/>
                                      </m:ctrlPr>
                                    </m:sSupPr>
                                    <m:e>
                                      <m:r>
                                        <a:rPr lang="en-US" i="1"/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/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en-US"/>
                            <m:t>≥</m:t>
                          </m:r>
                          <m:r>
                            <a:rPr lang="en-US" i="1"/>
                            <m:t>𝜂</m:t>
                          </m:r>
                          <m:r>
                            <a:rPr lang="en-US"/>
                            <m:t>, ∀</m:t>
                          </m:r>
                          <m:r>
                            <a:rPr lang="en-US" i="1"/>
                            <m:t>𝑘</m:t>
                          </m:r>
                        </m:e>
                        <m:e/>
                        <m:e>
                          <m:r>
                            <m:rPr>
                              <m:nor/>
                            </m:rPr>
                            <a:rPr lang="en-US"/>
                            <m:t>(9</m:t>
                          </m:r>
                          <m:r>
                            <m:rPr>
                              <m:nor/>
                            </m:rPr>
                            <a:rPr lang="en-US"/>
                            <m:t>b</m:t>
                          </m:r>
                          <m:r>
                            <m:rPr>
                              <m:nor/>
                            </m:rPr>
                            <a:rPr lang="en-US"/>
                            <m:t>)</m:t>
                          </m:r>
                        </m:e>
                      </m:mr>
                    </m:m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Covertness Constraint</a:t>
                </a:r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US"/>
                        </m:ctrlPr>
                      </m:mPr>
                      <m:mr>
                        <m:e/>
                        <m:e>
                          <m:sSub>
                            <m:sSubPr>
                              <m:ctrlPr>
                                <a:rPr lang="en-US"/>
                              </m:ctrlPr>
                            </m:sSubPr>
                            <m:e>
                              <m:r>
                                <a:rPr lang="en-US" i="1"/>
                                <m:t>𝑃</m:t>
                              </m:r>
                            </m:e>
                            <m:sub>
                              <m:r>
                                <a:rPr lang="en-US" i="1"/>
                                <m:t>𝐹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𝑛</m:t>
                              </m:r>
                            </m:e>
                          </m:d>
                          <m:r>
                            <a:rPr lang="en-US"/>
                            <m:t>+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𝑃</m:t>
                              </m:r>
                            </m:e>
                            <m:sub>
                              <m:r>
                                <a:rPr lang="en-US" i="1"/>
                                <m:t>𝑀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𝑛</m:t>
                              </m:r>
                            </m:e>
                          </m:d>
                          <m:r>
                            <a:rPr lang="en-US"/>
                            <m:t>≥1−</m:t>
                          </m:r>
                          <m:r>
                            <a:rPr lang="en-US" i="1"/>
                            <m:t>𝜖</m:t>
                          </m:r>
                          <m:r>
                            <a:rPr lang="en-US"/>
                            <m:t>, ∀</m:t>
                          </m:r>
                          <m:r>
                            <a:rPr lang="en-US" i="1"/>
                            <m:t>𝑛</m:t>
                          </m:r>
                        </m:e>
                        <m:e/>
                        <m:e>
                          <m:r>
                            <m:rPr>
                              <m:nor/>
                            </m:rPr>
                            <a:rPr lang="en-US"/>
                            <m:t>(9</m:t>
                          </m:r>
                          <m:r>
                            <m:rPr>
                              <m:nor/>
                            </m:rPr>
                            <a:rPr lang="en-US"/>
                            <m:t>c</m:t>
                          </m:r>
                          <m:r>
                            <m:rPr>
                              <m:nor/>
                            </m:rPr>
                            <a:rPr lang="en-US"/>
                            <m:t>)</m:t>
                          </m:r>
                        </m:e>
                      </m:mr>
                    </m:m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Thus, maximizing </a:t>
                </a:r>
                <a14:m>
                  <m:oMath xmlns:m="http://schemas.openxmlformats.org/officeDocument/2006/math">
                    <m:r>
                      <a:rPr lang="en-US" i="1"/>
                      <m:t>𝜂</m:t>
                    </m:r>
                  </m:oMath>
                </a14:m>
                <a:r>
                  <a:rPr lang="en-US" dirty="0"/>
                  <a:t>provides </a:t>
                </a:r>
                <a:r>
                  <a:rPr lang="en-US" b="1" dirty="0"/>
                  <a:t>max-min fairness</a:t>
                </a:r>
                <a:r>
                  <a:rPr lang="en-US" dirty="0"/>
                  <a:t> among the </a:t>
                </a:r>
                <a14:m>
                  <m:oMath xmlns:m="http://schemas.openxmlformats.org/officeDocument/2006/math">
                    <m:r>
                      <a:rPr lang="en-US" i="1"/>
                      <m:t>𝐾</m:t>
                    </m:r>
                  </m:oMath>
                </a14:m>
                <a:r>
                  <a:rPr lang="en-US" dirty="0"/>
                  <a:t>users.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4F0D4F-DFAA-AB8A-BF48-E64763F360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135E7-C0B6-983A-B3BB-335D8000C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0161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55A59-FFC1-297E-7D6B-B32C08054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86CA1E-E656-1523-701B-BCE4FDB4A6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Scheduling, Power, and Mobility Constraints</a:t>
                </a:r>
              </a:p>
              <a:p>
                <a:pPr lvl="1"/>
                <a:r>
                  <a:rPr lang="en-US" dirty="0"/>
                  <a:t>Binary User Scheduling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                                 (9d)</a:t>
                </a:r>
              </a:p>
              <a:p>
                <a:pPr lvl="1"/>
                <a:r>
                  <a:rPr lang="en-US" dirty="0"/>
                  <a:t>TDMA Constraint</a:t>
                </a:r>
              </a:p>
              <a:p>
                <a:pPr lvl="2"/>
                <a:r>
                  <a:rPr lang="en-US" dirty="0"/>
                  <a:t>The UAV serves at most one user per time slot:</a:t>
                </a:r>
              </a:p>
              <a:p>
                <a:pPr lvl="3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≤1,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                           (9e)</a:t>
                </a:r>
              </a:p>
              <a:p>
                <a:pPr lvl="1"/>
                <a:r>
                  <a:rPr lang="en-US" dirty="0"/>
                  <a:t>Maximum-Speed Constraint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∥"/>
                            <m:endChr m:val="∥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𝐪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𝐪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                 (9f)</a:t>
                </a:r>
              </a:p>
              <a:p>
                <a:pPr lvl="1"/>
                <a:r>
                  <a:rPr lang="en-US" dirty="0"/>
                  <a:t>Initial and Final Positions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b="1" dirty="0"/>
                  <a:t>                               </a:t>
                </a:r>
                <a:r>
                  <a:rPr lang="en-US" dirty="0"/>
                  <a:t>(9g)</a:t>
                </a:r>
              </a:p>
              <a:p>
                <a:pPr lvl="1"/>
                <a:r>
                  <a:rPr lang="en-US" dirty="0"/>
                  <a:t>Transmit-Power Constraint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                                      (9h)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86CA1E-E656-1523-701B-BCE4FDB4A6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70A22-57F5-6B8B-5D2D-236969222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3046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AC659-5014-91C3-1C5C-BF2814475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B42BD1-8BCC-72D4-AFAF-C22AFF5277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Why Is Problem (9) Difficult?</a:t>
                </a:r>
              </a:p>
              <a:p>
                <a:pPr lvl="1"/>
                <a:r>
                  <a:rPr lang="en-US" dirty="0"/>
                  <a:t>The optimization problem is non-convex because of three major issues.</a:t>
                </a:r>
              </a:p>
              <a:p>
                <a:pPr lvl="1"/>
                <a:r>
                  <a:rPr lang="en-US" dirty="0"/>
                  <a:t>1. Coupled Rate Constraint</a:t>
                </a:r>
              </a:p>
              <a:p>
                <a:pPr lvl="2"/>
                <a:r>
                  <a:rPr lang="en-US" dirty="0"/>
                  <a:t>Since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𝛽</m:t>
                        </m:r>
                      </m:num>
                      <m:den>
                        <m:r>
                          <a:rPr lang="en-US"/>
                          <m:t>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𝐬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/>
                              <m:t>∥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𝐻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,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the rate becomes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𝑅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𝛼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𝑃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 i="1"/>
                              <m:t>𝛽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/>
                                  <m:t>∥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b="1"/>
                                      <m:t>𝐪</m:t>
                                    </m:r>
                                  </m:e>
                                  <m:sub>
                                    <m:r>
                                      <a:rPr lang="en-US" i="1"/>
                                      <m:t>𝑢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𝑛</m:t>
                                    </m:r>
                                  </m:e>
                                </m:d>
                                <m:r>
                                  <a:rPr lang="en-US"/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b="1"/>
                                      <m:t>𝐬</m:t>
                                    </m:r>
                                  </m:e>
                                  <m:sub>
                                    <m:r>
                                      <a:rPr lang="en-US" i="1"/>
                                      <m:t>𝑘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i="1"/>
                                    </m:ctrlPr>
                                  </m:sSupPr>
                                  <m:e>
                                    <m:r>
                                      <a:rPr lang="en-US"/>
                                      <m:t>∥</m:t>
                                    </m:r>
                                  </m:e>
                                  <m:sup>
                                    <m:r>
                                      <a:rPr lang="en-US"/>
                                      <m:t>2</m:t>
                                    </m:r>
                                  </m:sup>
                                </m:sSup>
                                <m:r>
                                  <a:rPr lang="en-US"/>
                                  <m:t>+</m:t>
                                </m:r>
                                <m:sSup>
                                  <m:sSupPr>
                                    <m:ctrlPr>
                                      <a:rPr lang="en-US" i="1"/>
                                    </m:ctrlPr>
                                  </m:sSupPr>
                                  <m:e>
                                    <m:r>
                                      <a:rPr lang="en-US" i="1"/>
                                      <m:t>𝐻</m:t>
                                    </m:r>
                                  </m:e>
                                  <m:sup>
                                    <m:r>
                                      <a:rPr lang="en-US"/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𝛼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are strongly coupled.</a:t>
                </a:r>
              </a:p>
              <a:p>
                <a:pPr lvl="1"/>
                <a:r>
                  <a:rPr lang="en-US" dirty="0"/>
                  <a:t>2. Complicated Covertness Constraint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𝑀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≥1−</m:t>
                    </m:r>
                    <m:r>
                      <a:rPr lang="en-US" i="1"/>
                      <m:t>𝜖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Contains incomplete Gamma functions and depends nonlinearly on </a:t>
                </a:r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3. Integer Scheduling Variable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𝛼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∈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makes the problem a mixed-integer non-convex optimization problem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B42BD1-8BCC-72D4-AFAF-C22AFF5277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92619-9D39-36C5-8FD2-FC012635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634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52A6B-2F9F-7E4E-BB2E-415532E8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EBC26-7BBF-5431-F4FD-A7AC3BDF6D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Warden’s Received-Signal Variances</a:t>
                </a:r>
              </a:p>
              <a:p>
                <a:pPr lvl="1"/>
                <a:r>
                  <a:rPr lang="en-US" dirty="0"/>
                  <a:t>Define the collection of </a:t>
                </a:r>
                <a14:m>
                  <m:oMath xmlns:m="http://schemas.openxmlformats.org/officeDocument/2006/math">
                    <m:r>
                      <a:rPr lang="en-US" i="1"/>
                      <m:t>𝐿</m:t>
                    </m:r>
                  </m:oMath>
                </a14:m>
                <a:r>
                  <a:rPr lang="en-US" dirty="0"/>
                  <a:t>observations as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𝐘</m:t>
                    </m:r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/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/>
                                </m:ctrlPr>
                              </m:sSubSupPr>
                              <m:e>
                                <m:r>
                                  <a:rPr lang="en-US" i="1"/>
                                  <m:t>𝑦</m:t>
                                </m:r>
                              </m:e>
                              <m:sub>
                                <m:r>
                                  <a:rPr lang="en-US" i="1"/>
                                  <m:t>𝑤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𝑙</m:t>
                                    </m:r>
                                  </m:e>
                                </m:d>
                              </m:sup>
                            </m:sSub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i="1"/>
                          <m:t>𝑙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𝐿</m:t>
                        </m:r>
                      </m:sup>
                    </m:sSubSup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Under the two hypotheses: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  <m:r>
                      <a:rPr lang="en-US"/>
                      <m:t>: 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𝑦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  <m: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𝑙</m:t>
                            </m:r>
                          </m:e>
                        </m:d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∼</m:t>
                    </m:r>
                    <m:r>
                      <a:rPr lang="en-US"/>
                      <m:t>𝒞𝒩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r>
                      <a:rPr lang="en-US"/>
                      <m:t>: 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𝑦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  <m: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𝑙</m:t>
                            </m:r>
                          </m:e>
                        </m:d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∼</m:t>
                    </m:r>
                    <m:r>
                      <a:rPr lang="en-US"/>
                      <m:t>𝒞𝒩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and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𝛽</m:t>
                        </m:r>
                      </m:num>
                      <m:den>
                        <m:r>
                          <a:rPr lang="en-US"/>
                          <m:t>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r>
                          <a:rPr lang="en-US" b="1"/>
                          <m:t>𝐰</m:t>
                        </m:r>
                        <m:sSup>
                          <m:sSupPr>
                            <m:ctrlPr>
                              <a:rPr lang="en-US" b="1" i="1"/>
                            </m:ctrlPr>
                          </m:sSupPr>
                          <m:e>
                            <m:r>
                              <a:rPr lang="en-US"/>
                              <m:t>∥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𝐻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/>
                            </m:ctrlPr>
                          </m:accPr>
                          <m:e>
                            <m:r>
                              <a:rPr lang="en-US" i="1"/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𝜎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+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r>
                          <a:rPr lang="en-US"/>
                          <m:t>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r>
                          <a:rPr lang="en-US" b="1"/>
                          <m:t>𝐰</m:t>
                        </m:r>
                        <m:sSup>
                          <m:sSupPr>
                            <m:ctrlPr>
                              <a:rPr lang="en-US" b="1" i="1"/>
                            </m:ctrlPr>
                          </m:sSupPr>
                          <m:e>
                            <m:r>
                              <a:rPr lang="en-US"/>
                              <m:t>∥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𝐻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EBC26-7BBF-5431-F4FD-A7AC3BDF6D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BF44C-5BEE-0F22-8167-E2846DE71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8881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065C9-6465-FE74-6954-CEC8DE0F9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2AAD9-9844-1BA6-AA11-A044A4EDB8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Likelihood Functions</a:t>
                </a:r>
              </a:p>
              <a:p>
                <a:pPr lvl="1"/>
                <a:r>
                  <a:rPr lang="en-US" dirty="0"/>
                  <a:t>Following the paper notation, the likelihood function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𝐘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ℋ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</m:ra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</m:sSup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chr m:val="∏"/>
                            <m:grow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exp</m:t>
                            </m:r>
                          </m:e>
                        </m:nary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</m:d>
                                  </m:sup>
                                </m:sSub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∣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b="0" dirty="0"/>
                  <a:t>                        (10)</a:t>
                </a:r>
              </a:p>
              <a:p>
                <a:pPr lvl="1"/>
                <a:r>
                  <a:rPr lang="en-US" dirty="0"/>
                  <a:t>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𝐘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ℋ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</m:rad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</m:sSup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chr m:val="∏"/>
                            <m:grow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exp</m:t>
                            </m:r>
                          </m:e>
                        </m:nary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</m:d>
                                  </m:sup>
                                </m:sSub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∣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b="0" dirty="0"/>
                  <a:t>                        (11)</a:t>
                </a:r>
              </a:p>
              <a:p>
                <a:pPr lvl="1"/>
                <a:r>
                  <a:rPr lang="en-US" dirty="0"/>
                  <a:t>The warden distinguishes the hypotheses based on the difference between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𝜎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a:rPr lang="en-US"/>
                      <m:t> 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/>
                            </m:ctrlPr>
                          </m:accPr>
                          <m:e>
                            <m:r>
                              <a:rPr lang="en-US" i="1"/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 larger received UAV signal power produces a larger variance difference and makes detection easier.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2AAD9-9844-1BA6-AA11-A044A4EDB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B4C1C-762E-2E21-0AE4-FDBCF846B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1561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CF26C-0CAD-DE83-5DE5-8D23A47BB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7B933-31EE-575F-FCA6-7AC7D54C7F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Log-Likelihood Ratio Test</a:t>
                </a:r>
              </a:p>
              <a:p>
                <a:pPr lvl="1"/>
                <a:r>
                  <a:rPr lang="en-US" dirty="0"/>
                  <a:t>The log-likelihood ratio 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ℒ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unc>
                      <m:funcPr>
                        <m:ctrlPr>
                          <a:rPr 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/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𝑓</m:t>
                            </m:r>
                            <m:d>
                              <m:dPr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b="1"/>
                                  <m:t>𝐘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1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𝑛</m:t>
                                    </m:r>
                                  </m:e>
                                </m:d>
                                <m:r>
                                  <a:rPr lang="en-US"/>
                                  <m:t>∣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/>
                                      <m:t>ℋ</m:t>
                                    </m:r>
                                  </m:e>
                                  <m:sub>
                                    <m:r>
                                      <a:rPr lang="en-US"/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i="1"/>
                              <m:t>𝑓</m:t>
                            </m:r>
                            <m:d>
                              <m:dPr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b="1"/>
                                  <m:t>𝐘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1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𝑛</m:t>
                                    </m:r>
                                  </m:e>
                                </m:d>
                                <m:r>
                                  <a:rPr lang="en-US"/>
                                  <m:t>∣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/>
                                      <m:t>ℋ</m:t>
                                    </m:r>
                                  </m:e>
                                  <m:sub>
                                    <m:r>
                                      <a:rPr lang="en-US"/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func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Substituting the likelihood functions gives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d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</m:nary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For equal prior probabilities,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≷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                                             (13)</a:t>
                </a:r>
              </a:p>
              <a:p>
                <a:pPr lvl="1"/>
                <a:r>
                  <a:rPr lang="en-US" dirty="0"/>
                  <a:t>Thus, the warden uses a likelihood-ratio-based optimal detector.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7B933-31EE-575F-FCA6-7AC7D54C7F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6D6D7-B107-2EC1-7AA1-0F5ABC7EB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5522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031F-2622-2448-468D-BB3C9E85D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83EB99-51E4-F677-3513-C241625E37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Equivalent Energy Detection Rule</a:t>
                </a:r>
              </a:p>
              <a:p>
                <a:pPr lvl="1"/>
                <a:r>
                  <a:rPr lang="en-US" dirty="0"/>
                  <a:t>Define the total received energy: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≜</m:t>
                    </m:r>
                    <m:nary>
                      <m:naryPr>
                        <m:chr m:val="∑"/>
                        <m:grow m:val="on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𝑙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𝐿</m:t>
                        </m:r>
                      </m:sup>
                      <m:e>
                        <m:r>
                          <a:rPr lang="en-US"/>
                          <m:t>∣</m:t>
                        </m:r>
                      </m:e>
                    </m:nary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𝑦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  <m: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𝑙</m:t>
                            </m:r>
                          </m:e>
                        </m:d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∣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likelihood-ratio test can be rewritten as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≷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b="0" dirty="0"/>
                  <a:t>                                                            (14)</a:t>
                </a:r>
              </a:p>
              <a:p>
                <a:pPr lvl="1"/>
                <a:r>
                  <a:rPr lang="en-US" dirty="0"/>
                  <a:t>Where the optimal threshold 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or equivalently,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𝐿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func>
                      <m:funcPr>
                        <m:ctrlPr>
                          <a:rPr 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/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/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/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/>
                                        </m:ctrlPr>
                                      </m:accPr>
                                      <m:e>
                                        <m:r>
                                          <a:rPr lang="en-US" i="1"/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/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𝑛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i="1"/>
                                    </m:ctrlPr>
                                  </m:sSupPr>
                                  <m:e>
                                    <m:r>
                                      <a:rPr lang="en-US" i="1"/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/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warden decides: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&gt;</m:t>
                    </m:r>
                    <m:r>
                      <a:rPr lang="en-US" i="1"/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⇒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𝐷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</m:t>
                    </m:r>
                    <m:r>
                      <a:rPr lang="en-US" i="1"/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⇒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𝐷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83EB99-51E4-F677-3513-C241625E37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40C42-1A7C-9046-9DFC-9685EC03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6426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38D06-4074-CBE6-8E67-9314F903F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71B63F-8DC2-75B5-41CF-B0ED32E7EA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Distribution of the Energy Statistic</a:t>
                </a:r>
              </a:p>
              <a:p>
                <a:pPr lvl="1"/>
                <a:r>
                  <a:rPr lang="en-US" dirty="0"/>
                  <a:t>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𝑙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𝐿</m:t>
                        </m:r>
                      </m:sup>
                      <m:e>
                        <m:r>
                          <a:rPr lang="en-US"/>
                          <m:t>∣</m:t>
                        </m:r>
                      </m:e>
                    </m:nary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𝑦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  <m: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𝑙</m:t>
                            </m:r>
                          </m:e>
                        </m:d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∣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∼</m:t>
                    </m:r>
                    <m:r>
                      <m:rPr>
                        <m:sty m:val="p"/>
                      </m:rPr>
                      <a:rPr lang="en-US"/>
                      <m:t>Γ</m:t>
                    </m:r>
                    <m:d>
                      <m:dPr>
                        <m:sepChr m:val=",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𝐿</m:t>
                        </m:r>
                      </m:e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/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 the second parameter denotes the rate parameter.</a:t>
                </a:r>
              </a:p>
              <a:p>
                <a:pPr lvl="1"/>
                <a:r>
                  <a:rPr lang="en-US" dirty="0"/>
                  <a:t>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∼</m:t>
                    </m:r>
                    <m:r>
                      <m:rPr>
                        <m:sty m:val="p"/>
                      </m:rPr>
                      <a:rPr lang="en-US"/>
                      <m:t>Γ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corresponding probability density functions are proportional to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𝑓</m:t>
                        </m:r>
                      </m:e>
                      <m:sub>
                        <m:r>
                          <a:rPr lang="en-US" i="1"/>
                          <m:t>𝑇</m:t>
                        </m:r>
                        <m:r>
                          <a:rPr lang="en-US"/>
                          <m:t>∣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/>
                              <m:t>ℋ</m:t>
                            </m:r>
                          </m:e>
                          <m:sub>
                            <m:r>
                              <a:rPr lang="en-US"/>
                              <m:t>0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𝑡</m:t>
                        </m:r>
                      </m:e>
                    </m:d>
                    <m:r>
                      <a:rPr lang="en-US"/>
                      <m:t>∝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𝑡</m:t>
                        </m:r>
                      </m:e>
                      <m:sup>
                        <m:r>
                          <a:rPr lang="en-US" i="1"/>
                          <m:t>𝐿</m:t>
                        </m:r>
                        <m:r>
                          <a:rPr lang="en-US"/>
                          <m:t>−1</m:t>
                        </m:r>
                      </m:sup>
                    </m:sSup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𝑒</m:t>
                        </m:r>
                      </m:e>
                      <m:sup>
                        <m:r>
                          <a:rPr lang="en-US"/>
                          <m:t>−</m:t>
                        </m:r>
                        <m:r>
                          <a:rPr lang="en-US" i="1"/>
                          <m:t>𝑡</m:t>
                        </m:r>
                        <m:r>
                          <a:rPr lang="en-US"/>
                          <m:t>/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and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𝑓</m:t>
                        </m:r>
                      </m:e>
                      <m:sub>
                        <m:r>
                          <a:rPr lang="en-US" i="1"/>
                          <m:t>𝑇</m:t>
                        </m:r>
                        <m:r>
                          <a:rPr lang="en-US"/>
                          <m:t>∣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/>
                              <m:t>ℋ</m:t>
                            </m:r>
                          </m:e>
                          <m:sub>
                            <m:r>
                              <a:rPr lang="en-US"/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𝑡</m:t>
                        </m:r>
                      </m:e>
                    </m:d>
                    <m:r>
                      <a:rPr lang="en-US"/>
                      <m:t>∝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𝑡</m:t>
                        </m:r>
                      </m:e>
                      <m:sup>
                        <m:r>
                          <a:rPr lang="en-US" i="1"/>
                          <m:t>𝐿</m:t>
                        </m:r>
                        <m:r>
                          <a:rPr lang="en-US"/>
                          <m:t>−1</m:t>
                        </m:r>
                      </m:sup>
                    </m:sSup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𝑒</m:t>
                        </m:r>
                      </m:e>
                      <m:sup>
                        <m:r>
                          <a:rPr lang="en-US"/>
                          <m:t>−</m:t>
                        </m:r>
                        <m:r>
                          <a:rPr lang="en-US" i="1"/>
                          <m:t>𝑡</m:t>
                        </m:r>
                        <m:r>
                          <a:rPr lang="en-US"/>
                          <m:t>/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sup>
                    </m:sSup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Since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/>
                            </m:ctrlPr>
                          </m:accPr>
                          <m:e>
                            <m:r>
                              <a:rPr lang="en-US" i="1"/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&gt;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𝜎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distribution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shifts toward larger received-energy values.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71B63F-8DC2-75B5-41CF-B0ED32E7EA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B6834-2844-BBD8-1446-9EC91A2AD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1788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4928B-9931-1B14-B05E-448505D1B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1B665-9569-511F-8287-6B85D12E1C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False Alarm Probability</a:t>
                </a:r>
              </a:p>
              <a:p>
                <a:pPr lvl="1"/>
                <a:r>
                  <a:rPr lang="en-US" dirty="0"/>
                  <a:t>The false alarm event is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𝐷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r>
                      <a:rPr lang="en-US"/>
                      <m:t>∣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  <m:r>
                      <a:rPr lang="en-US"/>
                      <m:t> ⟺ 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&gt;</m:t>
                    </m:r>
                    <m:r>
                      <a:rPr lang="en-US" i="1"/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unc>
                      <m:funcPr>
                        <m:ctrlPr>
                          <a:rPr 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/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𝑇</m:t>
                                </m:r>
                              </m:e>
                              <m:sub>
                                <m:r>
                                  <a:rPr lang="en-US" i="1"/>
                                  <m:t>𝑤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&gt;</m:t>
                            </m:r>
                            <m:r>
                              <a:rPr lang="en-US" i="1"/>
                              <m:t>𝜏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∣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/>
                                  <m:t>ℋ</m:t>
                                </m:r>
                              </m:e>
                              <m:sub>
                                <m:r>
                                  <a:rPr lang="en-US"/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Using the complementary CDF of the Gamma distribution,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sepChr m:val=",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den>
                    </m:f>
                  </m:oMath>
                </a14:m>
                <a:r>
                  <a:rPr lang="en-US" b="0" dirty="0"/>
                  <a:t>                       (15)</a:t>
                </a:r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/>
                      <m:t>𝐿</m:t>
                    </m:r>
                  </m:oMath>
                </a14:m>
                <a:r>
                  <a:rPr lang="en-US" dirty="0"/>
                  <a:t> is an integer,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/>
                      <m:t>Γ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𝐿</m:t>
                        </m:r>
                      </m:e>
                    </m:d>
                    <m:r>
                      <a:rPr lang="en-US"/>
                      <m:t>=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𝐿</m:t>
                        </m:r>
                        <m:r>
                          <a:rPr lang="en-US"/>
                          <m:t>−1</m:t>
                        </m:r>
                      </m:e>
                    </m:d>
                    <m:r>
                      <a:rPr lang="en-US"/>
                      <m:t>!.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Thus,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=1−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𝛾</m:t>
                        </m:r>
                        <m:d>
                          <m:dPr>
                            <m:sepChr m:val=",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𝐿</m:t>
                            </m:r>
                          </m:e>
                          <m:e>
                            <m:f>
                              <m:fPr>
                                <m:ctrlPr>
                                  <a:rPr lang="en-US" i="1"/>
                                </m:ctrlPr>
                              </m:fPr>
                              <m:num>
                                <m:r>
                                  <a:rPr lang="en-US" i="1"/>
                                  <m:t>𝜏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𝑛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i="1"/>
                                    </m:ctrlPr>
                                  </m:sSupPr>
                                  <m:e>
                                    <m:r>
                                      <a:rPr lang="en-US" i="1"/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/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𝐿</m:t>
                            </m:r>
                            <m:r>
                              <a:rPr lang="en-US"/>
                              <m:t>−1</m:t>
                            </m:r>
                          </m:e>
                        </m:d>
                        <m:r>
                          <a:rPr lang="en-US"/>
                          <m:t>!</m:t>
                        </m:r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1B665-9569-511F-8287-6B85D12E1C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ECDE9-B87F-7433-89DD-7C7E8F372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4950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9771-F86C-A255-1204-EC120505F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751C2A-58F7-A276-5D81-29CD24B0AE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Miss Detection Probability</a:t>
                </a:r>
              </a:p>
              <a:p>
                <a:pPr lvl="1"/>
                <a:r>
                  <a:rPr lang="en-US" dirty="0"/>
                  <a:t>The miss detection event is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𝐷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  <m:r>
                      <a:rPr lang="en-US"/>
                      <m:t>∣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r>
                      <a:rPr lang="en-US"/>
                      <m:t> ⟺ 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</m:t>
                    </m:r>
                    <m:r>
                      <a:rPr lang="en-US" i="1"/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𝑀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unc>
                      <m:funcPr>
                        <m:ctrlPr>
                          <a:rPr 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/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𝑇</m:t>
                                </m:r>
                              </m:e>
                              <m:sub>
                                <m:r>
                                  <a:rPr lang="en-US" i="1"/>
                                  <m:t>𝑤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≤</m:t>
                            </m:r>
                            <m:r>
                              <a:rPr lang="en-US" i="1"/>
                              <m:t>𝜏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∣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/>
                                  <m:t>ℋ</m:t>
                                </m:r>
                              </m:e>
                              <m:sub>
                                <m:r>
                                  <a:rPr lang="en-US"/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Using the Gamma CDF,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den>
                    </m:f>
                  </m:oMath>
                </a14:m>
                <a:r>
                  <a:rPr lang="en-US" b="0" dirty="0"/>
                  <a:t>                               (16)</a:t>
                </a:r>
              </a:p>
              <a:p>
                <a:pPr lvl="1"/>
                <a:r>
                  <a:rPr lang="en-US" dirty="0"/>
                  <a:t>or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𝑀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𝛾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𝐿</m:t>
                            </m:r>
                            <m:r>
                              <a:rPr lang="en-US"/>
                              <m:t>−1</m:t>
                            </m:r>
                          </m:e>
                        </m:d>
                        <m:r>
                          <a:rPr lang="en-US"/>
                          <m:t>!</m:t>
                        </m:r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lower incomplete Gamma function 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𝛾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/>
                      <m:t>=</m:t>
                    </m:r>
                    <m:nary>
                      <m:naryPr>
                        <m:grow m:val="on"/>
                        <m:ctrlPr>
                          <a:rPr lang="en-US" i="1"/>
                        </m:ctrlPr>
                      </m:naryPr>
                      <m:sub>
                        <m:r>
                          <a:rPr lang="en-US"/>
                          <m:t>0</m:t>
                        </m:r>
                      </m:sub>
                      <m:sup>
                        <m:r>
                          <a:rPr lang="en-US" i="1"/>
                          <m:t>𝑥</m:t>
                        </m:r>
                      </m:sup>
                      <m:e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𝑡</m:t>
                            </m:r>
                          </m:e>
                          <m:sup>
                            <m:r>
                              <a:rPr lang="en-US" i="1"/>
                              <m:t>𝑠</m:t>
                            </m:r>
                            <m:r>
                              <a:rPr lang="en-US"/>
                              <m:t>−1</m:t>
                            </m:r>
                          </m:sup>
                        </m:sSup>
                      </m:e>
                    </m:nary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𝑒</m:t>
                        </m:r>
                      </m:e>
                      <m:sup>
                        <m:r>
                          <a:rPr lang="en-US"/>
                          <m:t>−</m:t>
                        </m:r>
                        <m:r>
                          <a:rPr lang="en-US" i="1"/>
                          <m:t>𝑡</m:t>
                        </m:r>
                      </m:sup>
                    </m:sSup>
                    <m:r>
                      <m:rPr>
                        <m:nor/>
                      </m:rPr>
                      <a:rPr lang="en-US"/>
                      <m:t> </m:t>
                    </m:r>
                    <m:r>
                      <a:rPr lang="en-US" i="1"/>
                      <m:t>𝑑𝑡</m:t>
                    </m:r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751C2A-58F7-A276-5D81-29CD24B0AE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7A146-DE29-F60F-E25E-D7EEF5C8C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3399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62C09-9687-46F0-7326-B51E4F8D7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</a:t>
            </a:r>
            <a:r>
              <a:rPr lang="en-US" dirty="0" err="1"/>
              <a:t>Formulaton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7F2C8-39FF-DDE7-E684-7E9AE06392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Total Detection Error Probability</a:t>
                </a:r>
              </a:p>
              <a:p>
                <a:pPr lvl="1"/>
                <a:r>
                  <a:rPr lang="en-US" dirty="0"/>
                  <a:t>The total detection error probability 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𝑀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Substituting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𝑀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=1−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𝛾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𝐿</m:t>
                            </m:r>
                            <m:r>
                              <a:rPr lang="en-US"/>
                              <m:t>−1</m:t>
                            </m:r>
                          </m:e>
                        </m:d>
                        <m:r>
                          <a:rPr lang="en-US"/>
                          <m:t>!</m:t>
                        </m:r>
                      </m:den>
                    </m:f>
                    <m:r>
                      <a:rPr lang="en-US"/>
                      <m:t>+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𝛾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𝐿</m:t>
                            </m:r>
                            <m:r>
                              <a:rPr lang="en-US"/>
                              <m:t>−1</m:t>
                            </m:r>
                          </m:e>
                        </m:d>
                        <m:r>
                          <a:rPr lang="en-US"/>
                          <m:t>!</m:t>
                        </m:r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covertness constraint 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≥1−</m:t>
                    </m:r>
                    <m:r>
                      <a:rPr lang="en-US" i="1"/>
                      <m:t>𝜖</m:t>
                    </m:r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However, this expression is highly nonlinear because both </a:t>
                </a:r>
                <a14:m>
                  <m:oMath xmlns:m="http://schemas.openxmlformats.org/officeDocument/2006/math">
                    <m:r>
                      <a:rPr lang="en-US" i="1"/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/>
                            </m:ctrlPr>
                          </m:accPr>
                          <m:e>
                            <m:r>
                              <a:rPr lang="en-US" i="1"/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depend on </a:t>
                </a:r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7F2C8-39FF-DDE7-E684-7E9AE06392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20D9F-455B-DBD1-A9B0-692C91BC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8632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19E2F-88A4-3ECE-2620-0CA5C6459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23A60F-3F85-F93F-4FA4-B863C7DC56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Monotonicity of Detection Error</a:t>
                </a:r>
              </a:p>
              <a:p>
                <a:pPr lvl="1"/>
                <a:r>
                  <a:rPr lang="en-US" dirty="0"/>
                  <a:t>The paper establishes that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/>
                          <m:t>∂</m:t>
                        </m:r>
                        <m:r>
                          <a:rPr lang="en-US" i="1"/>
                          <m:t>𝜉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/>
                          <m:t>∂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den>
                    </m:f>
                    <m:r>
                      <a:rPr lang="en-US"/>
                      <m:t>≤0.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Thus,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non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increasing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with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Recall that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/>
                            </m:ctrlPr>
                          </m:accPr>
                          <m:e>
                            <m:r>
                              <a:rPr lang="en-US" i="1"/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𝜎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↑⇒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/>
                            </m:ctrlPr>
                          </m:accPr>
                          <m:e>
                            <m:r>
                              <a:rPr lang="en-US" i="1"/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↑⇒</m:t>
                    </m:r>
                    <m:r>
                      <a:rPr lang="en-US" i="1"/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↓.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Physical Interpretation</a:t>
                </a:r>
              </a:p>
              <a:p>
                <a:pPr lvl="2"/>
                <a:r>
                  <a:rPr lang="en-US" dirty="0"/>
                  <a:t>Larger received UAV power makes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easier to distinguish. </a:t>
                </a:r>
              </a:p>
              <a:p>
                <a:pPr lvl="2"/>
                <a:r>
                  <a:rPr lang="en-US" dirty="0"/>
                  <a:t>The warden’s total detection error decreases. </a:t>
                </a:r>
              </a:p>
              <a:p>
                <a:pPr lvl="2"/>
                <a:r>
                  <a:rPr lang="en-US" dirty="0"/>
                  <a:t>Covert communication becomes more difficult.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23A60F-3F85-F93F-4FA4-B863C7DC56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5A068-1BE5-30C0-F296-85A4517C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0940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AC62F-3228-F7BC-ECB3-5C912B173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74E0A-8447-0E63-3C67-4A50B04685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Maximum Allowable Received Variance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𝜎</m:t>
                        </m:r>
                      </m:e>
                      <m:sub>
                        <m:r>
                          <a:rPr lang="en-US" i="1"/>
                          <m:t>𝑚</m:t>
                        </m:r>
                      </m:sub>
                      <m:sup>
                        <m:r>
                          <a:rPr lang="en-US"/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denote the maximum received variance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that satisfies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≥1−</m:t>
                    </m:r>
                    <m:r>
                      <a:rPr lang="en-US" i="1"/>
                      <m:t>𝜖</m:t>
                    </m:r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is determined from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using a one-dimensional bisection search.</a:t>
                </a:r>
              </a:p>
              <a:p>
                <a:pPr lvl="1"/>
                <a:r>
                  <a:rPr lang="en-US" dirty="0"/>
                  <a:t>Because </a:t>
                </a:r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</m:oMath>
                </a14:m>
                <a:r>
                  <a:rPr lang="en-US" dirty="0"/>
                  <a:t> decreases monotonically with the received variance,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≥1−</m:t>
                    </m:r>
                    <m:r>
                      <a:rPr lang="en-US" i="1"/>
                      <m:t>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 equivalent to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/>
                            </m:ctrlPr>
                          </m:accPr>
                          <m:e>
                            <m:r>
                              <a:rPr lang="en-US" i="1"/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𝜎</m:t>
                        </m:r>
                      </m:e>
                      <m:sub>
                        <m:r>
                          <a:rPr lang="en-US" i="1"/>
                          <m:t>𝑚</m:t>
                        </m:r>
                      </m:sub>
                      <m:sup>
                        <m:r>
                          <a:rPr lang="en-US"/>
                          <m:t>2</m:t>
                        </m:r>
                      </m:sup>
                    </m:sSubSup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Since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/>
                            </m:ctrlPr>
                          </m:accPr>
                          <m:e>
                            <m:r>
                              <a:rPr lang="en-US" i="1"/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𝜎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obtain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𝜎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≤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𝜎</m:t>
                        </m:r>
                      </m:e>
                      <m:sub>
                        <m:r>
                          <a:rPr lang="en-US" i="1"/>
                          <m:t>𝑚</m:t>
                        </m:r>
                      </m:sub>
                      <m:sup>
                        <m:r>
                          <a:rPr lang="en-US"/>
                          <m:t>2</m:t>
                        </m:r>
                      </m:sup>
                    </m:sSubSup>
                    <m:r>
                      <a:rPr lang="en-US"/>
                      <m:t>.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74E0A-8447-0E63-3C67-4A50B04685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14877-34D2-1F77-55E2-17C4D03E7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15158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CA9D6-3D03-6A73-2C29-2CD1937B0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30C7C9-4CB9-7199-6EB4-3E11696C7C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Equivalent Tractable Covertness Constraint</a:t>
                </a:r>
              </a:p>
              <a:p>
                <a:pPr lvl="1"/>
                <a:r>
                  <a:rPr lang="en-US" dirty="0"/>
                  <a:t>The original complicated constraint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𝑀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≥1−</m:t>
                    </m:r>
                    <m:r>
                      <a:rPr lang="en-US" i="1"/>
                      <m:t>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 transformed into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                   (17)</a:t>
                </a:r>
              </a:p>
              <a:p>
                <a:pPr lvl="1"/>
                <a:r>
                  <a:rPr lang="en-US" dirty="0"/>
                  <a:t>Substituting the UAV-to-warden channel gain,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or equivalently,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/>
                                </m:ctrlPr>
                              </m:sSub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b>
                                <m:r>
                                  <a:rPr lang="en-US" i="1"/>
                                  <m:t>𝑚</m:t>
                                </m:r>
                              </m:sub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bSup>
                            <m:r>
                              <a:rPr lang="en-US"/>
                              <m:t>−</m:t>
                            </m:r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/>
                              <m:t>∥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b="1"/>
                                  <m:t>𝐪</m:t>
                                </m:r>
                              </m:e>
                              <m:sub>
                                <m:r>
                                  <a:rPr lang="en-US" i="1"/>
                                  <m:t>𝑢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−</m:t>
                            </m:r>
                            <m:r>
                              <a:rPr lang="en-US" b="1"/>
                              <m:t>𝐰</m:t>
                            </m:r>
                            <m:sSup>
                              <m:sSupPr>
                                <m:ctrlPr>
                                  <a:rPr lang="en-US" b="1" i="1"/>
                                </m:ctrlPr>
                              </m:sSupPr>
                              <m:e>
                                <m:r>
                                  <a:rPr lang="en-US"/>
                                  <m:t>∥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  <m:r>
                              <a:rPr lang="en-US"/>
                              <m:t>+</m:t>
                            </m:r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𝐻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i="1"/>
                          <m:t>𝛽</m:t>
                        </m:r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This provides a location-dependent upper bound on the UAV transmit power.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30C7C9-4CB9-7199-6EB4-3E11696C7C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8548F-3926-00FB-489C-67A3589DC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3415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B1C5-4AF7-216D-9DCB-7E0D1473D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3D5967-AC3D-F91E-A429-10FE12F624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Interpretation of the Transformed Constraint</a:t>
                </a:r>
              </a:p>
              <a:p>
                <a:pPr lvl="1"/>
                <a:r>
                  <a:rPr lang="en-US" dirty="0"/>
                  <a:t>When the UAV Is Close to the Warden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r>
                      <a:rPr lang="en-US" b="1"/>
                      <m:t>𝐰</m:t>
                    </m:r>
                    <m:sSup>
                      <m:sSupPr>
                        <m:ctrlPr>
                          <a:rPr lang="en-US" b="1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↓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which implies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↑.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Therefore, the UAV must use a smaller transmit power: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↓.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When the UAV Is Far from the Warden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r>
                      <a:rPr lang="en-US" b="1"/>
                      <m:t>𝐰</m:t>
                    </m:r>
                    <m:sSup>
                      <m:sSupPr>
                        <m:ctrlPr>
                          <a:rPr lang="en-US" b="1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↑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which implies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↓.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Thus, a larger transmit power can be used while maintaining covertness.</a:t>
                </a:r>
              </a:p>
              <a:p>
                <a:pPr lvl="1"/>
                <a:r>
                  <a:rPr lang="en-US" dirty="0"/>
                  <a:t>Main Design Principle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Transmit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strongly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near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users</m:t>
                    </m:r>
                    <m:r>
                      <m:rPr>
                        <m:nor/>
                      </m:rPr>
                      <a:rPr lang="en-US"/>
                      <m:t>, </m:t>
                    </m:r>
                    <m:r>
                      <m:rPr>
                        <m:nor/>
                      </m:rPr>
                      <a:rPr lang="en-US"/>
                      <m:t>but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remain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sufficiently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from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warden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3D5967-AC3D-F91E-A429-10FE12F624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A4A89-65B2-3D41-5B47-125C3422D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0028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EAE0A-8B36-07D9-0FF6-390234E47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D081DF-7565-FD7B-07B3-E4A1D6EBF4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Warden Location Uncertainty</a:t>
                </a:r>
              </a:p>
              <a:p>
                <a:pPr lvl="1"/>
                <a:r>
                  <a:rPr lang="en-US" dirty="0"/>
                  <a:t>Estimated Warden Location</a:t>
                </a:r>
              </a:p>
              <a:p>
                <a:pPr lvl="2"/>
                <a:r>
                  <a:rPr lang="en-US" dirty="0"/>
                  <a:t>The UAV does not know the exact warden location. It only knows an estimated position: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/>
                          <m:t>𝑇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The actual warden location is modeled as: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b="1" dirty="0"/>
                  <a:t>                    </a:t>
                </a:r>
                <a:r>
                  <a:rPr lang="en-US" dirty="0"/>
                  <a:t>(18)</a:t>
                </a:r>
              </a:p>
              <a:p>
                <a:pPr lvl="2"/>
                <a:r>
                  <a:rPr lang="en-US" dirty="0"/>
                  <a:t>Where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𝐞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i="1"/>
                          <m:t>𝑇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3"/>
                <a:r>
                  <a:rPr lang="en-US" dirty="0"/>
                  <a:t>is the location estimation error.</a:t>
                </a:r>
              </a:p>
              <a:p>
                <a:pPr lvl="1"/>
                <a:r>
                  <a:rPr lang="en-US" dirty="0"/>
                  <a:t>Uncertainty Region</a:t>
                </a:r>
              </a:p>
              <a:p>
                <a:pPr lvl="2"/>
                <a:r>
                  <a:rPr lang="en-US" dirty="0"/>
                  <a:t>The warden is assumed to lie inside a circle centered 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</m:oMath>
                </a14:m>
                <a:r>
                  <a:rPr lang="en-US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b="0" dirty="0"/>
                  <a:t>                                                  (19)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D081DF-7565-FD7B-07B3-E4A1D6EBF4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0E958-A3CD-844F-80AE-C656810AF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5643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F600E-E1CB-DD03-33DB-D129AE872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8D8E50-6E56-F9E9-4F9E-FD6A8EA73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Covertness Constraint with Perfect Warden Location</a:t>
                </a:r>
              </a:p>
              <a:p>
                <a:pPr lvl="1"/>
                <a:r>
                  <a:rPr lang="en-US" dirty="0"/>
                  <a:t>From the warden-side analysis, the covertness constraint becomes: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                           (17)</a:t>
                </a:r>
              </a:p>
              <a:p>
                <a:pPr lvl="1"/>
                <a:r>
                  <a:rPr lang="en-US" dirty="0"/>
                  <a:t>Using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𝛽</m:t>
                        </m:r>
                      </m:num>
                      <m:den>
                        <m:r>
                          <a:rPr lang="en-US"/>
                          <m:t>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r>
                          <a:rPr lang="en-US" b="1"/>
                          <m:t>𝐰</m:t>
                        </m:r>
                        <m:sSup>
                          <m:sSupPr>
                            <m:ctrlPr>
                              <a:rPr lang="en-US" b="1" i="1"/>
                            </m:ctrlPr>
                          </m:sSupPr>
                          <m:e>
                            <m:r>
                              <a:rPr lang="en-US"/>
                              <m:t>∥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𝐻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we have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r>
                          <a:rPr lang="en-US"/>
                          <m:t>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r>
                          <a:rPr lang="en-US" b="1"/>
                          <m:t>𝐰</m:t>
                        </m:r>
                        <m:sSup>
                          <m:sSupPr>
                            <m:ctrlPr>
                              <a:rPr lang="en-US" b="1" i="1"/>
                            </m:ctrlPr>
                          </m:sSupPr>
                          <m:e>
                            <m:r>
                              <a:rPr lang="en-US"/>
                              <m:t>∥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𝐻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≤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𝜎</m:t>
                        </m:r>
                      </m:e>
                      <m:sub>
                        <m:r>
                          <a:rPr lang="en-US" i="1"/>
                          <m:t>𝑚</m:t>
                        </m:r>
                      </m:sub>
                      <m:sup>
                        <m:r>
                          <a:rPr lang="en-US"/>
                          <m:t>2</m:t>
                        </m:r>
                      </m:sup>
                    </m:sSubSup>
                    <m:r>
                      <a:rPr lang="en-US"/>
                      <m:t>−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𝜎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Rearranging: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r>
                      <a:rPr lang="en-US" b="1"/>
                      <m:t>𝐰</m:t>
                    </m:r>
                    <m:sSup>
                      <m:sSupPr>
                        <m:ctrlPr>
                          <a:rPr lang="en-US" b="1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+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𝐻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≥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𝜎</m:t>
                            </m:r>
                          </m:e>
                          <m:sub>
                            <m:r>
                              <a:rPr lang="en-US" i="1"/>
                              <m:t>𝑚</m:t>
                            </m:r>
                          </m:sub>
                          <m:sup>
                            <m:r>
                              <a:rPr lang="en-US"/>
                              <m:t>2</m:t>
                            </m:r>
                          </m:sup>
                        </m:sSubSup>
                        <m:r>
                          <a:rPr lang="en-US"/>
                          <m:t>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Ignoring the constant altitude term in the paper’s simplified expression gives the horizontal-distance form: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−∥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r>
                      <a:rPr lang="en-US" b="1"/>
                      <m:t>𝐰</m:t>
                    </m:r>
                    <m:sSup>
                      <m:sSupPr>
                        <m:ctrlPr>
                          <a:rPr lang="en-US" b="1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+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𝜎</m:t>
                            </m:r>
                          </m:e>
                          <m:sub>
                            <m:r>
                              <a:rPr lang="en-US" i="1"/>
                              <m:t>𝑚</m:t>
                            </m:r>
                          </m:sub>
                          <m:sup>
                            <m:r>
                              <a:rPr lang="en-US"/>
                              <m:t>2</m:t>
                            </m:r>
                          </m:sup>
                        </m:sSubSup>
                        <m:r>
                          <a:rPr lang="en-US"/>
                          <m:t>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≤0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8D8E50-6E56-F9E9-4F9E-FD6A8EA73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58ECE-FD76-D6DB-3920-008231C87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4565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4524-6F8A-8F3E-E514-97AE18098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B745AB-EA80-F4E5-579F-3FAD381CB6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Worst-Case Warden Location Constraint</a:t>
                </a:r>
              </a:p>
              <a:p>
                <a:pPr lvl="1"/>
                <a:r>
                  <a:rPr lang="en-US" dirty="0"/>
                  <a:t>Since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𝐰</m:t>
                    </m:r>
                    <m:r>
                      <a:rPr lang="en-US"/>
                      <m:t>=</m:t>
                    </m:r>
                    <m:acc>
                      <m:accPr>
                        <m:chr m:val="̂"/>
                        <m:ctrlPr>
                          <a:rPr lang="en-US" i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r>
                      <a:rPr lang="en-US"/>
                      <m:t>+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𝐞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r>
                      <a:rPr lang="en-US"/>
                      <m:t>,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 covertness constraint must hold for every possible estimation error: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𝐞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−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𝑟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≤0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Substituting </a:t>
                </a:r>
                <a14:m>
                  <m:oMath xmlns:m="http://schemas.openxmlformats.org/officeDocument/2006/math">
                    <m:r>
                      <a:rPr lang="en-US" b="1"/>
                      <m:t>𝐰</m:t>
                    </m:r>
                    <m:r>
                      <a:rPr lang="en-US"/>
                      <m:t>=</m:t>
                    </m:r>
                    <m:acc>
                      <m:accPr>
                        <m:chr m:val="̂"/>
                        <m:ctrlPr>
                          <a:rPr lang="en-US" i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r>
                      <a:rPr lang="en-US"/>
                      <m:t>+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𝐞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∥"/>
                            <m:endChr m:val="∥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𝐪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b="0" dirty="0"/>
                  <a:t>                    (20)</a:t>
                </a:r>
              </a:p>
              <a:p>
                <a:r>
                  <a:rPr lang="en-US" dirty="0"/>
                  <a:t>This means: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Covertness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must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hold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all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possible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warden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locations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inside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uncertainty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circle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Worst-Case Interpretation</a:t>
                </a:r>
              </a:p>
              <a:p>
                <a:pPr lvl="1"/>
                <a:r>
                  <a:rPr lang="en-US" dirty="0"/>
                  <a:t>The worst case happens when the warden is closest to the UAV: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r>
                      <a:rPr lang="en-US" b="1"/>
                      <m:t>𝐰</m:t>
                    </m:r>
                    <m:r>
                      <a:rPr lang="en-US"/>
                      <m:t>∥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minimized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Therefore, the UAV must design its power and trajectory conservatively.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B745AB-EA80-F4E5-579F-3FAD381CB6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3BED4-1BC1-44CF-1854-7B91EE48E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9573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20DB4-449A-F0D7-83B8-70B1B3CDA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E05DE4-4EBE-98FB-26B9-C9C5D139CC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Expanding the Quadratic Constraint</a:t>
                </a:r>
              </a:p>
              <a:p>
                <a:pPr lvl="1"/>
                <a:r>
                  <a:rPr lang="en-US" dirty="0"/>
                  <a:t>Let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sepChr m:val=",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𝑥</m:t>
                            </m:r>
                          </m: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 i="1"/>
                              <m:t>𝑦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i="1"/>
                          <m:t>𝑇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/>
                          <m:t>𝑇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𝐞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i="1"/>
                          <m:t>𝑇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acc>
                      <m:accPr>
                        <m:chr m:val="̂"/>
                        <m:ctrlPr>
                          <a:rPr lang="en-US" i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r>
                      <a:rPr lang="en-US"/>
                      <m:t>−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𝐞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r>
                      <a:rPr lang="en-US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r>
                                <a:rPr lang="en-US" i="1"/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a:rPr lang="en-US"/>
                                <m:t>−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𝑥</m:t>
                                  </m:r>
                                </m:e>
                                <m:sub>
                                  <m:r>
                                    <a:rPr lang="en-US" i="1"/>
                                    <m:t>𝑒</m:t>
                                  </m:r>
                                </m:sub>
                              </m:sSub>
                              <m:r>
                                <a:rPr lang="en-US"/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/>
                                <m:t>Δ</m:t>
                              </m:r>
                              <m:r>
                                <a:rPr lang="en-US" i="1"/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i="1"/>
                                <m:t>𝑦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a:rPr lang="en-US"/>
                                <m:t>−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𝑦</m:t>
                                  </m:r>
                                </m:e>
                                <m:sub>
                                  <m:r>
                                    <a:rPr lang="en-US" i="1"/>
                                    <m:t>𝑒</m:t>
                                  </m:r>
                                </m:sub>
                              </m:sSub>
                              <m:r>
                                <a:rPr lang="en-US"/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/>
                                <m:t>Δ</m:t>
                              </m:r>
                              <m:r>
                                <a:rPr lang="en-US" i="1"/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Thus,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d>
                          <m:dPr>
                            <m:begChr m:val="∥"/>
                            <m:endChr m:val="∥"/>
                            <m:ctrlPr>
                              <a:rPr lang="en-US"/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b="1"/>
                                  <m:t>𝐪</m:t>
                                </m:r>
                              </m:e>
                              <m:sub>
                                <m:r>
                                  <a:rPr lang="en-US" i="1"/>
                                  <m:t>𝑢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b="1"/>
                                  <m:t>𝐰</m:t>
                                </m:r>
                              </m:e>
                            </m:acc>
                            <m:r>
                              <a:rPr lang="en-US"/>
                              <m:t>−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b="1"/>
                                  <m:t>𝐞</m:t>
                                </m:r>
                              </m:e>
                              <m:sub>
                                <m:r>
                                  <a:rPr lang="en-US" i="1"/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𝑥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−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𝑥</m:t>
                                </m:r>
                              </m:e>
                              <m:sub>
                                <m:r>
                                  <a:rPr lang="en-US" i="1"/>
                                  <m:t>𝑒</m:t>
                                </m:r>
                              </m:sub>
                            </m:sSub>
                            <m:r>
                              <a:rPr lang="en-US"/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/>
                              <m:t>Δ</m:t>
                            </m:r>
                            <m:r>
                              <a:rPr lang="en-US" i="1"/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+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𝑦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−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𝑦</m:t>
                                </m:r>
                              </m:e>
                              <m:sub>
                                <m:r>
                                  <a:rPr lang="en-US" i="1"/>
                                  <m:t>𝑒</m:t>
                                </m:r>
                              </m:sub>
                            </m:sSub>
                            <m:r>
                              <a:rPr lang="en-US"/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/>
                              <m:t>Δ</m:t>
                            </m:r>
                            <m:r>
                              <a:rPr lang="en-US" i="1"/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So, constraint (20) becomes: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𝑥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𝑛</m:t>
                                    </m:r>
                                  </m:e>
                                </m:d>
                                <m:r>
                                  <a:rPr lang="en-US"/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i="1"/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/>
                                      <m:t>𝑒</m:t>
                                    </m:r>
                                  </m:sub>
                                </m:sSub>
                                <m:r>
                                  <a:rPr lang="en-US"/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/>
                                  <m:t>Δ</m:t>
                                </m:r>
                                <m:r>
                                  <a:rPr lang="en-US" i="1"/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𝑦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𝑛</m:t>
                                    </m:r>
                                  </m:e>
                                </m:d>
                                <m:r>
                                  <a:rPr lang="en-US"/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i="1"/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/>
                                      <m:t>𝑒</m:t>
                                    </m:r>
                                  </m:sub>
                                </m:sSub>
                                <m:r>
                                  <a:rPr lang="en-US"/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/>
                                  <m:t>Δ</m:t>
                                </m:r>
                                <m:r>
                                  <a:rPr lang="en-US" i="1"/>
                                  <m:t>𝑦</m:t>
                                </m:r>
                              </m:e>
                            </m:d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e>
                    </m:d>
                    <m:r>
                      <a:rPr lang="en-US"/>
                      <m:t>+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𝜎</m:t>
                            </m:r>
                          </m:e>
                          <m:sub>
                            <m:r>
                              <a:rPr lang="en-US" i="1"/>
                              <m:t>𝑚</m:t>
                            </m:r>
                          </m:sub>
                          <m:sup>
                            <m:r>
                              <a:rPr lang="en-US"/>
                              <m:t>2</m:t>
                            </m:r>
                          </m:sup>
                        </m:sSubSup>
                        <m:r>
                          <a:rPr lang="en-US"/>
                          <m:t>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≤0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is a quadratic implication: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𝐞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−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𝑟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≤0⇒</m:t>
                    </m:r>
                    <m:r>
                      <a:rPr lang="en-US" i="1"/>
                      <m:t>𝑔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𝐞</m:t>
                            </m:r>
                          </m:e>
                          <m:sub>
                            <m:r>
                              <a:rPr lang="en-US" i="1"/>
                              <m:t>𝑤</m:t>
                            </m:r>
                          </m:sub>
                        </m:sSub>
                      </m:e>
                    </m:d>
                    <m:r>
                      <a:rPr lang="en-US"/>
                      <m:t>≤0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Where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/>
                      <m:t>𝑔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𝐞</m:t>
                            </m:r>
                          </m:e>
                          <m:sub>
                            <m:r>
                              <a:rPr lang="en-US" i="1"/>
                              <m:t>𝑤</m:t>
                            </m:r>
                          </m:sub>
                        </m:sSub>
                      </m:e>
                    </m:d>
                    <m:r>
                      <a:rPr lang="en-US"/>
                      <m:t>=−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begChr m:val="∥"/>
                            <m:endChr m:val="∥"/>
                            <m:ctrlPr>
                              <a:rPr lang="en-US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b="1"/>
                                  <m:t>𝐪</m:t>
                                </m:r>
                              </m:e>
                              <m:sub>
                                <m:r>
                                  <a:rPr lang="en-US" i="1"/>
                                  <m:t>𝑢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b="1"/>
                                  <m:t>𝐰</m:t>
                                </m:r>
                              </m:e>
                            </m:acc>
                            <m:r>
                              <a:rPr lang="en-US"/>
                              <m:t>−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b="1"/>
                                  <m:t>𝐞</m:t>
                                </m:r>
                              </m:e>
                              <m:sub>
                                <m:r>
                                  <a:rPr lang="en-US" i="1"/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+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𝜎</m:t>
                            </m:r>
                          </m:e>
                          <m:sub>
                            <m:r>
                              <a:rPr lang="en-US" i="1"/>
                              <m:t>𝑚</m:t>
                            </m:r>
                          </m:sub>
                          <m:sup>
                            <m:r>
                              <a:rPr lang="en-US"/>
                              <m:t>2</m:t>
                            </m:r>
                          </m:sup>
                        </m:sSubSup>
                        <m:r>
                          <a:rPr lang="en-US"/>
                          <m:t>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E05DE4-4EBE-98FB-26B9-C9C5D139CC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1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31918-F303-2F3F-DD6E-7F2EAFBD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64245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98230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E371-E9BF-69F6-373F-C98752CE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D480FC-EBD7-2858-40BB-C4C57BEF6F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S-Procedure-Based LMI Transformation</a:t>
                </a:r>
              </a:p>
              <a:p>
                <a:pPr lvl="1"/>
                <a:r>
                  <a:rPr lang="en-US" dirty="0"/>
                  <a:t>The worst-case constraint can be converted into a linear matrix inequality using the S-procedure.</a:t>
                </a:r>
              </a:p>
              <a:p>
                <a:pPr lvl="1"/>
                <a:r>
                  <a:rPr lang="en-US" dirty="0"/>
                  <a:t>There exists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𝜇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such that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𝚽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⪰0</m:t>
                    </m:r>
                  </m:oMath>
                </a14:m>
                <a:r>
                  <a:rPr lang="en-US" b="1" dirty="0"/>
                  <a:t>                </a:t>
                </a:r>
                <a:r>
                  <a:rPr lang="en-US" dirty="0"/>
                  <a:t>(21)</a:t>
                </a:r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𝚽</m:t>
                    </m:r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r>
                                <a:rPr lang="en-US" i="1"/>
                                <m:t>𝜇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a:rPr lang="en-US"/>
                                <m:t>+1</m:t>
                              </m:r>
                            </m:e>
                            <m:e>
                              <m:r>
                                <a:rPr lang="en-US"/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𝑥</m:t>
                                  </m:r>
                                </m:e>
                                <m:sub>
                                  <m:r>
                                    <a:rPr lang="en-US" i="1"/>
                                    <m:t>𝑒</m:t>
                                  </m:r>
                                </m:sub>
                              </m:sSub>
                              <m:r>
                                <a:rPr lang="en-US"/>
                                <m:t>−</m:t>
                              </m:r>
                              <m:r>
                                <a:rPr lang="en-US" i="1"/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/>
                                <m:t>0</m:t>
                              </m:r>
                            </m:e>
                            <m:e>
                              <m:r>
                                <a:rPr lang="en-US" i="1"/>
                                <m:t>𝜇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a:rPr lang="en-US"/>
                                <m:t>+1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𝑦</m:t>
                                  </m:r>
                                </m:e>
                                <m:sub>
                                  <m:r>
                                    <a:rPr lang="en-US" i="1"/>
                                    <m:t>𝑒</m:t>
                                  </m:r>
                                </m:sub>
                              </m:sSub>
                              <m:r>
                                <a:rPr lang="en-US"/>
                                <m:t>−</m:t>
                              </m:r>
                              <m:r>
                                <a:rPr lang="en-US" i="1"/>
                                <m:t>𝑦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𝑥</m:t>
                                  </m:r>
                                </m:e>
                                <m:sub>
                                  <m:r>
                                    <a:rPr lang="en-US" i="1"/>
                                    <m:t>𝑒</m:t>
                                  </m:r>
                                </m:sub>
                              </m:sSub>
                              <m:r>
                                <a:rPr lang="en-US"/>
                                <m:t>−</m:t>
                              </m:r>
                              <m:r>
                                <a:rPr lang="en-US" i="1"/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𝑦</m:t>
                                  </m:r>
                                </m:e>
                                <m:sub>
                                  <m:r>
                                    <a:rPr lang="en-US" i="1"/>
                                    <m:t>𝑒</m:t>
                                  </m:r>
                                </m:sub>
                              </m:sSub>
                              <m:r>
                                <a:rPr lang="en-US"/>
                                <m:t>−</m:t>
                              </m:r>
                              <m:r>
                                <a:rPr lang="en-US" i="1"/>
                                <m:t>𝑦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i="1"/>
                                <m:t>𝑧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a:rPr lang="en-US"/>
                                <m:t>−</m:t>
                              </m:r>
                              <m:sSup>
                                <m:sSupPr>
                                  <m:ctrlPr>
                                    <a:rPr lang="en-US" i="1"/>
                                  </m:ctrlPr>
                                </m:sSupPr>
                                <m:e>
                                  <m:r>
                                    <a:rPr lang="en-US" i="1"/>
                                    <m:t>𝑟</m:t>
                                  </m:r>
                                </m:e>
                                <m:sup>
                                  <m:r>
                                    <a:rPr lang="en-US"/>
                                    <m:t>2</m:t>
                                  </m:r>
                                </m:sup>
                              </m:sSup>
                              <m:r>
                                <a:rPr lang="en-US" i="1"/>
                                <m:t>𝜇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en-US"/>
                      <m:t>⪰0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and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𝑧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acc>
                      <m:accPr>
                        <m:chr m:val="̂"/>
                        <m:ctrlPr>
                          <a:rPr lang="en-US" i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−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𝜎</m:t>
                            </m:r>
                          </m:e>
                          <m:sub>
                            <m:r>
                              <a:rPr lang="en-US" i="1"/>
                              <m:t>𝑚</m:t>
                            </m:r>
                          </m:sub>
                          <m:sup>
                            <m:r>
                              <a:rPr lang="en-US"/>
                              <m:t>2</m:t>
                            </m:r>
                          </m:sup>
                        </m:sSubSup>
                        <m:r>
                          <a:rPr lang="en-US"/>
                          <m:t>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Meaning</a:t>
                </a:r>
              </a:p>
              <a:p>
                <a:pPr lvl="2"/>
                <a:r>
                  <a:rPr lang="en-US" dirty="0"/>
                  <a:t>The complicated condition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/>
                      <m:t>covertness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m:rPr>
                        <m:nor/>
                      </m:rPr>
                      <a:rPr lang="en-US" b="0" i="0"/>
                      <m:t>holds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m:rPr>
                        <m:nor/>
                      </m:rPr>
                      <a:rPr lang="en-US" b="0" i="0"/>
                      <m:t>for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m:rPr>
                        <m:nor/>
                      </m:rPr>
                      <a:rPr lang="en-US" b="0" i="0"/>
                      <m:t>all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𝐞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is transformed into the LMI: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𝚽</m:t>
                    </m:r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⪰0.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This makes the robust covertness constraint easier to include in convex optimization.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D480FC-EBD7-2858-40BB-C4C57BEF6F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5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5212C-0375-7153-5C20-92BA4AFF9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8953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30EBD-D51D-39D5-90CC-33EF0DC5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Covert Rate Maximization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46D2F-7AFE-D839-F2CB-4241497380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Covert Rate Maximization Framework</a:t>
                </a:r>
              </a:p>
              <a:p>
                <a:pPr lvl="1"/>
                <a:r>
                  <a:rPr lang="en-US" dirty="0"/>
                  <a:t>Optimization Objective</a:t>
                </a:r>
              </a:p>
              <a:p>
                <a:pPr lvl="2"/>
                <a:r>
                  <a:rPr lang="en-US" dirty="0"/>
                  <a:t>The objective is to maximize the minimum average covert rate among all </a:t>
                </a:r>
                <a14:m>
                  <m:oMath xmlns:m="http://schemas.openxmlformats.org/officeDocument/2006/math">
                    <m:r>
                      <a:rPr lang="en-US" i="1"/>
                      <m:t>𝐾</m:t>
                    </m:r>
                  </m:oMath>
                </a14:m>
                <a:r>
                  <a:rPr lang="en-US" dirty="0"/>
                  <a:t>users: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/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/>
                          <m:t>max</m:t>
                        </m:r>
                      </m:e>
                      <m:lim>
                        <m:r>
                          <a:rPr lang="en-US" i="1"/>
                          <m:t>𝜂</m:t>
                        </m:r>
                        <m:r>
                          <a:rPr lang="en-US"/>
                          <m:t>,</m:t>
                        </m:r>
                        <m:r>
                          <a:rPr lang="en-US" b="1" i="1"/>
                          <m:t>𝜶</m:t>
                        </m:r>
                        <m:r>
                          <a:rPr lang="en-US"/>
                          <m:t>,</m:t>
                        </m:r>
                        <m:r>
                          <a:rPr lang="en-US" b="1"/>
                          <m:t>𝐏</m:t>
                        </m:r>
                        <m:r>
                          <a:rPr lang="en-US"/>
                          <m:t>,</m:t>
                        </m:r>
                        <m:r>
                          <a:rPr lang="en-US" b="1"/>
                          <m:t>𝐐</m:t>
                        </m:r>
                      </m:lim>
                    </m:limLow>
                    <m:r>
                      <a:rPr lang="en-US"/>
                      <m:t> </m:t>
                    </m:r>
                    <m:r>
                      <a:rPr lang="en-US" i="1"/>
                      <m:t>𝜂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subject to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r>
                          <a:rPr lang="en-US" i="1"/>
                          <m:t>𝑁</m:t>
                        </m:r>
                      </m:den>
                    </m:f>
                    <m:nary>
                      <m:naryPr>
                        <m:chr m:val="∑"/>
                        <m:grow m:val="on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𝑛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𝛼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𝑃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h</m:t>
                                </m:r>
                              </m:e>
                              <m:sub>
                                <m:r>
                                  <a:rPr lang="en-US" i="1"/>
                                  <m:t>𝑢𝑘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/>
                      <m:t>≥</m:t>
                    </m:r>
                    <m:r>
                      <a:rPr lang="en-US" i="1"/>
                      <m:t>𝜂</m:t>
                    </m:r>
                    <m:r>
                      <a:rPr lang="en-US"/>
                      <m:t>, ∀</m:t>
                    </m:r>
                    <m:r>
                      <a:rPr lang="en-US" i="1"/>
                      <m:t>𝑘</m:t>
                    </m:r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Optimization Variables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1"/>
                      <m:t>𝜶</m:t>
                    </m:r>
                    <m:r>
                      <a:rPr lang="en-US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𝛼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, </m:t>
                    </m:r>
                    <m:r>
                      <a:rPr lang="en-US" b="1"/>
                      <m:t>𝐏</m:t>
                    </m:r>
                    <m:r>
                      <a:rPr lang="en-US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, </m:t>
                    </m:r>
                    <m:r>
                      <a:rPr lang="en-US" b="1"/>
                      <m:t>𝐐</m:t>
                    </m:r>
                    <m:r>
                      <a:rPr lang="en-US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The variables are strongly coupled, making the original problem a mixed-integer non-convex problem.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46D2F-7AFE-D839-F2CB-4241497380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A0CB9-21F8-5C29-07A6-F0128E849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3179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98E85-740A-1995-C713-984A5FB48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Covert Rate Maximization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0440CC-1CD1-9A59-77E5-F3E969D48F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BCD-Based Solution Structure</a:t>
                </a:r>
              </a:p>
              <a:p>
                <a:pPr lvl="1"/>
                <a:r>
                  <a:rPr lang="en-US" dirty="0"/>
                  <a:t>The variables are divided into three blocks: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𝐐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At iteration </a:t>
                </a:r>
                <a14:m>
                  <m:oMath xmlns:m="http://schemas.openxmlformats.org/officeDocument/2006/math">
                    <m:r>
                      <a:rPr lang="en-US" i="1"/>
                      <m:t>𝜈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/>
                <a:r>
                  <a:rPr lang="en-US" dirty="0"/>
                  <a:t>Optimize time-slot allocation with fixed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/>
                        </m:ctrlPr>
                      </m:sSupPr>
                      <m:e>
                        <m:r>
                          <a:rPr lang="en-US" b="1"/>
                          <m:t>𝐏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,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b="1"/>
                          <m:t>𝐐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</a:p>
              <a:p>
                <a:pPr lvl="2"/>
                <a:r>
                  <a:rPr lang="en-US" dirty="0"/>
                  <a:t>Optimize transmit power with fixed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1"/>
                            </m:ctrlPr>
                          </m:accPr>
                          <m:e>
                            <m:r>
                              <a:rPr lang="en-US" b="1" i="1"/>
                              <m:t>𝜶</m:t>
                            </m:r>
                          </m:e>
                        </m:acc>
                      </m:e>
                      <m:sup>
                        <m:r>
                          <a:rPr lang="en-US" i="1"/>
                          <m:t>𝜈</m:t>
                        </m:r>
                        <m:r>
                          <a:rPr lang="en-US"/>
                          <m:t>+1</m:t>
                        </m:r>
                      </m:sup>
                    </m:sSup>
                    <m:r>
                      <a:rPr lang="en-US"/>
                      <m:t>,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b="1"/>
                          <m:t>𝐐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</a:p>
              <a:p>
                <a:pPr lvl="2"/>
                <a:r>
                  <a:rPr lang="en-US" dirty="0"/>
                  <a:t>Optimize trajectory with fixed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1"/>
                            </m:ctrlPr>
                          </m:accPr>
                          <m:e>
                            <m:r>
                              <a:rPr lang="en-US" b="1" i="1"/>
                              <m:t>𝜶</m:t>
                            </m:r>
                          </m:e>
                        </m:acc>
                      </m:e>
                      <m:sup>
                        <m:r>
                          <a:rPr lang="en-US" i="1"/>
                          <m:t>𝜈</m:t>
                        </m:r>
                        <m:r>
                          <a:rPr lang="en-US"/>
                          <m:t>+1</m:t>
                        </m:r>
                      </m:sup>
                    </m:sSup>
                    <m:r>
                      <a:rPr lang="en-US"/>
                      <m:t>,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b="1"/>
                          <m:t>𝐏</m:t>
                        </m:r>
                      </m:e>
                      <m:sup>
                        <m:r>
                          <a:rPr lang="en-US" i="1"/>
                          <m:t>𝜈</m:t>
                        </m:r>
                        <m:r>
                          <a:rPr lang="en-US"/>
                          <m:t>+1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</a:p>
              <a:p>
                <a:pPr lvl="2"/>
                <a:r>
                  <a:rPr lang="en-US" dirty="0"/>
                  <a:t>This follows the Block Coordinate Descent principle: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1"/>
                        </m:ctrlPr>
                      </m:sSubSupPr>
                      <m:e>
                        <m:r>
                          <a:rPr lang="en-US" b="1"/>
                          <m:t>𝐱</m:t>
                        </m:r>
                      </m:e>
                      <m:sub>
                        <m:r>
                          <a:rPr lang="en-US" i="1"/>
                          <m:t>𝑖</m:t>
                        </m:r>
                      </m:sub>
                      <m:sup>
                        <m:r>
                          <a:rPr lang="en-US" i="1"/>
                          <m:t>𝜈</m:t>
                        </m:r>
                        <m:r>
                          <a:rPr lang="en-US"/>
                          <m:t>+1</m:t>
                        </m:r>
                      </m:sup>
                    </m:sSubSup>
                    <m:r>
                      <a:rPr lang="en-US"/>
                      <m:t>=</m:t>
                    </m:r>
                    <m:func>
                      <m:funcPr>
                        <m:ctrlPr>
                          <a:rPr 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/>
                          <m:t>arg</m:t>
                        </m:r>
                      </m:fName>
                      <m:e>
                        <m:limLow>
                          <m:limLowPr>
                            <m:ctrlPr>
                              <a:rPr lang="en-US" i="1"/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/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b="1"/>
                                  <m:t>𝐱</m:t>
                                </m:r>
                              </m:e>
                              <m:sub>
                                <m:r>
                                  <a:rPr lang="en-US" i="1"/>
                                  <m:t>𝑖</m:t>
                                </m:r>
                              </m:sub>
                            </m:sSub>
                          </m:lim>
                        </m:limLow>
                      </m:e>
                    </m:func>
                    <m:r>
                      <a:rPr lang="en-US" i="1"/>
                      <m:t>𝑓</m:t>
                    </m:r>
                    <m:d>
                      <m:dPr>
                        <m:sepChr m:val=","/>
                        <m:ctrlPr>
                          <a:rPr lang="en-US" i="1"/>
                        </m:ctrlPr>
                      </m:dPr>
                      <m:e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b="1"/>
                              <m:t>𝐱</m:t>
                            </m:r>
                          </m:e>
                          <m:sub>
                            <m:r>
                              <a:rPr lang="en-US"/>
                              <m:t>1</m:t>
                            </m:r>
                          </m:sub>
                          <m:sup>
                            <m:r>
                              <a:rPr lang="en-US" i="1"/>
                              <m:t>𝜈</m:t>
                            </m:r>
                            <m:r>
                              <a:rPr lang="en-US"/>
                              <m:t>+1</m:t>
                            </m:r>
                          </m:sup>
                        </m:sSubSup>
                      </m:e>
                      <m:e>
                        <m:r>
                          <a:rPr lang="en-US"/>
                          <m:t>…</m:t>
                        </m:r>
                      </m:e>
                      <m:e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b="1"/>
                              <m:t>𝐱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  <m:r>
                              <a:rPr lang="en-US"/>
                              <m:t>−1</m:t>
                            </m:r>
                          </m:sub>
                          <m:sup>
                            <m:r>
                              <a:rPr lang="en-US" i="1"/>
                              <m:t>𝜈</m:t>
                            </m:r>
                            <m:r>
                              <a:rPr lang="en-US"/>
                              <m:t>+1</m:t>
                            </m:r>
                          </m:sup>
                        </m:sSubSup>
                      </m:e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𝐱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</m:sSub>
                      </m:e>
                      <m:e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b="1"/>
                              <m:t>𝐱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  <m:r>
                              <a:rPr lang="en-US"/>
                              <m:t>+1</m:t>
                            </m:r>
                          </m:sub>
                          <m:sup>
                            <m:r>
                              <a:rPr lang="en-US" i="1"/>
                              <m:t>𝜈</m:t>
                            </m:r>
                          </m:sup>
                        </m:sSubSup>
                      </m:e>
                      <m:e>
                        <m:r>
                          <a:rPr lang="en-US"/>
                          <m:t>…</m:t>
                        </m:r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0440CC-1CD1-9A59-77E5-F3E969D48F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DE74B-1D2B-A748-406B-13967F74B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9155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F14E9-C622-9CD2-C32D-93ACD1BED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EBC41D-D1FF-4E8B-B4AF-D9A651A7F1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Time-Slot Allocation Subproblem</a:t>
                </a:r>
              </a:p>
              <a:p>
                <a:pPr lvl="1"/>
                <a:r>
                  <a:rPr lang="en-US" dirty="0"/>
                  <a:t>With fixed transmit power </a:t>
                </a:r>
                <a14:m>
                  <m:oMath xmlns:m="http://schemas.openxmlformats.org/officeDocument/2006/math">
                    <m:r>
                      <a:rPr lang="en-US" b="1"/>
                      <m:t>𝐏</m:t>
                    </m:r>
                  </m:oMath>
                </a14:m>
                <a:r>
                  <a:rPr lang="en-US" dirty="0"/>
                  <a:t>and trajectory </a:t>
                </a:r>
                <a14:m>
                  <m:oMath xmlns:m="http://schemas.openxmlformats.org/officeDocument/2006/math">
                    <m:r>
                      <a:rPr lang="en-US" b="1"/>
                      <m:t>𝐐</m:t>
                    </m:r>
                  </m:oMath>
                </a14:m>
                <a:r>
                  <a:rPr lang="en-US" dirty="0"/>
                  <a:t>, the achievable rate coefficient is fixed: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𝑟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𝑃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h</m:t>
                                </m:r>
                              </m:e>
                              <m:sub>
                                <m:r>
                                  <a:rPr lang="en-US" i="1"/>
                                  <m:t>𝑢𝑘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scheduling problem becomes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𝜶</m:t>
                        </m:r>
                      </m:lim>
                    </m:limLow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b="0" dirty="0"/>
                  <a:t>                          (22)</a:t>
                </a:r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r>
                          <a:rPr lang="en-US" i="1"/>
                          <m:t>𝑁</m:t>
                        </m:r>
                      </m:den>
                    </m:f>
                    <m:nary>
                      <m:naryPr>
                        <m:chr m:val="∑"/>
                        <m:grow m:val="on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𝑛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𝛼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𝑟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</m:t>
                    </m:r>
                    <m:r>
                      <a:rPr lang="en-US" i="1"/>
                      <m:t>𝜂</m:t>
                    </m:r>
                    <m:r>
                      <a:rPr lang="en-US"/>
                      <m:t>, ∀</m:t>
                    </m:r>
                    <m:r>
                      <a:rPr lang="en-US" i="1"/>
                      <m:t>𝑘</m:t>
                    </m:r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𝛼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∈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{0,1}</m:t>
                    </m:r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/>
                        </m:ctrlPr>
                      </m:naryPr>
                      <m:sub>
                        <m:r>
                          <a:rPr lang="en-US" i="1"/>
                          <m:t>𝑘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𝛼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≤1, ∀</m:t>
                    </m:r>
                    <m:r>
                      <a:rPr lang="en-US" i="1"/>
                      <m:t>𝑛</m:t>
                    </m:r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binary constraint makes problem (22) combinatorial.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EBC41D-D1FF-4E8B-B4AF-D9A651A7F1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0FD79-CE3B-E97A-FD40-BE6A8FDA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6484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F96FA-8881-24B1-32CE-0613CA172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7BAE1-DB48-A594-2257-CBEE15FEA7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Continuous Relaxation of Scheduling</a:t>
                </a:r>
              </a:p>
              <a:p>
                <a:pPr lvl="1"/>
                <a:r>
                  <a:rPr lang="en-US" dirty="0"/>
                  <a:t>The binary scheduling variable is relaxed as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≤1,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                                   (23)</a:t>
                </a:r>
              </a:p>
              <a:p>
                <a:pPr lvl="1"/>
                <a:r>
                  <a:rPr lang="en-US" dirty="0"/>
                  <a:t>The relaxed problem becomes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</m:acc>
                      </m:lim>
                    </m:limLow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b="0" dirty="0"/>
                  <a:t>                             (24)</a:t>
                </a:r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r>
                          <a:rPr lang="en-US" i="1"/>
                          <m:t>𝑁</m:t>
                        </m:r>
                      </m:den>
                    </m:f>
                    <m:nary>
                      <m:naryPr>
                        <m:chr m:val="∑"/>
                        <m:grow m:val="on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𝑛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i="1"/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𝑟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</m:t>
                    </m:r>
                    <m:r>
                      <a:rPr lang="en-US" i="1"/>
                      <m:t>𝜂</m:t>
                    </m:r>
                    <m:r>
                      <a:rPr lang="en-US"/>
                      <m:t>, ∀</m:t>
                    </m:r>
                    <m:r>
                      <a:rPr lang="en-US" i="1"/>
                      <m:t>𝑘</m:t>
                    </m:r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/>
                        </m:ctrlPr>
                      </m:naryPr>
                      <m:sub>
                        <m:r>
                          <a:rPr lang="en-US" i="1"/>
                          <m:t>𝑘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i="1"/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≤1, ∀</m:t>
                    </m:r>
                    <m:r>
                      <a:rPr lang="en-US" i="1"/>
                      <m:t>𝑛</m:t>
                    </m:r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0≤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/>
                            </m:ctrlPr>
                          </m:accPr>
                          <m:e>
                            <m:r>
                              <a:rPr lang="en-US" i="1"/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≤1.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𝑟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is constant for fixed </a:t>
                </a:r>
                <a14:m>
                  <m:oMath xmlns:m="http://schemas.openxmlformats.org/officeDocument/2006/math">
                    <m:r>
                      <a:rPr lang="en-US" b="1"/>
                      <m:t>𝐏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/>
                      <m:t>𝐐</m:t>
                    </m:r>
                  </m:oMath>
                </a14:m>
                <a:r>
                  <a:rPr lang="en-US" dirty="0"/>
                  <a:t>, all constraints are affine.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Problem</m:t>
                    </m:r>
                    <m:r>
                      <m:rPr>
                        <m:nor/>
                      </m:rPr>
                      <a:rPr lang="en-US"/>
                      <m:t> (24)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linear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program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It can be solved using an interior-point method.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7BAE1-DB48-A594-2257-CBEE15FEA7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9C9EF-DC29-818C-896C-03D6F26F3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8301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82E38-E6E4-8F7F-629B-1E3F7746A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E7A1C1-5323-4A83-C123-1C557D60BA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Worst-Case Power Constraint</a:t>
                </a:r>
              </a:p>
              <a:p>
                <a:pPr lvl="1"/>
                <a:r>
                  <a:rPr lang="en-US" dirty="0"/>
                  <a:t>For a fixed UAV trajectory, the robust covertness constraint 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den>
                    </m:f>
                  </m:oMath>
                </a14:m>
                <a:r>
                  <a:rPr lang="en-US" b="0" dirty="0"/>
                  <a:t>                           (25)</a:t>
                </a:r>
              </a:p>
              <a:p>
                <a:pPr lvl="1"/>
                <a:r>
                  <a:rPr lang="en-US" dirty="0"/>
                  <a:t>Here,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≤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lim>
                    </m:limLow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∥"/>
                            <m:endChr m:val="∥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𝐪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                 (26)</a:t>
                </a:r>
              </a:p>
              <a:p>
                <a:pPr lvl="2"/>
                <a:r>
                  <a:rPr lang="en-US" dirty="0"/>
                  <a:t>is the minimum horizontal squared distance between the UAV and any possible warden location.</a:t>
                </a:r>
              </a:p>
              <a:p>
                <a:pPr lvl="1"/>
                <a:r>
                  <a:rPr lang="en-US" dirty="0"/>
                  <a:t>Define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𝑑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d>
                      <m:dPr>
                        <m:begChr m:val="∥"/>
                        <m:endChr m:val="∥"/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acc>
                          <m:accPr>
                            <m:chr m:val="̂"/>
                            <m:ctrlPr>
                              <a:rPr lang="en-US" i="1"/>
                            </m:ctrlPr>
                          </m:accPr>
                          <m:e>
                            <m:r>
                              <a:rPr lang="en-US" b="1"/>
                              <m:t>𝐰</m:t>
                            </m:r>
                          </m:e>
                        </m:acc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r>
                                <a:rPr lang="en-US"/>
                                <m:t>0,</m:t>
                              </m:r>
                            </m:e>
                            <m:e>
                              <m:r>
                                <a:rPr lang="en-US" i="1"/>
                                <m:t>𝑑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a:rPr lang="en-US"/>
                                <m:t>≤</m:t>
                              </m:r>
                              <m:r>
                                <a:rPr lang="en-US" i="1"/>
                                <m:t>𝑟</m:t>
                              </m:r>
                              <m:r>
                                <a:rPr lang="en-US"/>
                                <m:t>,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i="1"/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𝑑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i="1"/>
                                          </m:ctrlPr>
                                        </m:dPr>
                                        <m:e>
                                          <m:r>
                                            <a:rPr lang="en-US" i="1"/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en-US"/>
                                        <m:t>−</m:t>
                                      </m:r>
                                      <m:r>
                                        <a:rPr lang="en-US" i="1"/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/>
                                    <m:t>2</m:t>
                                  </m:r>
                                </m:sup>
                              </m:sSup>
                              <m:r>
                                <a:rPr lang="en-US"/>
                                <m:t>,</m:t>
                              </m:r>
                            </m:e>
                            <m:e>
                              <m:r>
                                <a:rPr lang="en-US" i="1"/>
                                <m:t>𝑑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a:rPr lang="en-US"/>
                                <m:t>&gt;</m:t>
                              </m:r>
                              <m:r>
                                <a:rPr lang="en-US" i="1"/>
                                <m:t>𝑟</m:t>
                              </m:r>
                              <m:r>
                                <a:rPr lang="en-US"/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E7A1C1-5323-4A83-C123-1C557D60BA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9CBB4-7B8A-632C-A2CB-AD82DD073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0503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37EDF-7305-0853-C8B3-01628CE4C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4498C9-0B59-2A47-EFFA-F986EB9EC9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Geometric Interpretation of </a:t>
                </a:r>
                <a14:m>
                  <m:oMath xmlns:m="http://schemas.openxmlformats.org/officeDocument/2006/math">
                    <m:r>
                      <a:rPr lang="en-US" i="1"/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The warden lies within the uncertainty region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𝒲</m:t>
                    </m:r>
                    <m:r>
                      <a:rPr lang="en-US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/>
                            </m:ctrlPr>
                          </m:accPr>
                          <m:e>
                            <m:r>
                              <a:rPr lang="en-US" b="1"/>
                              <m:t>𝐰</m:t>
                            </m:r>
                          </m:e>
                        </m:acc>
                        <m:r>
                          <a:rPr lang="en-US"/>
                          <m:t>+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𝐞</m:t>
                            </m:r>
                          </m:e>
                          <m:sub>
                            <m:r>
                              <a:rPr lang="en-US" i="1"/>
                              <m:t>𝑤</m:t>
                            </m:r>
                          </m:sub>
                        </m:sSub>
                        <m:r>
                          <a:rPr lang="en-US"/>
                          <m:t>:∥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𝐞</m:t>
                            </m:r>
                          </m:e>
                          <m:sub>
                            <m:r>
                              <a:rPr lang="en-US" i="1"/>
                              <m:t>𝑤</m:t>
                            </m:r>
                          </m:sub>
                        </m:sSub>
                        <m:r>
                          <a:rPr lang="en-US"/>
                          <m:t>∥≤</m:t>
                        </m:r>
                        <m:r>
                          <a:rPr lang="en-US" i="1"/>
                          <m:t>𝑟</m:t>
                        </m:r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/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/>
                          <m:t>min</m:t>
                        </m:r>
                      </m:e>
                      <m:lim>
                        <m:r>
                          <a:rPr lang="en-US" b="1"/>
                          <m:t>𝐰</m:t>
                        </m:r>
                        <m:r>
                          <a:rPr lang="en-US"/>
                          <m:t>∈</m:t>
                        </m:r>
                        <m:r>
                          <a:rPr lang="en-US"/>
                          <m:t>𝒲</m:t>
                        </m:r>
                      </m:lim>
                    </m:limLow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r>
                      <a:rPr lang="en-US" b="1"/>
                      <m:t>𝐰</m:t>
                    </m:r>
                    <m:r>
                      <a:rPr lang="en-US"/>
                      <m:t>∥=</m:t>
                    </m:r>
                    <m:r>
                      <m:rPr>
                        <m:sty m:val="p"/>
                      </m:rPr>
                      <a:rPr lang="en-US"/>
                      <m:t>max</m:t>
                    </m:r>
                    <m:r>
                      <a:rPr lang="en-US"/>
                      <m:t>⁡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𝑑</m:t>
                        </m:r>
                      </m: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r>
                          <a:rPr lang="en-US" i="1"/>
                          <m:t>𝑟</m:t>
                        </m:r>
                        <m:r>
                          <a:rPr lang="en-US"/>
                          <m:t>0</m:t>
                        </m:r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Squaring both sides gives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/>
                              <m:t>max</m:t>
                            </m:r>
                            <m:r>
                              <a:rPr lang="en-US"/>
                              <m:t>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d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Hence,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r>
                                <a:rPr lang="en-US"/>
                                <m:t>0,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b="1"/>
                                    <m:t>𝐪</m:t>
                                  </m:r>
                                </m:e>
                                <m:sub>
                                  <m:r>
                                    <a:rPr lang="en-US" i="1"/>
                                    <m:t>𝑢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lies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inside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the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uncertainty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region</m:t>
                              </m:r>
                              <m:r>
                                <a:rPr lang="en-US"/>
                                <m:t>,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i="1"/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𝑑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i="1"/>
                                          </m:ctrlPr>
                                        </m:dPr>
                                        <m:e>
                                          <m:r>
                                            <a:rPr lang="en-US" i="1"/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en-US"/>
                                        <m:t>−</m:t>
                                      </m:r>
                                      <m:r>
                                        <a:rPr lang="en-US" i="1"/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/>
                                    <m:t>2</m:t>
                                  </m:r>
                                </m:sup>
                              </m:sSup>
                              <m:r>
                                <a:rPr lang="en-US"/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b="1"/>
                                    <m:t>𝐪</m:t>
                                  </m:r>
                                </m:e>
                                <m:sub>
                                  <m:r>
                                    <a:rPr lang="en-US" i="1"/>
                                    <m:t>𝑢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lies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outside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the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region</m:t>
                              </m:r>
                              <m:r>
                                <a:rPr lang="en-US"/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 smaller </a:t>
                </a:r>
                <a14:m>
                  <m:oMath xmlns:m="http://schemas.openxmlformats.org/officeDocument/2006/math">
                    <m:r>
                      <a:rPr lang="en-US" i="1"/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results in a stricter allowable transmit-power limit.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4498C9-0B59-2A47-EFFA-F986EB9EC9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503A0-4DE3-E4F6-49EB-99EF37771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6260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64940-0C89-DEF8-54E5-407CF9DFB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5FA879-67E0-E4DB-6384-CB896E3E63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Power Allocation Subproblem</a:t>
                </a:r>
              </a:p>
              <a:p>
                <a:pPr lvl="1"/>
                <a:r>
                  <a:rPr lang="en-US" dirty="0"/>
                  <a:t>With fixed scheduling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/>
                        </m:ctrlPr>
                      </m:accPr>
                      <m:e>
                        <m:r>
                          <a:rPr lang="en-US" b="1" i="1"/>
                          <m:t>𝜶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trajectory </a:t>
                </a:r>
                <a14:m>
                  <m:oMath xmlns:m="http://schemas.openxmlformats.org/officeDocument/2006/math">
                    <m:r>
                      <a:rPr lang="en-US" b="1"/>
                      <m:t>𝐐</m:t>
                    </m:r>
                  </m:oMath>
                </a14:m>
                <a:r>
                  <a:rPr lang="en-US" dirty="0"/>
                  <a:t>, optimize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𝐏</m:t>
                        </m:r>
                      </m:lim>
                    </m:limLow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b="0" dirty="0"/>
                  <a:t>                                (27)</a:t>
                </a:r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r>
                          <a:rPr lang="en-US" i="1"/>
                          <m:t>𝑁</m:t>
                        </m:r>
                      </m:den>
                    </m:f>
                    <m:nary>
                      <m:naryPr>
                        <m:chr m:val="∑"/>
                        <m:grow m:val="on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𝑛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i="1"/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𝑃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h</m:t>
                                </m:r>
                              </m:e>
                              <m:sub>
                                <m:r>
                                  <a:rPr lang="en-US" i="1"/>
                                  <m:t>𝑢𝑘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/>
                      <m:t>≥</m:t>
                    </m:r>
                    <m:r>
                      <a:rPr lang="en-US" i="1"/>
                      <m:t>𝜂</m:t>
                    </m:r>
                    <m:r>
                      <a:rPr lang="en-US"/>
                      <m:t>, ∀</m:t>
                    </m:r>
                    <m:r>
                      <a:rPr lang="en-US" i="1"/>
                      <m:t>𝑘</m:t>
                    </m:r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0≤</m:t>
                    </m:r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max</m:t>
                        </m:r>
                      </m:sub>
                    </m:sSub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/>
                                </m:ctrlPr>
                              </m:sSub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b>
                                <m:r>
                                  <a:rPr lang="en-US" i="1"/>
                                  <m:t>𝑚</m:t>
                                </m:r>
                              </m:sub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bSup>
                            <m:r>
                              <a:rPr lang="en-US"/>
                              <m:t>−</m:t>
                            </m:r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𝐷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+</m:t>
                            </m:r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𝐻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i="1"/>
                          <m:t>𝛽</m:t>
                        </m:r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Because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r>
                          <a:rPr lang="en-US" i="1"/>
                          <m:t>𝑎𝑃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is concave in </a:t>
                </a:r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, its superlevel set is convex.</a:t>
                </a:r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Problem</m:t>
                    </m:r>
                    <m:r>
                      <m:rPr>
                        <m:nor/>
                      </m:rPr>
                      <a:rPr lang="en-US"/>
                      <m:t> (27)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convex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optimization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problem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5FA879-67E0-E4DB-6384-CB896E3E63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64CB7-9EE7-49CB-C3CB-9E69761D3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7360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77CAC-9655-04C9-2AC1-B995B5F49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C52F5B-CF57-6456-0620-77A39E7380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Trajectory Optimization Subproblem</a:t>
                </a:r>
              </a:p>
              <a:p>
                <a:pPr lvl="1"/>
                <a:r>
                  <a:rPr lang="en-US" dirty="0"/>
                  <a:t>With fixed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/>
                        </m:ctrlPr>
                      </m:accPr>
                      <m:e>
                        <m:r>
                          <a:rPr lang="en-US" b="1" i="1"/>
                          <m:t>𝜶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/>
                      <m:t>𝐏</m:t>
                    </m:r>
                  </m:oMath>
                </a14:m>
                <a:r>
                  <a:rPr lang="en-US" dirty="0"/>
                  <a:t>, optimize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𝝁</m:t>
                        </m:r>
                      </m:lim>
                    </m:limLow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b="0" dirty="0"/>
                  <a:t>                                       (28a)</a:t>
                </a:r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r>
                          <a:rPr lang="en-US" i="1"/>
                          <m:t>𝑁</m:t>
                        </m:r>
                      </m:den>
                    </m:f>
                    <m:nary>
                      <m:naryPr>
                        <m:chr m:val="∑"/>
                        <m:grow m:val="on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𝑛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𝑅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</m:t>
                    </m:r>
                    <m:r>
                      <a:rPr lang="en-US" i="1"/>
                      <m:t>𝜂</m:t>
                    </m:r>
                    <m:r>
                      <a:rPr lang="en-US"/>
                      <m:t>, ∀</m:t>
                    </m:r>
                    <m:r>
                      <a:rPr lang="en-US" i="1"/>
                      <m:t>𝑘</m:t>
                    </m:r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𝚽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⪰0,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 dirty="0"/>
                  <a:t>                       </a:t>
                </a:r>
                <a:r>
                  <a:rPr lang="en-US" dirty="0"/>
                  <a:t>(28b)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≥0,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0" dirty="0"/>
                  <a:t>                        (28c)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  <m:r>
                          <a:rPr lang="en-US"/>
                          <m:t>+1</m:t>
                        </m:r>
                      </m:e>
                    </m:d>
                    <m:r>
                      <a:rPr lang="en-US"/>
                      <m:t>−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≤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/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i="1"/>
                                      <m:t>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/>
                                      <m:t>max</m:t>
                                    </m:r>
                                  </m:sub>
                                </m:sSub>
                                <m:r>
                                  <a:rPr lang="en-US" i="1"/>
                                  <m:t>𝑇</m:t>
                                </m:r>
                              </m:num>
                              <m:den>
                                <m:r>
                                  <a:rPr lang="en-US" i="1"/>
                                  <m:t>𝑁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,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/>
                          <m:t>1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𝐼</m:t>
                        </m:r>
                      </m:sub>
                    </m:sSub>
                    <m:r>
                      <a:rPr lang="en-US"/>
                      <m:t>, 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𝑁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 rate constraint and the LMI term containing </a:t>
                </a:r>
                <a14:m>
                  <m:oMath xmlns:m="http://schemas.openxmlformats.org/officeDocument/2006/math">
                    <m:r>
                      <a:rPr lang="en-US" i="1"/>
                      <m:t>𝑧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remain non-convex.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C52F5B-CF57-6456-0620-77A39E7380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6A9D5-3C26-0E2C-9407-2701E2E2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4923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1D047-9F38-60B3-E338-5CA75F314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32315C-2D8F-E324-BA7A-6E3FD44F1B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Rate as a Function of Squared Distance</a:t>
                </a:r>
              </a:p>
              <a:p>
                <a:pPr lvl="1"/>
                <a:r>
                  <a:rPr lang="en-US" dirty="0"/>
                  <a:t>Define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𝑑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𝐬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+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𝐻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and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𝑅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/>
                            </m:ctrlPr>
                          </m:accPr>
                          <m:e>
                            <m:r>
                              <a:rPr lang="en-US" i="1"/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𝑐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𝑑</m:t>
                                </m:r>
                              </m:e>
                              <m:sub>
                                <m:r>
                                  <a:rPr lang="en-US" i="1"/>
                                  <m:t>𝑘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Define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𝑑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𝑐</m:t>
                            </m:r>
                          </m:num>
                          <m:den>
                            <m:r>
                              <a:rPr lang="en-US" i="1"/>
                              <m:t>𝑑</m:t>
                            </m:r>
                          </m:den>
                        </m:f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Its first derivative is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𝑓</m:t>
                        </m:r>
                      </m:e>
                      <m:sup>
                        <m:r>
                          <a:rPr lang="en-US"/>
                          <m:t>′</m:t>
                        </m:r>
                      </m:sup>
                    </m:sSup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𝑑</m:t>
                        </m:r>
                      </m:e>
                    </m:d>
                    <m:r>
                      <a:rPr lang="en-US"/>
                      <m:t>=−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𝑐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/>
                              <m:t>log</m:t>
                            </m:r>
                          </m:e>
                          <m:sub>
                            <m:r>
                              <a:rPr lang="en-US"/>
                              <m:t>2</m:t>
                            </m:r>
                          </m:sub>
                        </m:sSub>
                        <m:r>
                          <a:rPr lang="en-US" i="1"/>
                          <m:t>𝑒</m:t>
                        </m:r>
                      </m:num>
                      <m:den>
                        <m:r>
                          <a:rPr lang="en-US" i="1"/>
                          <m:t>𝑑</m:t>
                        </m:r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𝑑</m:t>
                            </m:r>
                            <m:r>
                              <a:rPr lang="en-US"/>
                              <m:t>+</m:t>
                            </m:r>
                            <m:r>
                              <a:rPr lang="en-US" i="1"/>
                              <m:t>𝑐</m:t>
                            </m:r>
                          </m:e>
                        </m:d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Its second derivative is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𝑓</m:t>
                        </m:r>
                      </m:e>
                      <m:sup>
                        <m:r>
                          <a:rPr lang="en-US"/>
                          <m:t>′′</m:t>
                        </m:r>
                      </m:sup>
                    </m:sSup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𝑑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𝑐</m:t>
                        </m:r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/>
                              <m:t>2</m:t>
                            </m:r>
                            <m:r>
                              <a:rPr lang="en-US" i="1"/>
                              <m:t>𝑑</m:t>
                            </m:r>
                            <m:r>
                              <a:rPr lang="en-US"/>
                              <m:t>+</m:t>
                            </m:r>
                            <m:r>
                              <a:rPr lang="en-US" i="1"/>
                              <m:t>𝑐</m:t>
                            </m:r>
                          </m:e>
                        </m:d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/>
                              <m:t>log</m:t>
                            </m:r>
                          </m:e>
                          <m:sub>
                            <m:r>
                              <a:rPr lang="en-US"/>
                              <m:t>2</m:t>
                            </m:r>
                          </m:sub>
                        </m:sSub>
                        <m:r>
                          <a:rPr lang="en-US" i="1"/>
                          <m:t>𝑒</m:t>
                        </m:r>
                      </m:num>
                      <m:den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𝑑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𝑑</m:t>
                                </m:r>
                                <m:r>
                                  <a:rPr lang="en-US"/>
                                  <m:t>+</m:t>
                                </m:r>
                                <m:r>
                                  <a:rPr lang="en-US" i="1"/>
                                  <m:t>𝑐</m:t>
                                </m:r>
                              </m:e>
                            </m:d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&gt;0.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convex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with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respect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32315C-2D8F-E324-BA7A-6E3FD44F1B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54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CE18E-383F-7BC1-9FD7-77B128F13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457899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53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96633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AECCF-CBD5-63AB-13B9-B325C7FAB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220677-4543-A2B5-4478-35DC79226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First-Order Lower Bound of User Rate</a:t>
                </a:r>
              </a:p>
              <a:p>
                <a:pPr lvl="1"/>
                <a:r>
                  <a:rPr lang="en-US" dirty="0"/>
                  <a:t>For a convex function, the first-order Taylor approximation provides a global lower bound: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𝑑</m:t>
                        </m:r>
                      </m:e>
                    </m:d>
                    <m:r>
                      <a:rPr lang="en-US"/>
                      <m:t>≥</m:t>
                    </m:r>
                    <m:r>
                      <a:rPr lang="en-US" i="1"/>
                      <m:t>𝑓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𝑑</m:t>
                            </m:r>
                          </m:e>
                          <m:sup>
                            <m:r>
                              <a:rPr lang="en-US" i="1"/>
                              <m:t>𝜈</m:t>
                            </m:r>
                          </m:sup>
                        </m:sSup>
                      </m:e>
                    </m:d>
                    <m:r>
                      <a:rPr lang="en-US"/>
                      <m:t>+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𝑓</m:t>
                        </m:r>
                      </m:e>
                      <m:sup>
                        <m:r>
                          <a:rPr lang="en-US"/>
                          <m:t>′</m:t>
                        </m:r>
                      </m:sup>
                    </m:sSup>
                    <m:d>
                      <m:dPr>
                        <m:ctrlPr>
                          <a:rPr lang="en-US" i="1"/>
                        </m:ctrlPr>
                      </m:dPr>
                      <m:e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𝑑</m:t>
                            </m:r>
                          </m:e>
                          <m:sup>
                            <m:r>
                              <a:rPr lang="en-US" i="1"/>
                              <m:t>𝜈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𝑑</m:t>
                        </m:r>
                        <m:r>
                          <a:rPr lang="en-US"/>
                          <m:t>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𝑑</m:t>
                            </m:r>
                          </m:e>
                          <m:sup>
                            <m:r>
                              <a:rPr lang="en-US" i="1"/>
                              <m:t>𝜈</m:t>
                            </m:r>
                          </m:sup>
                        </m:sSup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Let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𝑑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𝜈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=∥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  <m:sup>
                        <m:r>
                          <a:rPr lang="en-US" i="1"/>
                          <m:t>𝜈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𝐬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+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𝐻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Define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𝐴</m:t>
                        </m:r>
                      </m:e>
                      <m:sub>
                        <m:r>
                          <a:rPr lang="en-US"/>
                          <m:t>1</m:t>
                        </m:r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𝜈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𝑃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 i="1"/>
                              <m:t>𝛽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n-US" i="1"/>
                                </m:ctrlPr>
                              </m:sSubSupPr>
                              <m:e>
                                <m:r>
                                  <a:rPr lang="en-US" i="1"/>
                                  <m:t>𝑑</m:t>
                                </m:r>
                              </m:e>
                              <m:sub>
                                <m:r>
                                  <a:rPr lang="en-US" i="1"/>
                                  <m:t>𝑘</m:t>
                                </m:r>
                              </m:sub>
                              <m:sup>
                                <m:r>
                                  <a:rPr lang="en-US" i="1"/>
                                  <m:t>𝜈</m:t>
                                </m:r>
                              </m:sup>
                            </m:sSub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𝐴</m:t>
                        </m:r>
                      </m:e>
                      <m:sub>
                        <m:r>
                          <a:rPr lang="en-US"/>
                          <m:t>2</m:t>
                        </m:r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𝜈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/>
                              <m:t>log</m:t>
                            </m:r>
                          </m:e>
                          <m:sub>
                            <m:r>
                              <a:rPr lang="en-US"/>
                              <m:t>2</m:t>
                            </m:r>
                          </m:sub>
                        </m:sSub>
                        <m:r>
                          <a:rPr lang="en-US" i="1"/>
                          <m:t>𝑒</m:t>
                        </m:r>
                      </m:num>
                      <m:den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𝑑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  <m:sup>
                            <m:r>
                              <a:rPr lang="en-US" i="1"/>
                              <m:t>𝜈</m:t>
                            </m:r>
                          </m:sup>
                        </m:sSub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/>
                                </m:ctrlPr>
                              </m:sSubSupPr>
                              <m:e>
                                <m:r>
                                  <a:rPr lang="en-US" i="1"/>
                                  <m:t>𝑑</m:t>
                                </m:r>
                              </m:e>
                              <m:sub>
                                <m:r>
                                  <a:rPr lang="en-US" i="1"/>
                                  <m:t>𝑘</m:t>
                                </m:r>
                              </m:sub>
                              <m:sup>
                                <m:r>
                                  <a:rPr lang="en-US" i="1"/>
                                  <m:t>𝜈</m:t>
                                </m:r>
                              </m:sup>
                            </m:sSub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+</m:t>
                            </m:r>
                            <m:f>
                              <m:fPr>
                                <m:ctrlPr>
                                  <a:rPr lang="en-US" i="1"/>
                                </m:ctrlPr>
                              </m:fPr>
                              <m:num>
                                <m:r>
                                  <a:rPr lang="en-US" i="1"/>
                                  <m:t>𝑃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𝑛</m:t>
                                    </m:r>
                                  </m:e>
                                </m:d>
                                <m:r>
                                  <a:rPr lang="en-US" i="1"/>
                                  <m:t>𝛽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i="1"/>
                                    </m:ctrlPr>
                                  </m:sSupPr>
                                  <m:e>
                                    <m:r>
                                      <a:rPr lang="en-US" i="1"/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/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𝑅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/>
                            </m:ctrlPr>
                          </m:accPr>
                          <m:e>
                            <m:r>
                              <a:rPr lang="en-US" i="1"/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𝐴</m:t>
                            </m:r>
                          </m:e>
                          <m:sub>
                            <m:r>
                              <a:rPr lang="en-US"/>
                              <m:t>1</m:t>
                            </m:r>
                            <m:r>
                              <a:rPr lang="en-US" i="1"/>
                              <m:t>𝑘</m:t>
                            </m:r>
                          </m:sub>
                          <m:sup>
                            <m:r>
                              <a:rPr lang="en-US" i="1"/>
                              <m:t>𝜈</m:t>
                            </m:r>
                          </m:sup>
                        </m:sSub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𝐴</m:t>
                            </m:r>
                          </m:e>
                          <m:sub>
                            <m:r>
                              <a:rPr lang="en-US"/>
                              <m:t>2</m:t>
                            </m:r>
                            <m:r>
                              <a:rPr lang="en-US" i="1"/>
                              <m:t>𝑘</m:t>
                            </m:r>
                          </m:sub>
                          <m:sup>
                            <m:r>
                              <a:rPr lang="en-US" i="1"/>
                              <m:t>𝜈</m:t>
                            </m:r>
                          </m:sup>
                        </m:sSub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/>
                              <m:t>∥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b="1"/>
                                  <m:t>𝐪</m:t>
                                </m:r>
                              </m:e>
                              <m:sub>
                                <m:r>
                                  <a:rPr lang="en-US" i="1"/>
                                  <m:t>𝑢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−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b="1"/>
                                  <m:t>𝐬</m:t>
                                </m:r>
                              </m:e>
                              <m:sub>
                                <m:r>
                                  <a:rPr lang="en-US" i="1"/>
                                  <m:t>𝑘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/>
                                  <m:t>∥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  <m:r>
                              <a:rPr lang="en-US"/>
                              <m:t>−∥</m:t>
                            </m:r>
                            <m:sSubSup>
                              <m:sSubSupPr>
                                <m:ctrlPr>
                                  <a:rPr lang="en-US" i="1"/>
                                </m:ctrlPr>
                              </m:sSubSupPr>
                              <m:e>
                                <m:r>
                                  <a:rPr lang="en-US" b="1"/>
                                  <m:t>𝐪</m:t>
                                </m:r>
                              </m:e>
                              <m:sub>
                                <m:r>
                                  <a:rPr lang="en-US" i="1"/>
                                  <m:t>𝑢</m:t>
                                </m:r>
                              </m:sub>
                              <m:sup>
                                <m:r>
                                  <a:rPr lang="en-US" i="1"/>
                                  <m:t>𝜈</m:t>
                                </m:r>
                              </m:sup>
                            </m:sSub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−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b="1"/>
                                  <m:t>𝐬</m:t>
                                </m:r>
                              </m:e>
                              <m:sub>
                                <m:r>
                                  <a:rPr lang="en-US" i="1"/>
                                  <m:t>𝑘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/>
                                  <m:t>∥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Define this lower bound as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LB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b="0" dirty="0"/>
                  <a:t>           (29)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220677-4543-A2B5-4478-35DC79226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AA5FB-B69B-6EB3-6F27-64A6CAF11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6223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6B7DD-4B72-C0D7-FEC7-3DED3DB8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BD31B5-0F40-5D9A-4F0D-6915A0F5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Lower Bound of the Robust LMI Term</a:t>
                </a:r>
              </a:p>
              <a:p>
                <a:pPr lvl="1"/>
                <a:r>
                  <a:rPr lang="en-US" dirty="0"/>
                  <a:t>The nonlinear term 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𝑧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acc>
                      <m:accPr>
                        <m:chr m:val="̂"/>
                        <m:ctrlPr>
                          <a:rPr lang="en-US" i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−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𝜎</m:t>
                            </m:r>
                          </m:e>
                          <m:sub>
                            <m:r>
                              <a:rPr lang="en-US" i="1"/>
                              <m:t>𝑚</m:t>
                            </m:r>
                          </m:sub>
                          <m:sup>
                            <m:r>
                              <a:rPr lang="en-US"/>
                              <m:t>2</m:t>
                            </m:r>
                          </m:sup>
                        </m:sSubSup>
                        <m:r>
                          <a:rPr lang="en-US"/>
                          <m:t>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Since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acc>
                      <m:accPr>
                        <m:chr m:val="̂"/>
                        <m:ctrlPr>
                          <a:rPr lang="en-US" i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is convex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, its first-order lower bound 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/>
                        </m:ctrlPr>
                      </m:sSubSup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  <m:sup>
                        <m:r>
                          <a:rPr lang="en-US" i="1"/>
                          <m:t>𝜈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acc>
                      <m:accPr>
                        <m:chr m:val="̂"/>
                        <m:ctrlPr>
                          <a:rPr lang="en-US" i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≥∥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  <m:sup>
                        <m:r>
                          <a:rPr lang="en-US" i="1"/>
                          <m:t>𝜈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acc>
                      <m:accPr>
                        <m:chr m:val="̂"/>
                        <m:ctrlPr>
                          <a:rPr lang="en-US" i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+2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/>
                                </m:ctrlPr>
                              </m:sSubSupPr>
                              <m:e>
                                <m:r>
                                  <a:rPr lang="en-US" b="1"/>
                                  <m:t>𝐪</m:t>
                                </m:r>
                              </m:e>
                              <m:sub>
                                <m:r>
                                  <a:rPr lang="en-US" i="1"/>
                                  <m:t>𝑢</m:t>
                                </m:r>
                              </m:sub>
                              <m:sup>
                                <m:r>
                                  <a:rPr lang="en-US" i="1"/>
                                  <m:t>𝜈</m:t>
                                </m:r>
                              </m:sup>
                            </m:sSub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b="1"/>
                                  <m:t>𝐰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/>
                          <m:t>𝑇</m:t>
                        </m:r>
                      </m:sup>
                    </m:sSup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  <m:sup>
                            <m:r>
                              <a:rPr lang="en-US" i="1"/>
                              <m:t>𝜈</m:t>
                            </m:r>
                          </m:sup>
                        </m:sSub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LB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b="0" dirty="0"/>
                  <a:t>                                (30)</a:t>
                </a:r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/>
                          <m:t>LB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𝑏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b="1"/>
                          <m:t>𝐛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  <m:sup>
                        <m:r>
                          <a:rPr lang="en-US" i="1"/>
                          <m:t>𝑇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  <m:sup>
                            <m:r>
                              <a:rPr lang="en-US" i="1"/>
                              <m:t>𝜈</m:t>
                            </m:r>
                          </m:sup>
                        </m:sSub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,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𝑏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=∥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  <m:sup>
                        <m:r>
                          <a:rPr lang="en-US" i="1"/>
                          <m:t>𝜈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acc>
                      <m:accPr>
                        <m:chr m:val="̂"/>
                        <m:ctrlPr>
                          <a:rPr lang="en-US" i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−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𝜎</m:t>
                            </m:r>
                          </m:e>
                          <m:sub>
                            <m:r>
                              <a:rPr lang="en-US" i="1"/>
                              <m:t>𝑚</m:t>
                            </m:r>
                          </m:sub>
                          <m:sup>
                            <m:r>
                              <a:rPr lang="en-US"/>
                              <m:t>2</m:t>
                            </m:r>
                          </m:sup>
                        </m:sSubSup>
                        <m:r>
                          <a:rPr lang="en-US"/>
                          <m:t>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,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𝐛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=2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  <m:sup>
                            <m:r>
                              <a:rPr lang="en-US" i="1"/>
                              <m:t>𝜈</m:t>
                            </m:r>
                          </m:sup>
                        </m:sSub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acc>
                          <m:accPr>
                            <m:chr m:val="̂"/>
                            <m:ctrlPr>
                              <a:rPr lang="en-US" i="1"/>
                            </m:ctrlPr>
                          </m:accPr>
                          <m:e>
                            <m:r>
                              <a:rPr lang="en-US" b="1"/>
                              <m:t>𝐰</m:t>
                            </m:r>
                          </m:e>
                        </m:acc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BD31B5-0F40-5D9A-4F0D-6915A0F5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2FB4D-EAC4-BC11-FA96-1403742E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106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4342-62FC-AD73-D415-1466CE977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9212F6-BCD8-3B18-D8E9-417A7615B5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Convex Approximation of the Trajectory Problem</a:t>
                </a:r>
              </a:p>
              <a:p>
                <a:pPr lvl="1"/>
                <a:r>
                  <a:rPr lang="en-US" dirty="0"/>
                  <a:t>The original LMI is replaced by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𝚽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LB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⪰0</m:t>
                    </m:r>
                  </m:oMath>
                </a14:m>
                <a:r>
                  <a:rPr lang="en-US" b="1" dirty="0"/>
                  <a:t>                                 </a:t>
                </a:r>
                <a:r>
                  <a:rPr lang="en-US" dirty="0"/>
                  <a:t>(32)</a:t>
                </a:r>
              </a:p>
              <a:p>
                <a:pPr lvl="1"/>
                <a:r>
                  <a:rPr lang="en-US" dirty="0"/>
                  <a:t>The approximated trajectory problem becomes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𝝁</m:t>
                        </m:r>
                      </m:lim>
                    </m:limLow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b="0" dirty="0"/>
                  <a:t>                                     (31)</a:t>
                </a:r>
              </a:p>
              <a:p>
                <a:pPr lvl="2"/>
                <a:r>
                  <a:rPr lang="en-US" dirty="0"/>
                  <a:t>subject to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LB</m:t>
                            </m:r>
                          </m:sup>
                        </m:sSubSup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0" dirty="0"/>
                  <a:t>                 (31a)</a:t>
                </a:r>
              </a:p>
              <a:p>
                <a:pPr lvl="3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𝚽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⪰0,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1" dirty="0"/>
                  <a:t>                                  </a:t>
                </a:r>
                <a:r>
                  <a:rPr lang="en-US" dirty="0"/>
                  <a:t>(31b)</a:t>
                </a:r>
              </a:p>
              <a:p>
                <a:pPr lvl="1"/>
                <a:r>
                  <a:rPr lang="en-US" dirty="0"/>
                  <a:t>Together with the mobility and endpoint constraints.</a:t>
                </a:r>
              </a:p>
              <a:p>
                <a:pPr lvl="1"/>
                <a:r>
                  <a:rPr lang="en-US" dirty="0"/>
                  <a:t>Because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𝑧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/>
                          <m:t>LB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have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𝚽</m:t>
                    </m:r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⪰</m:t>
                    </m:r>
                    <m:acc>
                      <m:accPr>
                        <m:chr m:val="̂"/>
                        <m:ctrlPr>
                          <a:rPr lang="en-US" i="1"/>
                        </m:ctrlPr>
                      </m:accPr>
                      <m:e>
                        <m:r>
                          <a:rPr lang="en-US" b="1"/>
                          <m:t>𝚽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Thus, every feasible solution of problem (31) is also feasible for the original trajectory subproblem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9212F6-BCD8-3B18-D8E9-417A7615B5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5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D067F-53B4-A7FD-45D0-D6EEF1B96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1964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6ACD9-F8DF-991A-92C3-73B8704B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D0A6B1-423D-8F98-D4AA-2EAF659DD3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Nature of the Approximated Problem</a:t>
                </a:r>
              </a:p>
              <a:p>
                <a:pPr lvl="1"/>
                <a:r>
                  <a:rPr lang="en-US" dirty="0"/>
                  <a:t>In problem (31):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𝑅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/>
                          <m:t>LB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is concave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/>
                          <m:t>LB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is affine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/>
                        </m:ctrlPr>
                      </m:accPr>
                      <m:e>
                        <m:r>
                          <a:rPr lang="en-US" b="1"/>
                          <m:t>𝚽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⪰0</m:t>
                    </m:r>
                  </m:oMath>
                </a14:m>
                <a:r>
                  <a:rPr lang="en-US" dirty="0"/>
                  <a:t>is an LMI. </a:t>
                </a:r>
              </a:p>
              <a:p>
                <a:pPr lvl="2"/>
                <a:r>
                  <a:rPr lang="en-US" dirty="0"/>
                  <a:t>UAV mobility constraints are convex quadratic constraints. </a:t>
                </a:r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Problem</m:t>
                    </m:r>
                    <m:r>
                      <m:rPr>
                        <m:nor/>
                      </m:rPr>
                      <a:rPr lang="en-US"/>
                      <m:t> (31)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semidefinite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programming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problem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It can be efficiently solved using an interior-point solver such as CVX.</a:t>
                </a:r>
              </a:p>
              <a:p>
                <a:pPr lvl="1"/>
                <a:r>
                  <a:rPr lang="en-US" dirty="0"/>
                  <a:t>The SCA approximation is updated around the current trajectory: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1"/>
                        </m:ctrlPr>
                      </m:sSupPr>
                      <m:e>
                        <m:r>
                          <a:rPr lang="en-US" b="1"/>
                          <m:t>𝐐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⟶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b="1"/>
                          <m:t>𝐐</m:t>
                        </m:r>
                      </m:e>
                      <m:sup>
                        <m:r>
                          <a:rPr lang="en-US" i="1"/>
                          <m:t>𝜈</m:t>
                        </m:r>
                        <m:r>
                          <a:rPr lang="en-US"/>
                          <m:t>+1</m:t>
                        </m:r>
                      </m:sup>
                    </m:sSup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D0A6B1-423D-8F98-D4AA-2EAF659DD3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A2516-848C-9228-4B13-54B909F4F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1569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8043F-0D11-FCBE-A597-E6AFFE5F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D6C320-28E6-5763-AF5C-05190E63B5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/>
                      <m:t>𝜃</m:t>
                    </m:r>
                  </m:oMath>
                </a14:m>
                <a:r>
                  <a:rPr lang="en-US" b="1" dirty="0"/>
                  <a:t>-Assisted Power Constraint</a:t>
                </a:r>
              </a:p>
              <a:p>
                <a:pPr lvl="1"/>
                <a:r>
                  <a:rPr lang="en-US" dirty="0"/>
                  <a:t>At iteration </a:t>
                </a:r>
                <a14:m>
                  <m:oMath xmlns:m="http://schemas.openxmlformats.org/officeDocument/2006/math">
                    <m:r>
                      <a:rPr lang="en-US" i="1"/>
                      <m:t>𝜈</m:t>
                    </m:r>
                  </m:oMath>
                </a14:m>
                <a:r>
                  <a:rPr lang="en-US" dirty="0"/>
                  <a:t>, the power constraint is tightened as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𝜈</m:t>
                        </m:r>
                      </m:sup>
                    </m:sSup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0" dirty="0"/>
                  <a:t>                           (33)</a:t>
                </a:r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0&lt;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𝜃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≤1.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Initially,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𝜃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&lt;1,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Which leaves a safety margin in the covertness constraint.</a:t>
                </a:r>
              </a:p>
              <a:p>
                <a:pPr lvl="1"/>
                <a:r>
                  <a:rPr lang="en-US" dirty="0"/>
                  <a:t>The parameter is gradually increased: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𝜃</m:t>
                        </m:r>
                      </m:e>
                      <m:sup>
                        <m:r>
                          <a:rPr lang="en-US" i="1"/>
                          <m:t>𝜈</m:t>
                        </m:r>
                        <m:r>
                          <a:rPr lang="en-US"/>
                          <m:t>+1</m:t>
                        </m:r>
                      </m:sup>
                    </m:sSup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𝜃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+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step</m:t>
                        </m:r>
                      </m:sub>
                    </m:sSub>
                    <m:r>
                      <a:rPr lang="en-US"/>
                      <m:t>,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step</m:t>
                        </m:r>
                      </m:sub>
                    </m:sSub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1−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𝜃</m:t>
                            </m:r>
                          </m:e>
                          <m:sup>
                            <m:r>
                              <a:rPr lang="en-US"/>
                              <m:t>0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𝐼</m:t>
                            </m:r>
                          </m:e>
                          <m:sub>
                            <m:r>
                              <a:rPr lang="en-US" i="1"/>
                              <m:t>𝑚</m:t>
                            </m:r>
                          </m:sub>
                        </m:sSub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At the final iteration,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𝜃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=1.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D6C320-28E6-5763-AF5C-05190E63B5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3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53163-8FE7-E79E-087D-6A6FA4B50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8201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0B178-6B0D-2168-3E16-ECAE022A3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CA5275-1818-D0FC-1BCC-01C81EED21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Modified Linearization Under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𝜃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Under the </a:t>
                </a:r>
                <a14:m>
                  <m:oMath xmlns:m="http://schemas.openxmlformats.org/officeDocument/2006/math">
                    <m:r>
                      <a:rPr lang="en-US" i="1"/>
                      <m:t>𝜃</m:t>
                    </m:r>
                  </m:oMath>
                </a14:m>
                <a:r>
                  <a:rPr lang="en-US" dirty="0"/>
                  <a:t>-assisted method, the power constraint implies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/>
                                </m:ctrlPr>
                              </m:sSub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b>
                                <m:r>
                                  <a:rPr lang="en-US" i="1"/>
                                  <m:t>𝑚</m:t>
                                </m:r>
                              </m:sub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bSup>
                            <m:r>
                              <a:rPr lang="en-US"/>
                              <m:t>−</m:t>
                            </m:r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e>
                        </m:d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𝜃</m:t>
                            </m:r>
                          </m:e>
                          <m:sup>
                            <m:r>
                              <a:rPr lang="en-US" i="1"/>
                              <m:t>𝜈</m:t>
                            </m:r>
                          </m:sup>
                        </m:sSup>
                      </m:den>
                    </m:f>
                    <m:r>
                      <a:rPr lang="en-US"/>
                      <m:t>≤</m:t>
                    </m:r>
                    <m:r>
                      <a:rPr lang="en-US" i="1"/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𝐻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Therefore, the constant term in the lower bound is modified as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=∥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𝜈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</m:acc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b="0" dirty="0"/>
                  <a:t>                      (34)</a:t>
                </a:r>
              </a:p>
              <a:p>
                <a:pPr lvl="1"/>
                <a:r>
                  <a:rPr lang="en-US" dirty="0"/>
                  <a:t>The lower-bound expression becomes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/>
                          <m:t>LB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𝑏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+2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/>
                                </m:ctrlPr>
                              </m:sSubSupPr>
                              <m:e>
                                <m:r>
                                  <a:rPr lang="en-US" b="1"/>
                                  <m:t>𝐪</m:t>
                                </m:r>
                              </m:e>
                              <m:sub>
                                <m:r>
                                  <a:rPr lang="en-US" i="1"/>
                                  <m:t>𝑢</m:t>
                                </m:r>
                              </m:sub>
                              <m:sup>
                                <m:r>
                                  <a:rPr lang="en-US" i="1"/>
                                  <m:t>𝜈</m:t>
                                </m:r>
                              </m:sup>
                            </m:sSub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b="1"/>
                                  <m:t>𝐰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/>
                          <m:t>𝑇</m:t>
                        </m:r>
                      </m:sup>
                    </m:sSup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  <m:sup>
                            <m:r>
                              <a:rPr lang="en-US" i="1"/>
                              <m:t>𝜈</m:t>
                            </m:r>
                          </m:sup>
                        </m:sSub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 slack created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𝜃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&lt;1</m:t>
                    </m:r>
                  </m:oMath>
                </a14:m>
                <a:r>
                  <a:rPr lang="en-US" dirty="0"/>
                  <a:t>allows the trajectory to move without immediately violating covertness.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CA5275-1818-D0FC-1BCC-01C81EED21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58A9B-E43D-AC50-2C9E-9ACA2901F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0835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8489D-213C-647C-69EA-FEC6B4C5D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2FCCB1-BE56-E5E8-4B59-DA1FB7F11B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Complete Iterative Algorithm</a:t>
                </a:r>
              </a:p>
              <a:p>
                <a:pPr lvl="1"/>
                <a:r>
                  <a:rPr lang="en-US" dirty="0"/>
                  <a:t>Initialization</a:t>
                </a:r>
              </a:p>
              <a:p>
                <a:pPr lvl="2"/>
                <a:r>
                  <a:rPr lang="en-US" dirty="0"/>
                  <a:t>Set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𝜈</m:t>
                    </m:r>
                    <m:r>
                      <a:rPr lang="en-US"/>
                      <m:t>=0,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and initialize feasible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1"/>
                        </m:ctrlPr>
                      </m:sSupPr>
                      <m:e>
                        <m:r>
                          <a:rPr lang="en-US" b="1"/>
                          <m:t>𝐏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, 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b="1"/>
                          <m:t>𝐐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, 0&lt;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𝜃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≤1.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Iteration</a:t>
                </a:r>
              </a:p>
              <a:p>
                <a:pPr lvl="2"/>
                <a:r>
                  <a:rPr lang="en-US" dirty="0"/>
                  <a:t>Solve problem (24): 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1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1"/>
                            </m:ctrlPr>
                          </m:accPr>
                          <m:e>
                            <m:r>
                              <a:rPr lang="en-US" b="1" i="1"/>
                              <m:t>𝜶</m:t>
                            </m:r>
                          </m:e>
                        </m:acc>
                      </m:e>
                      <m:sup>
                        <m:r>
                          <a:rPr lang="en-US" i="1"/>
                          <m:t>𝜈</m:t>
                        </m:r>
                        <m:r>
                          <a:rPr lang="en-US"/>
                          <m:t>+1</m:t>
                        </m:r>
                      </m:sup>
                    </m:sSup>
                    <m:r>
                      <a:rPr lang="en-US"/>
                      <m:t>=</m:t>
                    </m:r>
                    <m:func>
                      <m:funcPr>
                        <m:ctrlPr>
                          <a:rPr 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/>
                          <m:t>arg</m:t>
                        </m:r>
                      </m:fName>
                      <m:e>
                        <m:limLow>
                          <m:limLowPr>
                            <m:ctrlPr>
                              <a:rPr lang="en-US" i="1"/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/>
                              <m:t>max</m:t>
                            </m:r>
                          </m:e>
                          <m:lim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b="1" i="1"/>
                                  <m:t>𝜶</m:t>
                                </m:r>
                              </m:e>
                            </m:acc>
                            <m:r>
                              <a:rPr lang="en-US"/>
                              <m:t>,</m:t>
                            </m:r>
                            <m:r>
                              <a:rPr lang="en-US" i="1"/>
                              <m:t>𝜂</m:t>
                            </m:r>
                          </m:lim>
                        </m:limLow>
                      </m:e>
                    </m:func>
                    <m:r>
                      <a:rPr lang="en-US" i="1"/>
                      <m:t>𝜂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Solve problem (27) using constraint (33): 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1"/>
                        </m:ctrlPr>
                      </m:sSupPr>
                      <m:e>
                        <m:r>
                          <a:rPr lang="en-US" b="1"/>
                          <m:t>𝐏</m:t>
                        </m:r>
                      </m:e>
                      <m:sup>
                        <m:r>
                          <a:rPr lang="en-US" i="1"/>
                          <m:t>𝜈</m:t>
                        </m:r>
                        <m:r>
                          <a:rPr lang="en-US"/>
                          <m:t>+1</m:t>
                        </m:r>
                      </m:sup>
                    </m:sSup>
                    <m:r>
                      <a:rPr lang="en-US"/>
                      <m:t>=</m:t>
                    </m:r>
                    <m:func>
                      <m:funcPr>
                        <m:ctrlPr>
                          <a:rPr 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/>
                          <m:t>arg</m:t>
                        </m:r>
                      </m:fName>
                      <m:e>
                        <m:limLow>
                          <m:limLowPr>
                            <m:ctrlPr>
                              <a:rPr lang="en-US" i="1"/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/>
                              <m:t>max</m:t>
                            </m:r>
                          </m:e>
                          <m:lim>
                            <m:r>
                              <a:rPr lang="en-US" b="1"/>
                              <m:t>𝐏</m:t>
                            </m:r>
                            <m:r>
                              <a:rPr lang="en-US"/>
                              <m:t>,</m:t>
                            </m:r>
                            <m:r>
                              <a:rPr lang="en-US" i="1"/>
                              <m:t>𝜂</m:t>
                            </m:r>
                          </m:lim>
                        </m:limLow>
                      </m:e>
                    </m:func>
                    <m:r>
                      <a:rPr lang="en-US" i="1"/>
                      <m:t>𝜂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Update: 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𝑠𝑡𝑒𝑝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Solve problem (31): 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1"/>
                        </m:ctrlPr>
                      </m:sSupPr>
                      <m:e>
                        <m:r>
                          <a:rPr lang="en-US" b="1"/>
                          <m:t>𝐐</m:t>
                        </m:r>
                      </m:e>
                      <m:sup>
                        <m:r>
                          <a:rPr lang="en-US" i="1"/>
                          <m:t>𝜈</m:t>
                        </m:r>
                        <m:r>
                          <a:rPr lang="en-US"/>
                          <m:t>+1</m:t>
                        </m:r>
                      </m:sup>
                    </m:sSup>
                    <m:r>
                      <a:rPr lang="en-US"/>
                      <m:t>=</m:t>
                    </m:r>
                    <m:func>
                      <m:funcPr>
                        <m:ctrlPr>
                          <a:rPr 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/>
                          <m:t>arg</m:t>
                        </m:r>
                      </m:fName>
                      <m:e>
                        <m:limLow>
                          <m:limLowPr>
                            <m:ctrlPr>
                              <a:rPr lang="en-US" i="1"/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/>
                              <m:t>max</m:t>
                            </m:r>
                          </m:e>
                          <m:lim>
                            <m:r>
                              <a:rPr lang="en-US" b="1"/>
                              <m:t>𝐐</m:t>
                            </m:r>
                            <m:r>
                              <a:rPr lang="en-US"/>
                              <m:t>,</m:t>
                            </m:r>
                            <m:r>
                              <a:rPr lang="en-US" b="1" i="1"/>
                              <m:t>𝝁</m:t>
                            </m:r>
                            <m:r>
                              <a:rPr lang="en-US"/>
                              <m:t>,</m:t>
                            </m:r>
                            <m:r>
                              <a:rPr lang="en-US" i="1"/>
                              <m:t>𝜂</m:t>
                            </m:r>
                          </m:lim>
                        </m:limLow>
                      </m:e>
                    </m:func>
                    <m:r>
                      <a:rPr lang="en-US" i="1"/>
                      <m:t>𝜂</m:t>
                    </m:r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Set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𝜈</m:t>
                    </m:r>
                    <m:r>
                      <a:rPr lang="en-US"/>
                      <m:t>←</m:t>
                    </m:r>
                    <m:r>
                      <a:rPr lang="en-US" i="1"/>
                      <m:t>𝜈</m:t>
                    </m:r>
                    <m:r>
                      <a:rPr lang="en-US"/>
                      <m:t>+1.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Repeat until the objective improvement is sufficiently small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𝜃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=1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2FCCB1-BE56-E5E8-4B59-DA1FB7F11B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6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6124D-39B2-524B-D180-22C3A16A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797653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10392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A3013-0AD0-0D92-8ACC-926928A03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156ABD-B364-09DA-36AE-3E181923C6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Reconstruction of Binary Scheduling</a:t>
                </a:r>
              </a:p>
              <a:p>
                <a:pPr lvl="1"/>
                <a:r>
                  <a:rPr lang="en-US" dirty="0"/>
                  <a:t>After convergence, the relaxed scheduling variables satisfy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0≤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/>
                            </m:ctrlPr>
                          </m:accPr>
                          <m:e>
                            <m:r>
                              <a:rPr lang="en-US" i="1"/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≤1.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They are converted into binary variables using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arg</m:t>
                                  </m:r>
                                </m:fName>
                                <m:e>
                                  <m:limLow>
                                    <m:limLow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d>
                                        <m:dPr>
                                          <m:begChr m:val="{"/>
                                          <m:endChr m:val="}"/>
                                          <m:sepChr m:val=",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…</m:t>
                                          </m:r>
                                        </m:e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</m:d>
                                    </m:lim>
                                  </m:limLow>
                                </m:e>
                              </m:func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otherwise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b="0" dirty="0"/>
                  <a:t>                          (35)</a:t>
                </a:r>
              </a:p>
              <a:p>
                <a:pPr lvl="1"/>
                <a:r>
                  <a:rPr lang="en-US" dirty="0"/>
                  <a:t>Thus, each slot is assigned to the user with the largest relaxed scheduling value.</a:t>
                </a:r>
              </a:p>
              <a:p>
                <a:pPr lvl="1"/>
                <a:r>
                  <a:rPr lang="en-US" dirty="0"/>
                  <a:t>The TDMA condition is automatically satisfied: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/>
                        </m:ctrlPr>
                      </m:naryPr>
                      <m:sub>
                        <m:r>
                          <a:rPr lang="en-US" i="1"/>
                          <m:t>𝑘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𝛼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an active transmission slot.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156ABD-B364-09DA-36AE-3E181923C6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192A3-A56C-7EA9-0173-C902BBE3A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6488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5A210-9659-DC42-9061-C3C667C39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9389B4-C287-0A0B-4217-EF66C3B4CC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Convergence Analysis</a:t>
                </a:r>
              </a:p>
              <a:p>
                <a:pPr lvl="1"/>
                <a:r>
                  <a:rPr lang="en-US" dirty="0"/>
                  <a:t>Each subproblem maximizes the same objective </a:t>
                </a:r>
                <a14:m>
                  <m:oMath xmlns:m="http://schemas.openxmlformats.org/officeDocument/2006/math">
                    <m:r>
                      <a:rPr lang="en-US" i="1"/>
                      <m:t>𝜂</m:t>
                    </m:r>
                  </m:oMath>
                </a14:m>
                <a:r>
                  <a:rPr lang="en-US" dirty="0"/>
                  <a:t>while fixing the remaining variable blocks.</a:t>
                </a:r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𝜂</m:t>
                        </m:r>
                      </m:e>
                      <m:sup>
                        <m:r>
                          <a:rPr lang="en-US" i="1"/>
                          <m:t>𝜈</m:t>
                        </m:r>
                        <m:r>
                          <a:rPr lang="en-US"/>
                          <m:t>+1</m:t>
                        </m:r>
                      </m:sup>
                    </m:sSup>
                    <m:r>
                      <a:rPr lang="en-US"/>
                      <m:t>≥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𝜂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objective sequence is non-decreasing: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𝜂</m:t>
                        </m:r>
                      </m:e>
                      <m:sup>
                        <m:r>
                          <a:rPr lang="en-US"/>
                          <m:t>0</m:t>
                        </m:r>
                      </m:sup>
                    </m:sSup>
                    <m:r>
                      <a:rPr lang="en-US"/>
                      <m:t>≤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𝜂</m:t>
                        </m:r>
                      </m:e>
                      <m:sup>
                        <m:r>
                          <a:rPr lang="en-US"/>
                          <m:t>1</m:t>
                        </m:r>
                      </m:sup>
                    </m:sSup>
                    <m:r>
                      <a:rPr lang="en-US"/>
                      <m:t>≤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𝜂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≤⋯</m:t>
                    </m:r>
                    <m:r>
                      <m:rPr>
                        <m:nor/>
                      </m:rPr>
                      <a:rPr lang="en-US"/>
                      <m:t> </m:t>
                    </m:r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 achievable rate is upper-bounded because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max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and all channel gains are finite.</a:t>
                </a:r>
              </a:p>
              <a:p>
                <a:pPr lvl="1"/>
                <a:r>
                  <a:rPr lang="en-US" dirty="0"/>
                  <a:t>Hence,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𝜂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≤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max</m:t>
                        </m:r>
                      </m:sub>
                    </m:sSub>
                    <m:r>
                      <a:rPr lang="en-US"/>
                      <m:t>&lt;∞.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 monotonic and upper-bounded sequence converges. Therefore, Algorithm 1 converges to a stationary or locally optimal solution.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9389B4-C287-0A0B-4217-EF66C3B4CC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E8A03-3C2F-9952-654F-D6345EC3D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5998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0335D-E063-586C-FCF3-0E53BD3A5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7FD116-A2F1-9DA9-3F72-0A997F35FB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Complexity and Final Remarks</a:t>
                </a:r>
              </a:p>
              <a:p>
                <a:pPr lvl="1"/>
                <a:r>
                  <a:rPr lang="en-US" dirty="0"/>
                  <a:t>At each BCD iteration, the algorithm solves:</a:t>
                </a:r>
              </a:p>
              <a:p>
                <a:pPr lvl="2"/>
                <a:r>
                  <a:rPr lang="en-US" dirty="0"/>
                  <a:t>One linear scheduling problem </a:t>
                </a:r>
              </a:p>
              <a:p>
                <a:pPr lvl="2"/>
                <a:r>
                  <a:rPr lang="en-US" dirty="0"/>
                  <a:t>One convex power-allocation problem </a:t>
                </a:r>
              </a:p>
              <a:p>
                <a:pPr lvl="2"/>
                <a:r>
                  <a:rPr lang="en-US" dirty="0"/>
                  <a:t>One semidefinite trajectory problem </a:t>
                </a:r>
              </a:p>
              <a:p>
                <a:pPr lvl="2"/>
                <a:r>
                  <a:rPr lang="en-US" dirty="0"/>
                  <a:t>The computational complexity is approximately</a:t>
                </a:r>
              </a:p>
              <a:p>
                <a:pPr lvl="2"/>
                <a14:m>
                  <m:oMath xmlns:m="http://schemas.openxmlformats.org/officeDocument/2006/math">
                    <m:borderBox>
                      <m:borderBoxPr>
                        <m:ctrlPr>
                          <a:rPr lang="en-US"/>
                        </m:ctrlPr>
                      </m:borderBoxPr>
                      <m:e>
                        <m:r>
                          <a:rPr lang="en-US"/>
                          <m:t>𝒪</m:t>
                        </m:r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𝐾𝑁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/>
                                  <m:t>3.5</m:t>
                                </m:r>
                              </m:sup>
                            </m:sSup>
                          </m:e>
                        </m:d>
                      </m:e>
                    </m:borderBox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per iteration.</a:t>
                </a:r>
              </a:p>
              <a:p>
                <a:r>
                  <a:rPr lang="en-US" dirty="0"/>
                  <a:t>Key Characteristics</a:t>
                </a:r>
              </a:p>
              <a:p>
                <a:pPr lvl="2"/>
                <a:r>
                  <a:rPr lang="en-US" dirty="0"/>
                  <a:t>Exploits TDMA scheduling </a:t>
                </a:r>
              </a:p>
              <a:p>
                <a:pPr lvl="2"/>
                <a:r>
                  <a:rPr lang="en-US" dirty="0"/>
                  <a:t>Controls transmit power under worst-case covertness </a:t>
                </a:r>
              </a:p>
              <a:p>
                <a:pPr lvl="2"/>
                <a:r>
                  <a:rPr lang="en-US" dirty="0"/>
                  <a:t>Designs a physically feasible UAV trajectory </a:t>
                </a:r>
              </a:p>
              <a:p>
                <a:pPr lvl="2"/>
                <a:r>
                  <a:rPr lang="en-US" dirty="0"/>
                  <a:t>Uses SCA to handle non-convex trajectory constraints </a:t>
                </a:r>
              </a:p>
              <a:p>
                <a:pPr lvl="2"/>
                <a:r>
                  <a:rPr lang="en-US" dirty="0"/>
                  <a:t>Uses </a:t>
                </a:r>
                <a14:m>
                  <m:oMath xmlns:m="http://schemas.openxmlformats.org/officeDocument/2006/math">
                    <m:r>
                      <a:rPr lang="en-US" i="1"/>
                      <m:t>𝜃</m:t>
                    </m:r>
                  </m:oMath>
                </a14:m>
                <a:r>
                  <a:rPr lang="en-US" dirty="0"/>
                  <a:t>to preserve trajectory-update feasibility </a:t>
                </a:r>
              </a:p>
              <a:p>
                <a:pPr lvl="2"/>
                <a:r>
                  <a:rPr lang="en-US" dirty="0"/>
                  <a:t>Converges, but global optimality is not guaranteed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algorithm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provides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efficient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locally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optimal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solution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Problem</m:t>
                    </m:r>
                    <m:r>
                      <m:rPr>
                        <m:nor/>
                      </m:rPr>
                      <a:rPr lang="en-US"/>
                      <m:t> (9)</m:t>
                    </m:r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7FD116-A2F1-9DA9-3F72-0A997F35FB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1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2C726-0C53-6956-4F54-1EB3F548D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1" y="6356350"/>
            <a:ext cx="571150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63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3693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4770</Words>
  <Application>Microsoft Office PowerPoint</Application>
  <PresentationFormat>Widescreen</PresentationFormat>
  <Paragraphs>861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8" baseType="lpstr">
      <vt:lpstr>맑은 고딕</vt:lpstr>
      <vt:lpstr>Arial</vt:lpstr>
      <vt:lpstr>Cambria Math</vt:lpstr>
      <vt:lpstr>Tahoma</vt:lpstr>
      <vt:lpstr>Office 테마</vt:lpstr>
      <vt:lpstr>Resource Allocation and Trajectory Optimization for UAV-Enabled Multi-User Covert Communications</vt:lpstr>
      <vt:lpstr>Table of Contents</vt:lpstr>
      <vt:lpstr>Abstract</vt:lpstr>
      <vt:lpstr>Abstract</vt:lpstr>
      <vt:lpstr>Introduction</vt:lpstr>
      <vt:lpstr>Introduction</vt:lpstr>
      <vt:lpstr>Introduction</vt:lpstr>
      <vt:lpstr>Introduction</vt:lpstr>
      <vt:lpstr>Introduction</vt:lpstr>
      <vt:lpstr>Introduction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Problem Formulation</vt:lpstr>
      <vt:lpstr>Problem Formulation</vt:lpstr>
      <vt:lpstr>Problem Formulation</vt:lpstr>
      <vt:lpstr>Problem Formulation</vt:lpstr>
      <vt:lpstr>Problem Formulation</vt:lpstr>
      <vt:lpstr>System Model</vt:lpstr>
      <vt:lpstr>System Model</vt:lpstr>
      <vt:lpstr>System Model</vt:lpstr>
      <vt:lpstr>Problem Formulation</vt:lpstr>
      <vt:lpstr>Problem Formulation</vt:lpstr>
      <vt:lpstr>Problem Formulation</vt:lpstr>
      <vt:lpstr>Problem Formulaton</vt:lpstr>
      <vt:lpstr>Problem Formulation</vt:lpstr>
      <vt:lpstr>Problem Formulation</vt:lpstr>
      <vt:lpstr>Problem Formulation</vt:lpstr>
      <vt:lpstr>Problem Formulation</vt:lpstr>
      <vt:lpstr>Problem Formulation</vt:lpstr>
      <vt:lpstr>Problem Formulation</vt:lpstr>
      <vt:lpstr>Problem Formulation</vt:lpstr>
      <vt:lpstr>Problem Formulation</vt:lpstr>
      <vt:lpstr>Problem Formulation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Jihwan Moon</dc:creator>
  <cp:lastModifiedBy>Refat Khan</cp:lastModifiedBy>
  <cp:revision>5</cp:revision>
  <dcterms:created xsi:type="dcterms:W3CDTF">2018-05-20T06:28:16Z</dcterms:created>
  <dcterms:modified xsi:type="dcterms:W3CDTF">2026-07-30T12:28:26Z</dcterms:modified>
</cp:coreProperties>
</file>