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1420" r:id="rId2"/>
    <p:sldId id="1421" r:id="rId3"/>
    <p:sldId id="1422" r:id="rId4"/>
    <p:sldId id="1423" r:id="rId5"/>
    <p:sldId id="1424" r:id="rId6"/>
    <p:sldId id="1425" r:id="rId7"/>
    <p:sldId id="1426" r:id="rId8"/>
    <p:sldId id="1427" r:id="rId9"/>
    <p:sldId id="1428" r:id="rId10"/>
    <p:sldId id="1429" r:id="rId11"/>
    <p:sldId id="1430" r:id="rId12"/>
    <p:sldId id="1431" r:id="rId13"/>
    <p:sldId id="1432" r:id="rId14"/>
    <p:sldId id="1433" r:id="rId15"/>
    <p:sldId id="1434" r:id="rId16"/>
    <p:sldId id="1435" r:id="rId17"/>
    <p:sldId id="1436" r:id="rId18"/>
    <p:sldId id="1437" r:id="rId19"/>
    <p:sldId id="1438" r:id="rId20"/>
    <p:sldId id="1439" r:id="rId21"/>
    <p:sldId id="1440" r:id="rId22"/>
    <p:sldId id="1441" r:id="rId23"/>
    <p:sldId id="1442" r:id="rId24"/>
    <p:sldId id="1443" r:id="rId25"/>
    <p:sldId id="1444" r:id="rId26"/>
    <p:sldId id="1445" r:id="rId27"/>
    <p:sldId id="1446" r:id="rId28"/>
    <p:sldId id="1447" r:id="rId29"/>
    <p:sldId id="1448" r:id="rId30"/>
    <p:sldId id="1449" r:id="rId31"/>
    <p:sldId id="1450" r:id="rId32"/>
    <p:sldId id="1451" r:id="rId33"/>
    <p:sldId id="1452" r:id="rId34"/>
    <p:sldId id="1453" r:id="rId35"/>
    <p:sldId id="1454" r:id="rId36"/>
    <p:sldId id="1455" r:id="rId37"/>
    <p:sldId id="1456" r:id="rId38"/>
    <p:sldId id="1457" r:id="rId39"/>
    <p:sldId id="1458" r:id="rId40"/>
    <p:sldId id="1459" r:id="rId41"/>
    <p:sldId id="1460" r:id="rId42"/>
    <p:sldId id="1461" r:id="rId43"/>
    <p:sldId id="1462" r:id="rId44"/>
    <p:sldId id="1463" r:id="rId45"/>
    <p:sldId id="1464" r:id="rId46"/>
    <p:sldId id="1465" r:id="rId47"/>
    <p:sldId id="1466" r:id="rId48"/>
    <p:sldId id="1467" r:id="rId49"/>
    <p:sldId id="1468" r:id="rId50"/>
    <p:sldId id="1469" r:id="rId51"/>
    <p:sldId id="1470" r:id="rId52"/>
    <p:sldId id="1471" r:id="rId53"/>
    <p:sldId id="1472" r:id="rId54"/>
    <p:sldId id="1473" r:id="rId55"/>
    <p:sldId id="1474" r:id="rId56"/>
    <p:sldId id="1475" r:id="rId57"/>
    <p:sldId id="1476" r:id="rId58"/>
    <p:sldId id="1477" r:id="rId59"/>
    <p:sldId id="1478" r:id="rId60"/>
    <p:sldId id="1479" r:id="rId61"/>
    <p:sldId id="1480" r:id="rId62"/>
    <p:sldId id="1481" r:id="rId63"/>
    <p:sldId id="1482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xpl/RecentIssue.jsp?punumber=25" TargetMode="External"/><Relationship Id="rId3" Type="http://schemas.openxmlformats.org/officeDocument/2006/relationships/hyperlink" Target="https://ieeexplore.ieee.org/author/37085775419" TargetMode="External"/><Relationship Id="rId7" Type="http://schemas.openxmlformats.org/officeDocument/2006/relationships/hyperlink" Target="https://ieeexplore.ieee.org/author/37281394100" TargetMode="External"/><Relationship Id="rId2" Type="http://schemas.openxmlformats.org/officeDocument/2006/relationships/hyperlink" Target="https://ieeexplore.ieee.org/author/37085515078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author/37278653500" TargetMode="External"/><Relationship Id="rId5" Type="http://schemas.openxmlformats.org/officeDocument/2006/relationships/hyperlink" Target="https://ieeexplore.ieee.org/author/37281026600" TargetMode="External"/><Relationship Id="rId4" Type="http://schemas.openxmlformats.org/officeDocument/2006/relationships/hyperlink" Target="https://ieeexplore.ieee.org/author/3851682360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1866900"/>
            <a:ext cx="9239250" cy="1676400"/>
          </a:xfrm>
          <a:noFill/>
          <a:ln w="0">
            <a:noFill/>
          </a:ln>
        </p:spPr>
        <p:txBody>
          <a:bodyPr vert="horz" lIns="0" rIns="0" t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37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Resource Allocation and Trajectory
Optimization for UAV-Enabled
Multi-User Covert Communications</a:t>
            </a:r>
          </a:p>
        </p:txBody>
      </p:sp>
      <p:sp>
        <p:nvSpPr>
          <p:cNvPr id="3" name="부제목 2">
            <a:extLst>
              <a:ext uri="{FF2B5EF4-FFF2-40B4-BE49-F238E27FC236}">
                <a16:creationId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4000500"/>
            <a:ext cx="7524750" cy="1066800"/>
          </a:xfrm>
          <a:solidFill>
            <a:srgbClr val="F5FAF9"/>
          </a:solidFill>
          <a:ln w="9525">
            <a:solidFill>
              <a:srgbClr val="C9DDDA"/>
            </a:solidFill>
          </a:ln>
        </p:spPr>
        <p:txBody>
          <a:bodyPr vert="horz" lIns="171450" tIns="95250" rIns="171450" bIns="95250" rtlCol="0" anchor="ctr">
            <a:noAutofit/>
          </a:bodyPr>
          <a:lstStyle/>
          <a:p>
            <a:pPr algn="l" marL="0" indent="0">
              <a:buNone/>
              <a:spcAft>
                <a:spcPts val="400"/>
              </a:spcAft>
            </a:pPr>
            <a:r>
              <a:rPr lang="en-US" sz="142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Xu Jiang; Zhutian Yang; Nan Zhao; Yunfei Chen; Zhiguo Ding; Xianbin Wang</a:t>
            </a:r>
          </a:p>
          <a:p>
            <a:pPr algn="l" marL="0" indent="0">
              <a:buNone/>
              <a:spcAft>
                <a:spcPts val="400"/>
              </a:spcAft>
            </a:pPr>
            <a:r>
              <a:rPr lang="en-US" sz="1350" b="1" dirty="0">
                <a:solidFill>
                  <a:srgbClr val="006666"/>
                </a:solidFill>
                <a:latin typeface="Arial"/>
                <a:ea typeface="Arial"/>
                <a:cs typeface="Arial"/>
              </a:rPr>
              <a:t>Published in: </a:t>
            </a:r>
            <a:r>
              <a:rPr 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IEEE Transactions on Vehicular Technology</a:t>
            </a:r>
          </a:p>
          <a:p>
            <a:pPr algn="l" marL="0" indent="0">
              <a:buNone/>
            </a:pPr>
            <a:r>
              <a:rPr lang="en-US" sz="1350" b="1" dirty="0">
                <a:solidFill>
                  <a:srgbClr val="006666"/>
                </a:solidFill>
                <a:latin typeface="Arial"/>
                <a:ea typeface="Arial"/>
                <a:cs typeface="Arial"/>
              </a:rPr>
              <a:t>Date of Publication: </a:t>
            </a:r>
            <a:r>
              <a:rPr lang="en-US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22 January 2021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en-US" altLang="en-US" smtClean="0" sz="1275">
                <a:solidFill>
                  <a:srgbClr val="374151"/>
                </a:solidFill>
                <a:latin typeface="Arial"/>
              </a:rPr>
              <a:t>1</a:t>
            </a:fld>
            <a:endParaRPr lang="ko-KR" altLang="en-US"/>
          </a:p>
        </p:txBody>
      </p:sp>
    </p:spTree>
    <p:extLst>
      <p:ext uri="{BB962C8B-B14F-4D97-AF65-F5344CB8AC3E}">
        <p14:creationId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EBB0A80-90E4-0AA9-896C-3625941C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100"/>
            <a:ext cx="6191250" cy="628650"/>
          </a:xfrm>
          <a:noFill/>
          <a:ln w="0">
            <a:noFill/>
          </a:ln>
        </p:spPr>
        <p:txBody>
          <a:bodyPr vert="horz" lIns="0" rIns="0" tIns="0" bIns="0" rtlCol="0" anchor="ctr">
            <a:no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id="{385100A0-6BF2-3C73-BA46-918AB03DE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0" y="1943100"/>
            <a:ext cx="7239000" cy="3333750"/>
          </a:xfrm>
          <a:noFill/>
          <a:ln w="0">
            <a:noFill/>
          </a:ln>
        </p:spPr>
        <p:txBody>
          <a:bodyPr vert="horz" lIns="0" rIns="0" tIns="0" bIns="0" rtlCol="0" anchor="t">
            <a:noAutofit/>
          </a:bodyPr>
          <a:lstStyle/>
          <a:p>
            <a:pPr algn="l" marL="0" indent="0">
              <a:buNone/>
              <a:spcAft>
                <a:spcPts val="950"/>
              </a:spcAft>
            </a:pPr>
            <a:r>
              <a:rPr lang="en-US" sz="2000" b="1" dirty="0">
                <a:solidFill>
                  <a:srgbClr val="006666"/>
                </a:solidFill>
                <a:latin typeface="Arial"/>
                <a:ea typeface="Arial"/>
                <a:cs typeface="Arial"/>
              </a:rPr>
              <a:t>01</a:t>
            </a:r>
            <a:r>
              <a:rPr lang="en-US" sz="20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  Abstract</a:t>
            </a:r>
          </a:p>
          <a:p>
            <a:pPr algn="l" marL="0" indent="0">
              <a:buNone/>
              <a:spcAft>
                <a:spcPts val="950"/>
              </a:spcAft>
            </a:pPr>
            <a:r>
              <a:rPr lang="en-US" sz="2000" b="1" dirty="0">
                <a:solidFill>
                  <a:srgbClr val="006666"/>
                </a:solidFill>
                <a:latin typeface="Arial"/>
                <a:ea typeface="Arial"/>
                <a:cs typeface="Arial"/>
              </a:rPr>
              <a:t>02</a:t>
            </a:r>
            <a:r>
              <a:rPr lang="en-US" sz="20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  Introduction</a:t>
            </a:r>
          </a:p>
          <a:p>
            <a:pPr algn="l" marL="0" indent="0">
              <a:buNone/>
              <a:spcAft>
                <a:spcPts val="950"/>
              </a:spcAft>
            </a:pPr>
            <a:r>
              <a:rPr lang="en-US" sz="2000" b="1" dirty="0">
                <a:solidFill>
                  <a:srgbClr val="006666"/>
                </a:solidFill>
                <a:latin typeface="Arial"/>
                <a:ea typeface="Arial"/>
                <a:cs typeface="Arial"/>
              </a:rPr>
              <a:t>03</a:t>
            </a:r>
            <a:r>
              <a:rPr lang="en-US" sz="20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  System Model</a:t>
            </a:r>
          </a:p>
          <a:p>
            <a:pPr algn="l" marL="0" indent="0">
              <a:buNone/>
              <a:spcAft>
                <a:spcPts val="950"/>
              </a:spcAft>
            </a:pPr>
            <a:r>
              <a:rPr lang="en-US" sz="2000" b="1" dirty="0">
                <a:solidFill>
                  <a:srgbClr val="006666"/>
                </a:solidFill>
                <a:latin typeface="Arial"/>
                <a:ea typeface="Arial"/>
                <a:cs typeface="Arial"/>
              </a:rPr>
              <a:t>04</a:t>
            </a:r>
            <a:r>
              <a:rPr lang="en-US" sz="20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  Problem Formulation</a:t>
            </a:r>
          </a:p>
          <a:p>
            <a:pPr algn="l" marL="0" indent="0">
              <a:buNone/>
            </a:pPr>
            <a:r>
              <a:rPr lang="en-US" sz="2000" b="1" dirty="0">
                <a:solidFill>
                  <a:srgbClr val="006666"/>
                </a:solidFill>
                <a:latin typeface="Arial"/>
                <a:ea typeface="Arial"/>
                <a:cs typeface="Arial"/>
              </a:rPr>
              <a:t>05</a:t>
            </a:r>
            <a:r>
              <a:rPr lang="en-US" sz="20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  Covert rate maximization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id="{2D53AFC9-135D-9458-18FC-9049F2BE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en-US" altLang="en-US" smtClean="0" sz="1275">
                <a:solidFill>
                  <a:srgbClr val="374151"/>
                </a:solidFill>
                <a:latin typeface="Arial"/>
              </a:rPr>
              <a:t>2</a:t>
            </a:fld>
            <a:endParaRPr lang="ko-KR" altLang="en-US"/>
          </a:p>
        </p:txBody>
      </p:sp>
    </p:spTree>
    <p:extLst>
      <p:ext uri="{BB962C8B-B14F-4D97-AF65-F5344CB8AC3E}">
        <p14:creationId val="254304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6762-B87E-4E6B-3B88-54DD048A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CA16C-EC45-5AD6-B648-6B4207D3A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Covert UAV Air-to-Ground Communication</a:t>
                </a:r>
              </a:p>
              <a:p>
                <a:pPr lvl="1"/>
                <a:r>
                  <a:rPr lang="en-US" b="1" dirty="0"/>
                  <a:t>Motivation</a:t>
                </a:r>
              </a:p>
              <a:p>
                <a:pPr lvl="2"/>
                <a:r>
                  <a:rPr lang="en-US" dirty="0"/>
                  <a:t>UAV wireless transmissions may be detected by a ground warden. </a:t>
                </a:r>
              </a:p>
              <a:p>
                <a:pPr lvl="2"/>
                <a:r>
                  <a:rPr lang="en-US" dirty="0"/>
                  <a:t>Covert communication aims to hide the </a:t>
                </a:r>
                <a:r>
                  <a:rPr lang="en-US" b="1" dirty="0"/>
                  <a:t>existence of the UAV transmission</a:t>
                </a:r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The warden has: </a:t>
                </a:r>
              </a:p>
              <a:p>
                <a:pPr lvl="3"/>
                <a:r>
                  <a:rPr lang="en-US" dirty="0"/>
                  <a:t>A limited number of signal observations </a:t>
                </a:r>
              </a:p>
              <a:p>
                <a:pPr lvl="3"/>
                <a:r>
                  <a:rPr lang="en-US" dirty="0"/>
                  <a:t>Uncertain location information </a:t>
                </a:r>
              </a:p>
              <a:p>
                <a:pPr lvl="1"/>
                <a:r>
                  <a:rPr lang="en-US" b="1" dirty="0"/>
                  <a:t>Main Objective</a:t>
                </a:r>
              </a:p>
              <a:p>
                <a:pPr lvl="2"/>
                <a:r>
                  <a:rPr lang="en-US" dirty="0"/>
                  <a:t>Maximize the </a:t>
                </a:r>
                <a:r>
                  <a:rPr lang="en-US" b="1" dirty="0"/>
                  <a:t>average covert communication rate</a:t>
                </a:r>
                <a:r>
                  <a:rPr lang="en-US" dirty="0"/>
                  <a:t> from the UAV to the ground receiver. </a:t>
                </a:r>
              </a:p>
              <a:p>
                <a:pPr lvl="2"/>
                <a:r>
                  <a:rPr lang="en-US" dirty="0"/>
                  <a:t>Guarantee communication covertness under the </a:t>
                </a:r>
                <a:r>
                  <a:rPr lang="en-US" b="1" dirty="0"/>
                  <a:t>worst-case warden location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b="1" dirty="0"/>
                  <a:t>Key Consideration</a:t>
                </a:r>
              </a:p>
              <a:p>
                <a:pPr lvl="2"/>
                <a:r>
                  <a:rPr lang="en-US" dirty="0"/>
                  <a:t>The warden’s total detection error probability is analyzed under limited observations: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FA</m:t>
                        </m:r>
                      </m:sub>
                    </m:sSub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MD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 sufficiently large </a:t>
                </a:r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</m:oMath>
                </a14:m>
                <a:r>
                  <a:rPr lang="en-US" dirty="0"/>
                  <a:t>means that the warden cannot reliably determine whether the UAV is transmitting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CA16C-EC45-5AD6-B648-6B4207D3A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6DF40-1BF6-3047-761C-73FE446D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75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7D4B-7EBA-4459-2EDB-6EF02136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37A6A-BE79-47D1-7B5C-9DD9F323E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Proposed Optimization and Main Results</a:t>
                </a:r>
              </a:p>
              <a:p>
                <a:pPr lvl="1"/>
                <a:r>
                  <a:rPr lang="en-US" dirty="0"/>
                  <a:t>Joint Optimization Problem</a:t>
                </a:r>
              </a:p>
              <a:p>
                <a:pPr lvl="1"/>
                <a:r>
                  <a:rPr lang="en-US" dirty="0"/>
                  <a:t>The following variables are jointly optimized:</a:t>
                </a:r>
              </a:p>
              <a:p>
                <a:pPr lvl="2"/>
                <a:r>
                  <a:rPr lang="en-US" dirty="0"/>
                  <a:t>Time-slot allocation </a:t>
                </a:r>
              </a:p>
              <a:p>
                <a:pPr lvl="2"/>
                <a:r>
                  <a:rPr lang="en-US" dirty="0"/>
                  <a:t>UAV transmit-power allocation </a:t>
                </a:r>
              </a:p>
              <a:p>
                <a:pPr lvl="2"/>
                <a:r>
                  <a:rPr lang="en-US" dirty="0"/>
                  <a:t>UAV trajectory </a:t>
                </a:r>
              </a:p>
              <a:p>
                <a:pPr lvl="1"/>
                <a:r>
                  <a:rPr lang="en-US" dirty="0"/>
                  <a:t>Proposed Solution</a:t>
                </a:r>
              </a:p>
              <a:p>
                <a:pPr lvl="2"/>
                <a:r>
                  <a:rPr lang="en-US" dirty="0"/>
                  <a:t>A Block Coordinate Descent (BCD)-based iterative algorithm is developed. </a:t>
                </a:r>
              </a:p>
              <a:p>
                <a:pPr lvl="2"/>
                <a:r>
                  <a:rPr lang="en-US" dirty="0"/>
                  <a:t>The variables are optimized alternately: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Time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Allocation</m:t>
                    </m:r>
                    <m:r>
                      <a:rPr lang="en-US"/>
                      <m:t>→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/>
                      <m:t>→</m:t>
                    </m:r>
                    <m:r>
                      <m:rPr>
                        <m:nor/>
                      </m:rPr>
                      <a:rPr lang="en-US"/>
                      <m:t>UAV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Trajectory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process is repeated until convergence. </a:t>
                </a:r>
              </a:p>
              <a:p>
                <a:pPr lvl="1"/>
                <a:r>
                  <a:rPr lang="en-US" dirty="0"/>
                  <a:t>Main Contributions and Results</a:t>
                </a:r>
              </a:p>
              <a:p>
                <a:pPr lvl="2"/>
                <a:r>
                  <a:rPr lang="en-US" dirty="0"/>
                  <a:t>Develops a detection-error model for a warden with limited observations. </a:t>
                </a:r>
              </a:p>
              <a:p>
                <a:pPr lvl="2"/>
                <a:r>
                  <a:rPr lang="en-US" dirty="0"/>
                  <a:t>Introduces a worst-case covertness constraint considering warden location uncertainty. </a:t>
                </a:r>
              </a:p>
              <a:p>
                <a:pPr lvl="2"/>
                <a:r>
                  <a:rPr lang="en-US" dirty="0"/>
                  <a:t>Jointly designs communication resources and UAV mobility. </a:t>
                </a:r>
              </a:p>
              <a:p>
                <a:pPr lvl="2"/>
                <a:r>
                  <a:rPr lang="en-US" dirty="0"/>
                  <a:t>Numerical results confirm that the proposed approach effectively improves the </a:t>
                </a:r>
                <a:r>
                  <a:rPr lang="en-US" b="1" dirty="0"/>
                  <a:t>average covert rate</a:t>
                </a:r>
                <a:r>
                  <a:rPr lang="en-US" dirty="0"/>
                  <a:t> while maintaining covertness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37A6A-BE79-47D1-7B5C-9DD9F323E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6D05A-A518-21E0-C224-23431EB6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50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1D6D-BAF5-0E07-1E3B-5DD0BA31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20359-4FAE-D544-F7FD-4C5104BC5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UAV-Assisted Wireless Communications</a:t>
            </a:r>
          </a:p>
          <a:p>
            <a:pPr lvl="1"/>
            <a:r>
              <a:rPr lang="en-US" dirty="0"/>
              <a:t>Advantages of UAV Communications</a:t>
            </a:r>
          </a:p>
          <a:p>
            <a:pPr lvl="2"/>
            <a:r>
              <a:rPr lang="en-US" dirty="0"/>
              <a:t>Flexible and rapid deployment </a:t>
            </a:r>
          </a:p>
          <a:p>
            <a:pPr lvl="2"/>
            <a:r>
              <a:rPr lang="en-US" dirty="0"/>
              <a:t>High mobility </a:t>
            </a:r>
          </a:p>
          <a:p>
            <a:pPr lvl="2"/>
            <a:r>
              <a:rPr lang="en-US" dirty="0"/>
              <a:t>Strong line-of-sight (</a:t>
            </a:r>
            <a:r>
              <a:rPr lang="en-US" dirty="0" err="1"/>
              <a:t>LoS</a:t>
            </a:r>
            <a:r>
              <a:rPr lang="en-US" dirty="0"/>
              <a:t>) air-to-ground channels </a:t>
            </a:r>
          </a:p>
          <a:p>
            <a:pPr lvl="2"/>
            <a:r>
              <a:rPr lang="en-US" dirty="0"/>
              <a:t>Ability to adjust position according to communication requirements </a:t>
            </a:r>
          </a:p>
          <a:p>
            <a:pPr lvl="1"/>
            <a:r>
              <a:rPr lang="en-US" dirty="0"/>
              <a:t>Major Applications</a:t>
            </a:r>
          </a:p>
          <a:p>
            <a:pPr lvl="2"/>
            <a:r>
              <a:rPr lang="en-US" dirty="0"/>
              <a:t>Disaster rescue </a:t>
            </a:r>
          </a:p>
          <a:p>
            <a:pPr lvl="2"/>
            <a:r>
              <a:rPr lang="en-US" dirty="0"/>
              <a:t>Surveillance </a:t>
            </a:r>
          </a:p>
          <a:p>
            <a:pPr lvl="2"/>
            <a:r>
              <a:rPr lang="en-US" dirty="0"/>
              <a:t>Data gathering </a:t>
            </a:r>
          </a:p>
          <a:p>
            <a:pPr lvl="2"/>
            <a:r>
              <a:rPr lang="en-US" dirty="0"/>
              <a:t>Wireless data relaying </a:t>
            </a:r>
          </a:p>
          <a:p>
            <a:pPr lvl="2"/>
            <a:r>
              <a:rPr lang="en-US" dirty="0"/>
              <a:t>Military communications </a:t>
            </a:r>
          </a:p>
          <a:p>
            <a:pPr lvl="1"/>
            <a:r>
              <a:rPr lang="en-US" dirty="0"/>
              <a:t>Security Challenge</a:t>
            </a:r>
          </a:p>
          <a:p>
            <a:pPr lvl="2"/>
            <a:r>
              <a:rPr lang="en-US" dirty="0"/>
              <a:t>Wireless signals are naturally broadcast. </a:t>
            </a:r>
          </a:p>
          <a:p>
            <a:pPr lvl="2"/>
            <a:r>
              <a:rPr lang="en-US" dirty="0"/>
              <a:t>Strong </a:t>
            </a:r>
            <a:r>
              <a:rPr lang="en-US" dirty="0" err="1"/>
              <a:t>LoS</a:t>
            </a:r>
            <a:r>
              <a:rPr lang="en-US" dirty="0"/>
              <a:t> links make UAV transmissions easier to detect. </a:t>
            </a:r>
          </a:p>
          <a:p>
            <a:pPr lvl="2"/>
            <a:r>
              <a:rPr lang="en-US" dirty="0"/>
              <a:t>UAV communications are therefore vulnerable to: </a:t>
            </a:r>
          </a:p>
          <a:p>
            <a:pPr lvl="3"/>
            <a:r>
              <a:rPr lang="en-US" dirty="0"/>
              <a:t>Malicious eavesdroppers </a:t>
            </a:r>
          </a:p>
          <a:p>
            <a:pPr lvl="3"/>
            <a:r>
              <a:rPr lang="en-US" dirty="0"/>
              <a:t>Terrestrial wardens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A4B2B-10F8-15A0-40D9-26D77FCFC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36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4873-B580-E814-666D-260BAED1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78799-95EC-AE0B-0CF3-DB0149B55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Layer Security vs. Covert Communication</a:t>
            </a:r>
          </a:p>
          <a:p>
            <a:pPr lvl="1"/>
            <a:r>
              <a:rPr lang="en-US" dirty="0"/>
              <a:t>Physical Layer Security</a:t>
            </a:r>
          </a:p>
          <a:p>
            <a:pPr lvl="2"/>
            <a:r>
              <a:rPr lang="en-US" dirty="0"/>
              <a:t>Prevents an eavesdropper from decoding confidential information. </a:t>
            </a:r>
          </a:p>
          <a:p>
            <a:pPr lvl="2"/>
            <a:r>
              <a:rPr lang="en-US" dirty="0"/>
              <a:t>Security can be improved through: </a:t>
            </a:r>
          </a:p>
          <a:p>
            <a:pPr lvl="3"/>
            <a:r>
              <a:rPr lang="en-US" dirty="0"/>
              <a:t>UAV transmit-power control </a:t>
            </a:r>
          </a:p>
          <a:p>
            <a:pPr lvl="3"/>
            <a:r>
              <a:rPr lang="en-US" dirty="0"/>
              <a:t>UAV trajectory optimization </a:t>
            </a:r>
          </a:p>
          <a:p>
            <a:pPr lvl="1"/>
            <a:r>
              <a:rPr lang="en-US" dirty="0"/>
              <a:t>Limitation of Physical Layer Security</a:t>
            </a:r>
          </a:p>
          <a:p>
            <a:pPr lvl="2"/>
            <a:r>
              <a:rPr lang="en-US" dirty="0"/>
              <a:t>The adversary may still detect that a transmission is taking place. </a:t>
            </a:r>
          </a:p>
          <a:p>
            <a:pPr lvl="2"/>
            <a:r>
              <a:rPr lang="en-US" dirty="0"/>
              <a:t>In critical applications, detecting the transmission itself may reveal: </a:t>
            </a:r>
          </a:p>
          <a:p>
            <a:pPr lvl="3"/>
            <a:r>
              <a:rPr lang="en-US" dirty="0"/>
              <a:t>UAV activity </a:t>
            </a:r>
          </a:p>
          <a:p>
            <a:pPr lvl="3"/>
            <a:r>
              <a:rPr lang="en-US" dirty="0"/>
              <a:t>Communication location </a:t>
            </a:r>
          </a:p>
          <a:p>
            <a:pPr lvl="3"/>
            <a:r>
              <a:rPr lang="en-US" dirty="0"/>
              <a:t>Possible military operations </a:t>
            </a:r>
          </a:p>
          <a:p>
            <a:pPr lvl="1"/>
            <a:r>
              <a:rPr lang="en-US" dirty="0"/>
              <a:t>Covert Communication</a:t>
            </a:r>
          </a:p>
          <a:p>
            <a:pPr lvl="2"/>
            <a:r>
              <a:rPr lang="en-US" dirty="0"/>
              <a:t>Also known as low probability of intercept communication. </a:t>
            </a:r>
          </a:p>
          <a:p>
            <a:pPr lvl="2"/>
            <a:r>
              <a:rPr lang="en-US" dirty="0"/>
              <a:t>Its objective is to hide the existence of wireless transmission from the warden.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4C46E-198A-6212-C0BA-FED6EFB9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427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08D0-D017-0691-44E5-180F4790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0979-957B-272D-43A6-4E774BD28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Research on Covert UAV Communications</a:t>
            </a:r>
          </a:p>
          <a:p>
            <a:pPr lvl="1"/>
            <a:r>
              <a:rPr lang="en-US" dirty="0"/>
              <a:t>Previous Studies</a:t>
            </a:r>
          </a:p>
          <a:p>
            <a:pPr lvl="2"/>
            <a:r>
              <a:rPr lang="en-US" dirty="0"/>
              <a:t>Analyzed the total detection error probability of UAV transmission. </a:t>
            </a:r>
          </a:p>
          <a:p>
            <a:pPr lvl="2"/>
            <a:r>
              <a:rPr lang="en-US" dirty="0"/>
              <a:t>Used a UAV as a warden in multi-hop covert communication. </a:t>
            </a:r>
          </a:p>
          <a:p>
            <a:pPr lvl="2"/>
            <a:r>
              <a:rPr lang="en-US" dirty="0"/>
              <a:t>Jointly optimized UAV transmit power and altitude. </a:t>
            </a:r>
          </a:p>
          <a:p>
            <a:pPr lvl="2"/>
            <a:r>
              <a:rPr lang="en-US" dirty="0"/>
              <a:t>Jointly optimized UAV transmit power and trajectory. </a:t>
            </a:r>
          </a:p>
          <a:p>
            <a:pPr lvl="2"/>
            <a:r>
              <a:rPr lang="en-US" dirty="0"/>
              <a:t>Demonstrated that UAV mobility and resource allocation can improve covertness. </a:t>
            </a:r>
          </a:p>
          <a:p>
            <a:pPr lvl="1"/>
            <a:r>
              <a:rPr lang="en-US" dirty="0"/>
              <a:t>Main Assumptions in Previous Works</a:t>
            </a:r>
          </a:p>
          <a:p>
            <a:pPr lvl="2"/>
            <a:r>
              <a:rPr lang="en-US" dirty="0"/>
              <a:t>Most studies considered only a single ground user. </a:t>
            </a:r>
          </a:p>
          <a:p>
            <a:pPr lvl="2"/>
            <a:r>
              <a:rPr lang="en-US" dirty="0"/>
              <a:t>Some studies assumed that the warden had an infinite number of observations in each time slot. </a:t>
            </a:r>
          </a:p>
          <a:p>
            <a:pPr lvl="1"/>
            <a:r>
              <a:rPr lang="en-US" dirty="0"/>
              <a:t>Research Gap</a:t>
            </a:r>
          </a:p>
          <a:p>
            <a:pPr lvl="2"/>
            <a:r>
              <a:rPr lang="en-US" dirty="0"/>
              <a:t>Covert UAV communication for multiple ground users remains insufficiently studied. </a:t>
            </a:r>
          </a:p>
          <a:p>
            <a:pPr lvl="2"/>
            <a:r>
              <a:rPr lang="en-US" dirty="0"/>
              <a:t>The impact of a warden with a limited number of observations must also be considered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3A48E-3D8D-1D97-621B-39060366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43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F2D7-912B-2020-E53D-9ACCBDAC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4DC8-86AA-0341-64FD-EA538492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Considered Multiuser Covert UAV System</a:t>
            </a:r>
          </a:p>
          <a:p>
            <a:pPr lvl="1"/>
            <a:r>
              <a:rPr lang="en-US" dirty="0"/>
              <a:t>System Scenario</a:t>
            </a:r>
          </a:p>
          <a:p>
            <a:pPr lvl="2"/>
            <a:r>
              <a:rPr lang="en-US" dirty="0"/>
              <a:t>One UAV transmits confidential information to multiple ground users. </a:t>
            </a:r>
          </a:p>
          <a:p>
            <a:pPr lvl="2"/>
            <a:r>
              <a:rPr lang="en-US" dirty="0"/>
              <a:t>A terrestrial warden attempts to detect the UAV’s transmission. </a:t>
            </a:r>
          </a:p>
          <a:p>
            <a:pPr lvl="2"/>
            <a:r>
              <a:rPr lang="en-US" dirty="0"/>
              <a:t>The warden knows the UAV’s exact location. </a:t>
            </a:r>
          </a:p>
          <a:p>
            <a:pPr lvl="2"/>
            <a:r>
              <a:rPr lang="en-US" dirty="0"/>
              <a:t>The UAV only knows an estimated location of the warden. </a:t>
            </a:r>
          </a:p>
          <a:p>
            <a:pPr lvl="1"/>
            <a:r>
              <a:rPr lang="en-US" dirty="0"/>
              <a:t>Multiuser Transmission</a:t>
            </a:r>
          </a:p>
          <a:p>
            <a:pPr lvl="2"/>
            <a:r>
              <a:rPr lang="en-US" dirty="0"/>
              <a:t>Time-Division Multiple Access (TDMA) is adopted. </a:t>
            </a:r>
          </a:p>
          <a:p>
            <a:pPr lvl="2"/>
            <a:r>
              <a:rPr lang="en-US" dirty="0"/>
              <a:t>Each time slot is assigned to one ground user. </a:t>
            </a:r>
          </a:p>
          <a:p>
            <a:pPr lvl="2"/>
            <a:r>
              <a:rPr lang="en-US" dirty="0"/>
              <a:t>The UAV can fly closer to the scheduled user to improve its communication rate. </a:t>
            </a:r>
          </a:p>
          <a:p>
            <a:pPr lvl="1"/>
            <a:r>
              <a:rPr lang="en-US" dirty="0"/>
              <a:t>Robust Covertness Requirement</a:t>
            </a:r>
          </a:p>
          <a:p>
            <a:pPr lvl="2"/>
            <a:r>
              <a:rPr lang="en-US" dirty="0"/>
              <a:t>Warden-location uncertainty is considered. </a:t>
            </a:r>
          </a:p>
          <a:p>
            <a:pPr lvl="2"/>
            <a:r>
              <a:rPr lang="en-US" dirty="0"/>
              <a:t>Covertness must be guaranteed under the worst-case possible warden location.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D6832-3243-213E-08F2-7C6B136D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73AD-F1C7-2952-DE08-BC0B71A0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2499D-B01B-17A5-5718-79DD1730C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Formulation and Proposed Solution</a:t>
            </a:r>
          </a:p>
          <a:p>
            <a:pPr lvl="1"/>
            <a:r>
              <a:rPr lang="en-US" dirty="0"/>
              <a:t>Optimization Objective</a:t>
            </a:r>
          </a:p>
          <a:p>
            <a:pPr lvl="2"/>
            <a:r>
              <a:rPr lang="en-US" dirty="0"/>
              <a:t>Maximize the worst-case average covert communication rate by jointly optimizing:</a:t>
            </a:r>
          </a:p>
          <a:p>
            <a:pPr lvl="3"/>
            <a:r>
              <a:rPr lang="en-US" dirty="0"/>
              <a:t>Time-slot allocation </a:t>
            </a:r>
          </a:p>
          <a:p>
            <a:pPr lvl="3"/>
            <a:r>
              <a:rPr lang="en-US" dirty="0"/>
              <a:t>UAV transmit-power allocation </a:t>
            </a:r>
          </a:p>
          <a:p>
            <a:pPr lvl="3"/>
            <a:r>
              <a:rPr lang="en-US" dirty="0"/>
              <a:t>UAV flight trajectory </a:t>
            </a:r>
          </a:p>
          <a:p>
            <a:pPr lvl="1"/>
            <a:r>
              <a:rPr lang="en-US" dirty="0"/>
              <a:t>Main Challenge</a:t>
            </a:r>
          </a:p>
          <a:p>
            <a:pPr lvl="2"/>
            <a:r>
              <a:rPr lang="en-US" dirty="0"/>
              <a:t>The joint optimization problem is non-convex. </a:t>
            </a:r>
          </a:p>
          <a:p>
            <a:pPr lvl="2"/>
            <a:r>
              <a:rPr lang="en-US" dirty="0"/>
              <a:t>The optimization variables are strongly coupled through: </a:t>
            </a:r>
          </a:p>
          <a:p>
            <a:pPr lvl="3"/>
            <a:r>
              <a:rPr lang="en-US" dirty="0"/>
              <a:t>Communication-rate constraints </a:t>
            </a:r>
          </a:p>
          <a:p>
            <a:pPr lvl="3"/>
            <a:r>
              <a:rPr lang="en-US" dirty="0"/>
              <a:t>Covertness constraints </a:t>
            </a:r>
          </a:p>
          <a:p>
            <a:pPr lvl="3"/>
            <a:r>
              <a:rPr lang="en-US" dirty="0"/>
              <a:t>UAV mobility constraints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CC6B4-D5E1-62B8-FE69-047770C6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54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D28E-A38F-76CE-742E-8A434184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EAA96-BD8F-D1E7-5A88-176971016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Problem Formulation and Proposed Solution</a:t>
                </a:r>
              </a:p>
              <a:p>
                <a:pPr lvl="1"/>
                <a:r>
                  <a:rPr lang="en-US" dirty="0"/>
                  <a:t>Proposed Solution</a:t>
                </a:r>
              </a:p>
              <a:p>
                <a:pPr lvl="2"/>
                <a:r>
                  <a:rPr lang="en-US" dirty="0"/>
                  <a:t>Analyze the covertness constraint from: </a:t>
                </a:r>
              </a:p>
              <a:p>
                <a:pPr lvl="3"/>
                <a:r>
                  <a:rPr lang="en-US" dirty="0"/>
                  <a:t>The warden’s perspective </a:t>
                </a:r>
              </a:p>
              <a:p>
                <a:pPr lvl="3"/>
                <a:r>
                  <a:rPr lang="en-US" dirty="0"/>
                  <a:t>The UAV’s perspective </a:t>
                </a:r>
              </a:p>
              <a:p>
                <a:pPr lvl="2"/>
                <a:r>
                  <a:rPr lang="en-US" dirty="0"/>
                  <a:t>Develop a low-complexity iterative algorithm based on Block Coordinate Descent (BCD). </a:t>
                </a:r>
              </a:p>
              <a:p>
                <a:pPr lvl="2"/>
                <a:r>
                  <a:rPr lang="en-US" dirty="0"/>
                  <a:t>Alternately optimize: 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Trajectory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Design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Expected Benefit</a:t>
                </a:r>
              </a:p>
              <a:p>
                <a:pPr lvl="2"/>
                <a:r>
                  <a:rPr lang="en-US" dirty="0"/>
                  <a:t>Improved multiuser covert rate </a:t>
                </a:r>
              </a:p>
              <a:p>
                <a:pPr lvl="2"/>
                <a:r>
                  <a:rPr lang="en-US" dirty="0"/>
                  <a:t>Robustness against warden-location uncertainty </a:t>
                </a:r>
              </a:p>
              <a:p>
                <a:pPr lvl="2"/>
                <a:r>
                  <a:rPr lang="en-US" dirty="0"/>
                  <a:t>Effective utilization of UAV mobility and communication resources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EAA96-BD8F-D1E7-5A88-176971016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4FA44-8AF7-F930-2212-768F54AD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2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C655-8630-E1DB-5908-DF5C7023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1CFB1C-70A9-682F-8CDF-5501E582F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990" y="1739021"/>
            <a:ext cx="8122067" cy="41721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39A07-430A-6CE4-7A56-B2E7214D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22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EEC67-BD66-5FE2-ACF0-24711E4C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06BDC-1872-5C6A-4184-909666366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System Overview</a:t>
                </a:r>
              </a:p>
              <a:p>
                <a:pPr lvl="1"/>
                <a:r>
                  <a:rPr lang="en-US" dirty="0"/>
                  <a:t>UAV-Enabled Multiuser Covert Communication</a:t>
                </a:r>
              </a:p>
              <a:p>
                <a:pPr lvl="2"/>
                <a:r>
                  <a:rPr lang="en-US" dirty="0"/>
                  <a:t>One UAV transmits confidential data to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 ground users. </a:t>
                </a:r>
              </a:p>
              <a:p>
                <a:pPr lvl="2"/>
                <a:r>
                  <a:rPr lang="en-US" dirty="0"/>
                  <a:t>A ground warden tries to detect whether the UAV is transmitting. </a:t>
                </a:r>
              </a:p>
              <a:p>
                <a:pPr lvl="2"/>
                <a:r>
                  <a:rPr lang="en-US" dirty="0"/>
                  <a:t>The UAV aims to communicate while hiding its transmission. </a:t>
                </a:r>
              </a:p>
              <a:p>
                <a:pPr lvl="1"/>
                <a:r>
                  <a:rPr lang="en-US" dirty="0"/>
                  <a:t>Node Locations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])</m:t>
                        </m:r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location of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𝐰</m:t>
                    </m:r>
                  </m:oMath>
                </a14:m>
                <a:r>
                  <a:rPr lang="en-US" dirty="0"/>
                  <a:t>: location of the warden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UAV horizontal location at time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06BDC-1872-5C6A-4184-909666366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072B5-EF73-8748-33A3-3B6123BE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50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5E56-B9C1-CB45-2D0D-6AA17A09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5929E-074E-3E13-6AEA-EC2A48A7C2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 Discretization and UAV Trajectory</a:t>
                </a:r>
              </a:p>
              <a:p>
                <a:pPr lvl="1"/>
                <a:r>
                  <a:rPr lang="en-US" dirty="0"/>
                  <a:t>Flight Period Division</a:t>
                </a:r>
              </a:p>
              <a:p>
                <a:pPr lvl="2"/>
                <a:r>
                  <a:rPr lang="en-US" dirty="0"/>
                  <a:t>The total flight time </a:t>
                </a:r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</m:oMath>
                </a14:m>
                <a:r>
                  <a:rPr lang="en-US" dirty="0"/>
                  <a:t> is divided into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equal time slots: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𝛿</m:t>
                        </m:r>
                      </m:e>
                      <m:sub>
                        <m:r>
                          <a:rPr lang="en-US" i="1"/>
                          <m:t>𝑡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𝑇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UAV position is assumed almost unchanged within each slot when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is sufficiently large.</a:t>
                </a:r>
              </a:p>
              <a:p>
                <a:pPr lvl="1"/>
                <a:r>
                  <a:rPr lang="en-US" dirty="0"/>
                  <a:t>Trajectory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  <m:r>
                      <a:rPr lang="en-US"/>
                      <m:t>=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Initial and Final Position Constraints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/>
                          <m:t>1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𝐼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𝑁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𝐼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are fixed takeoff and landing points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5929E-074E-3E13-6AEA-EC2A48A7C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8C70D-70CB-A72C-6AD6-C9FB0BF8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09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980A-E8F9-8499-890D-DE4E4D5D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01F6F-F50B-AA2B-5B5F-A7850528C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UAV Mobility Constraint</a:t>
                </a:r>
              </a:p>
              <a:p>
                <a:pPr lvl="1"/>
                <a:r>
                  <a:rPr lang="en-US" dirty="0"/>
                  <a:t>Maximum Speed Constraint</a:t>
                </a:r>
              </a:p>
              <a:p>
                <a:pPr lvl="2"/>
                <a:r>
                  <a:rPr lang="en-US" dirty="0"/>
                  <a:t>If the UAV has maximum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, then the maximum travelling distance in each slot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𝛿</m:t>
                        </m:r>
                      </m:e>
                      <m:sub>
                        <m:r>
                          <a:rPr lang="en-US" i="1"/>
                          <m:t>𝑡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sub>
                        </m:sSub>
                        <m:r>
                          <a:rPr lang="en-US" i="1"/>
                          <m:t>𝑇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  <m:r>
                          <a:rPr lang="en-US"/>
                          <m:t>+1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max</m:t>
                                    </m:r>
                                  </m:sub>
                                </m:sSub>
                                <m:r>
                                  <a:rPr lang="en-US" i="1"/>
                                  <m:t>𝑇</m:t>
                                </m:r>
                              </m:num>
                              <m:den>
                                <m:r>
                                  <a:rPr lang="en-US" i="1"/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  <m:r>
                      <a:rPr lang="en-US"/>
                      <m:t>=1,…,</m:t>
                    </m:r>
                    <m:r>
                      <a:rPr lang="en-US" i="1"/>
                      <m:t>𝑁</m:t>
                    </m:r>
                    <m:r>
                      <a:rPr lang="en-US"/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Interpretation</a:t>
                </a:r>
              </a:p>
              <a:p>
                <a:pPr lvl="2"/>
                <a:r>
                  <a:rPr lang="en-US" dirty="0"/>
                  <a:t>The UAV cannot move arbitrarily between two consecutive slots. </a:t>
                </a:r>
              </a:p>
              <a:p>
                <a:pPr lvl="2"/>
                <a:r>
                  <a:rPr lang="en-US" dirty="0"/>
                  <a:t>This constraint makes the trajectory physically feasible. 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i="1"/>
                      <m:t>𝑁</m:t>
                    </m:r>
                  </m:oMath>
                </a14:m>
                <a:r>
                  <a:rPr lang="en-US" dirty="0"/>
                  <a:t>gives better trajectory accuracy but increases computational complexity.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01F6F-F50B-AA2B-5B5F-A7850528C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367BC-75EE-2073-F343-CE8C22C9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204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5FCF-B003-1F58-D4B8-7E0E079F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A92BD8-82FA-0A94-AEE0-4557EBD12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Air-to-Ground Channel Model</a:t>
                </a:r>
              </a:p>
              <a:p>
                <a:pPr lvl="1"/>
                <a:r>
                  <a:rPr lang="en-US" dirty="0"/>
                  <a:t>Fixed UAV Altitude</a:t>
                </a:r>
              </a:p>
              <a:p>
                <a:pPr lvl="2"/>
                <a:r>
                  <a:rPr lang="en-US" dirty="0"/>
                  <a:t>The UAV flies at a fixed altitude </a:t>
                </a:r>
                <a14:m>
                  <m:oMath xmlns:m="http://schemas.openxmlformats.org/officeDocument/2006/math">
                    <m:r>
                      <a:rPr lang="en-US" i="1"/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The 3D distance between UAV and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ad>
                      <m:radPr>
                        <m:degHide m:val="on"/>
                        <m:ctrlPr>
                          <a:rPr lang="en-US" i="1"/>
                        </m:ctrlPr>
                      </m:radPr>
                      <m:deg/>
                      <m:e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3D distance between UAV and warden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ad>
                      <m:radPr>
                        <m:degHide m:val="on"/>
                        <m:ctrlPr>
                          <a:rPr lang="en-US" i="1"/>
                        </m:ctrlPr>
                      </m:radPr>
                      <m:deg/>
                      <m:e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0" dirty="0"/>
              </a:p>
              <a:p>
                <a:pPr lvl="1"/>
                <a:r>
                  <a:rPr lang="en-US" dirty="0" err="1"/>
                  <a:t>LoS</a:t>
                </a:r>
                <a:r>
                  <a:rPr lang="en-US" dirty="0"/>
                  <a:t> Channel Gain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/>
                      <m:t>𝛽</m:t>
                    </m:r>
                  </m:oMath>
                </a14:m>
                <a:r>
                  <a:rPr lang="en-US" dirty="0"/>
                  <a:t> is the reference channel gain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=1</m:t>
                    </m:r>
                  </m:oMath>
                </a14:m>
                <a:r>
                  <a:rPr lang="en-US" dirty="0"/>
                  <a:t>m.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A92BD8-82FA-0A94-AEE0-4557EBD12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DFE56-5AC9-F5E1-2318-89A7F55E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922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8157-5968-EE8B-F1E9-B7008BDCF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60C6-3B8D-3867-0D62-091B6AC5BC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Warden’s Binary Hypothesis Test</a:t>
                </a:r>
              </a:p>
              <a:p>
                <a:pPr lvl="1"/>
                <a:r>
                  <a:rPr lang="en-US" dirty="0"/>
                  <a:t>Detection Problem</a:t>
                </a:r>
              </a:p>
              <a:p>
                <a:pPr lvl="2"/>
                <a:r>
                  <a:rPr lang="en-US" dirty="0"/>
                  <a:t>The warden decides between two hypotheses: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UAV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transmitting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UAV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transmitting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the </a:t>
                </a:r>
                <a14:m>
                  <m:oMath xmlns:m="http://schemas.openxmlformats.org/officeDocument/2006/math">
                    <m:r>
                      <a:rPr lang="en-US" i="1"/>
                      <m:t>𝑙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observation in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i="1"/>
                                  </m:ctrlPr>
                                </m:sSubSup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  <m:sub>
                                  <m:r>
                                    <a:rPr lang="en-US" i="1"/>
                                    <m:t>𝑤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𝑙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/>
                                    <m:t>ℋ</m:t>
                                  </m:r>
                                </m:e>
                                <m:sub>
                                  <m:r>
                                    <a:rPr lang="en-US"/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/>
                                  </m:ctrlPr>
                                </m:radPr>
                                <m:deg/>
                                <m:e>
                                  <m:r>
                                    <a:rPr lang="en-US" i="1"/>
                                    <m:t>𝑃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𝑢𝑤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</m:e>
                              </m:rad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𝑙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+</m:t>
                              </m:r>
                              <m:sSubSup>
                                <m:sSubSupPr>
                                  <m:ctrlPr>
                                    <a:rPr lang="en-US" i="1"/>
                                  </m:ctrlPr>
                                </m:sSubSup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  <m:sub>
                                  <m:r>
                                    <a:rPr lang="en-US" i="1"/>
                                    <m:t>𝑤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𝑙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/>
                                    <m:t>ℋ</m:t>
                                  </m:r>
                                </m:e>
                                <m:sub>
                                  <m:r>
                                    <a:rPr lang="en-US"/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𝑛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760C6-3B8D-3867-0D62-091B6AC5B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F650E-3ADF-76AC-7449-00BEE9CF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500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09F2-7DE2-839C-59A7-0DFA0F49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A4251-3458-0E94-D4F1-C7996E460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Received Signal Distribution at the Warden</a:t>
                </a:r>
              </a:p>
              <a:p>
                <a:pPr lvl="1"/>
                <a:r>
                  <a:rPr lang="en-US" dirty="0"/>
                  <a:t>Under No Transmission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Under UAV Transmission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Key Observation</a:t>
                </a:r>
              </a:p>
              <a:p>
                <a:pPr lvl="2"/>
                <a:r>
                  <a:rPr lang="en-US" dirty="0"/>
                  <a:t>The warden detects transmission by checking whether the received power increases.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&gt;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can detect the UAV more easily when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large.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A4251-3458-0E94-D4F1-C7996E460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56AA-9456-43F4-E3F2-90AE2BE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40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5C58-1EF1-42AC-D1AA-9BF1C7FE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0B48-BE5E-801A-2DB7-74D764806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Detection Error Probability</a:t>
                </a:r>
              </a:p>
              <a:p>
                <a:pPr lvl="1"/>
                <a:r>
                  <a:rPr lang="en-US" dirty="0"/>
                  <a:t>Warden’s Decisions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/>
                      <m:t>decide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</m:t>
                    </m:r>
                    <m:r>
                      <m:rPr>
                        <m:nor/>
                      </m:rPr>
                      <a:rPr lang="en-US"/>
                      <m:t>decide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False Alarm Probability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𝐷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decides that the UAV is transmitting although it is silent.</a:t>
                </a:r>
              </a:p>
              <a:p>
                <a:pPr lvl="1"/>
                <a:r>
                  <a:rPr lang="en-US" dirty="0"/>
                  <a:t>Miss Detection Probability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𝐷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decides that the UAV is silent although it is transmitting.</a:t>
                </a:r>
              </a:p>
              <a:p>
                <a:pPr lvl="1"/>
                <a:r>
                  <a:rPr lang="en-US" dirty="0"/>
                  <a:t>Total Detection Error Probability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0B48-BE5E-801A-2DB7-74D764806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09C40-630D-49A5-0725-31D803DA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722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1D2C-F83A-B115-A3E0-6C7FA566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09CE52-9FDB-03BF-6F73-4ECD42EA7D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Covertness Constraint</a:t>
                </a:r>
              </a:p>
              <a:p>
                <a:pPr lvl="1"/>
                <a:r>
                  <a:rPr lang="en-US" dirty="0"/>
                  <a:t>Covert Communication Requirement</a:t>
                </a:r>
              </a:p>
              <a:p>
                <a:pPr lvl="2"/>
                <a:r>
                  <a:rPr lang="en-US" dirty="0"/>
                  <a:t>The UAV wants the warden to be highly confused: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≈1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 formal covertness constraint is: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  <m:r>
                      <a:rPr lang="en-US"/>
                      <m:t>, ∀</m:t>
                    </m:r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r>
                      <a:rPr lang="en-US" i="1"/>
                      <m:t>𝜖</m:t>
                    </m:r>
                    <m:r>
                      <a:rPr lang="en-US"/>
                      <m:t>≤1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Interpretation</a:t>
                </a:r>
              </a:p>
              <a:p>
                <a:pPr lvl="2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/>
                      <m:t>𝜖</m:t>
                    </m:r>
                  </m:oMath>
                </a14:m>
                <a:r>
                  <a:rPr lang="en-US" dirty="0"/>
                  <a:t>means stricter covertness. 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close to 1, the warden cannot reliably distinguish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The UAV must control its power and trajectory to keep the signal weak at the warden.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09CE52-9FDB-03BF-6F73-4ECD42EA7D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B1DD-4EC9-A52F-22B9-C44C0B4C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645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A706-42FD-5886-DCCA-75D52A99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50628-5F9C-DA76-9658-3CF43B5A6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Energy Detector Expansion</a:t>
                </a:r>
              </a:p>
              <a:p>
                <a:pPr lvl="1"/>
                <a:r>
                  <a:rPr lang="en-US" dirty="0"/>
                  <a:t>Test Statistic</a:t>
                </a:r>
              </a:p>
              <a:p>
                <a:pPr lvl="2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observations, the warden can use the average received energy: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𝐿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  <m:e>
                        <m:r>
                          <a:rPr lang="en-US"/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warden compares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with a threshold </a:t>
                </a:r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τ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lvl="1"/>
                <a:r>
                  <a:rPr lang="en-US" dirty="0"/>
                  <a:t>False Alarm and Miss Detection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&gt;</m:t>
                        </m:r>
                        <m:r>
                          <a:rPr lang="en-US" i="1"/>
                          <m:t>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≤</m:t>
                        </m:r>
                        <m:r>
                          <a:rPr lang="en-US" i="1"/>
                          <m:t>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Effect of Limited Observations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: warden estimates signal energy more accurately. </a:t>
                </a:r>
              </a:p>
              <a:p>
                <a:pPr lvl="2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: detection becomes less reliable. </a:t>
                </a:r>
              </a:p>
              <a:p>
                <a:pPr lvl="2"/>
                <a:r>
                  <a:rPr lang="en-US" dirty="0"/>
                  <a:t>Therefore, limited observations help covert transmission.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50628-5F9C-DA76-9658-3CF43B5A6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E1B3A-F21D-BF96-0ACC-BD05AC62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650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5CFF-8462-5C59-E92E-07A47E5D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604CC9-37EA-83BE-0796-AF204027F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TDMA-Based Multiuser Transmission</a:t>
                </a:r>
              </a:p>
              <a:p>
                <a:pPr lvl="1"/>
                <a:r>
                  <a:rPr lang="en-US" dirty="0"/>
                  <a:t>User Scheduling Variable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/>
                                <m:t>1,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UAV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serves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a:rPr lang="en-US" i="1"/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in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slot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a:rPr lang="en-US" i="1"/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/>
                                <m:t>0,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TDMA Constraint</a:t>
                </a:r>
              </a:p>
              <a:p>
                <a:pPr lvl="2"/>
                <a:r>
                  <a:rPr lang="en-US" dirty="0"/>
                  <a:t>The UAV can serve at most one user per slot: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≤1, ∀</m:t>
                    </m:r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Achievable Rate of User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604CC9-37EA-83BE-0796-AF204027F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48E05-54BA-217A-3ABD-6A08633F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8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9A0-60FE-34F5-925C-22A179E8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ABFB-63CD-6018-5B44-7F6DAD9DB0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Rate Expansion Using Channel Gain</a:t>
                </a:r>
              </a:p>
              <a:p>
                <a:pPr lvl="1"/>
                <a:r>
                  <a:rPr lang="en-US" dirty="0"/>
                  <a:t>Substituting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into the rate expression: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/>
                                  <m:t>∥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𝐪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𝑢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𝐬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∥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r>
                                  <a:rPr lang="en-US"/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Interpretation</a:t>
                </a:r>
              </a:p>
              <a:p>
                <a:pPr lvl="2"/>
                <a:r>
                  <a:rPr lang="en-US" dirty="0"/>
                  <a:t>The rate increases when: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↓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UAV should fly closer to the scheduled user, but not too close to the warden.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DABFB-63CD-6018-5B44-7F6DAD9DB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BDC59-8481-0C18-D8B1-7E50EACA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299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88B9-BED6-51EF-9E71-ECFFA337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734294-B468-8175-8183-941088E2E9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Core Tradeoff</a:t>
                </a:r>
              </a:p>
              <a:p>
                <a:pPr lvl="1"/>
                <a:r>
                  <a:rPr lang="en-US" dirty="0"/>
                  <a:t>Communication Objective</a:t>
                </a:r>
              </a:p>
              <a:p>
                <a:pPr lvl="2"/>
                <a:r>
                  <a:rPr lang="en-US" dirty="0"/>
                  <a:t>For high user rate: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should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large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Covertness Objective</a:t>
                </a:r>
              </a:p>
              <a:p>
                <a:pPr lvl="2"/>
                <a:r>
                  <a:rPr lang="en-US" dirty="0"/>
                  <a:t>For hiding from the warden: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should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small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Main Design Conflict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Increase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a:rPr lang="en-US" b="0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b="0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r>
                      <m:rPr>
                        <m:nor/>
                      </m:rPr>
                      <a:rPr lang="en-US"/>
                      <m:t>higher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user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rate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Increase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a:rPr lang="en-US" b="0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b="0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r>
                      <m:rPr>
                        <m:nor/>
                      </m:rPr>
                      <a:rPr lang="en-US"/>
                      <m:t>easier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detection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warden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</a:t>
                </a:r>
              </a:p>
              <a:p>
                <a:pPr lvl="2"/>
                <a:r>
                  <a:rPr lang="en-US" dirty="0"/>
                  <a:t>The UAV must jointly optimize: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to balance rate maximization and covertness.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734294-B468-8175-8183-941088E2E9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C75A8-079A-7C79-874D-B79D89F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460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B4E1-E228-FF0F-1C0B-0838F589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A4E908-5C2B-C963-6DC8-A70610DF16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Joint Resource Allocation and Trajectory Design</a:t>
                </a:r>
              </a:p>
              <a:p>
                <a:pPr lvl="1"/>
                <a:r>
                  <a:rPr lang="en-US" dirty="0"/>
                  <a:t>Optimization Variables</a:t>
                </a:r>
              </a:p>
              <a:p>
                <a:pPr lvl="2"/>
                <a:r>
                  <a:rPr lang="en-US" dirty="0"/>
                  <a:t>The UAV jointly optimizes: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/>
                      <m:t>𝜶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  <m:r>
                      <a:rPr lang="en-US" i="1"/>
                      <m:t>𝑛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∀</m:t>
                    </m:r>
                    <m:r>
                      <a:rPr lang="en-US" i="1"/>
                      <m:t>𝑛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∀</m:t>
                    </m:r>
                    <m:r>
                      <a:rPr lang="en-US" i="1"/>
                      <m:t>𝑛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scheduling indicator for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UAV transmit power in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 UAV horizontal position in slot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Average Rate of User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objective is to maximize the minimum average rate among all users.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A4E908-5C2B-C963-6DC8-A70610DF16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5F245-605F-5B30-4ECF-75BF7B58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35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2904-DE98-BC0E-8B25-5EC02E9F5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4F0D4F-DFAA-AB8A-BF48-E64763F36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Original Optimization Problem</a:t>
                </a:r>
              </a:p>
              <a:p>
                <a:pPr lvl="1"/>
                <a:r>
                  <a:rPr lang="en-US" dirty="0"/>
                  <a:t>Introduce a slack variable </a:t>
                </a:r>
                <a14:m>
                  <m:oMath xmlns:m="http://schemas.openxmlformats.org/officeDocument/2006/math">
                    <m:r>
                      <a:rPr lang="en-US" i="1"/>
                      <m:t>𝜂</m:t>
                    </m:r>
                  </m:oMath>
                </a14:m>
                <a:r>
                  <a:rPr lang="en-US" dirty="0"/>
                  <a:t>, representing the minimum average user rate:</a:t>
                </a:r>
              </a:p>
              <a:p>
                <a:pPr lvl="2"/>
                <a14:m>
                  <m:oMath xmlns:m="http://schemas.openxmlformats.org/officeDocument/2006/math">
                    <m:borderBox>
                      <m:borderBoxPr>
                        <m:ctrlPr>
                          <a:rPr lang="en-US"/>
                        </m:ctrlPr>
                      </m:borderBoxPr>
                      <m:e>
                        <m:limLow>
                          <m:limLowPr>
                            <m:ctrlPr>
                              <a:rPr lang="en-US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r>
                              <a:rPr lang="en-US" i="1"/>
                              <m:t>𝜂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 i="1"/>
                              <m:t>𝜶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/>
                              <m:t>𝐏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/>
                              <m:t>𝐐</m:t>
                            </m:r>
                          </m:lim>
                        </m:limLow>
                        <m:r>
                          <a:rPr lang="en-US"/>
                          <m:t> </m:t>
                        </m:r>
                        <m:r>
                          <a:rPr lang="en-US" i="1"/>
                          <m:t>𝜂</m:t>
                        </m:r>
                      </m:e>
                    </m:borderBox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:r>
                  <a:rPr lang="en-US" dirty="0"/>
                  <a:t>Minimum Average Rate Constraint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/>
                        </m:ctrlPr>
                      </m:mPr>
                      <m:mr>
                        <m:e/>
                        <m:e>
                          <m:f>
                            <m:fPr>
                              <m:ctrlPr>
                                <a:rPr lang="en-US"/>
                              </m:ctrlPr>
                            </m:fPr>
                            <m:num>
                              <m:r>
                                <a:rPr lang="en-US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ctrlPr>
                                <a:rPr lang="en-US" i="1"/>
                              </m:ctrlPr>
                            </m:naryPr>
                            <m:sub>
                              <m:r>
                                <a:rPr lang="en-US" i="1"/>
                                <m:t>𝑛</m:t>
                              </m:r>
                              <m:r>
                                <a:rPr lang="en-US"/>
                                <m:t>=1</m:t>
                              </m:r>
                            </m:sub>
                            <m:sup>
                              <m:r>
                                <a:rPr lang="en-US" i="1"/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𝛼</m:t>
                                  </m:r>
                                </m:e>
                                <m:sub>
                                  <m:r>
                                    <a:rPr lang="en-US" i="1"/>
                                    <m:t>𝑘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log</m:t>
                              </m:r>
                            </m:e>
                            <m:sub>
                              <m:r>
                                <a:rPr lang="en-US"/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/>
                                <m:t>1+</m:t>
                              </m:r>
                              <m:f>
                                <m:fPr>
                                  <m:ctrlPr>
                                    <a:rPr lang="en-US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𝑃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𝑢𝑘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/>
                                      </m:ctrlPr>
                                    </m:sSupPr>
                                    <m:e>
                                      <m:r>
                                        <a:rPr lang="en-US" i="1"/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/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/>
                            <m:t>≥</m:t>
                          </m:r>
                          <m:r>
                            <a:rPr lang="en-US" i="1"/>
                            <m:t>𝜂</m:t>
                          </m:r>
                          <m:r>
                            <a:rPr lang="en-US"/>
                            <m:t>, ∀</m:t>
                          </m:r>
                          <m:r>
                            <a:rPr lang="en-US" i="1"/>
                            <m:t>𝑘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en-US"/>
                            <m:t>(9</m:t>
                          </m:r>
                          <m:r>
                            <m:rPr>
                              <m:nor/>
                            </m:rPr>
                            <a:rPr lang="en-US"/>
                            <m:t>b</m:t>
                          </m:r>
                          <m:r>
                            <m:rPr>
                              <m:nor/>
                            </m:rPr>
                            <a:rPr lang="en-US"/>
                            <m:t>)</m:t>
                          </m:r>
                        </m:e>
                      </m:mr>
                    </m:m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Covertness Constraint</a:t>
                </a:r>
              </a:p>
              <a:p>
                <a:pPr lvl="2"/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/>
                        </m:ctrlPr>
                      </m:mPr>
                      <m:mr>
                        <m:e/>
                        <m:e>
                          <m:sSub>
                            <m:sSubPr>
                              <m:ctrlPr>
                                <a:rPr lang="en-US"/>
                              </m:ctrlPr>
                            </m:sSubPr>
                            <m:e>
                              <m:r>
                                <a:rPr lang="en-US" i="1"/>
                                <m:t>𝑃</m:t>
                              </m:r>
                            </m:e>
                            <m:sub>
                              <m:r>
                                <a:rPr lang="en-US" i="1"/>
                                <m:t>𝐹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</m:e>
                          </m:d>
                          <m:r>
                            <a:rPr lang="en-US"/>
                            <m:t>+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𝑃</m:t>
                              </m:r>
                            </m:e>
                            <m:sub>
                              <m:r>
                                <a:rPr lang="en-US" i="1"/>
                                <m:t>𝑀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𝑛</m:t>
                              </m:r>
                            </m:e>
                          </m:d>
                          <m:r>
                            <a:rPr lang="en-US"/>
                            <m:t>≥1−</m:t>
                          </m:r>
                          <m:r>
                            <a:rPr lang="en-US" i="1"/>
                            <m:t>𝜖</m:t>
                          </m:r>
                          <m:r>
                            <a:rPr lang="en-US"/>
                            <m:t>, ∀</m:t>
                          </m:r>
                          <m:r>
                            <a:rPr lang="en-US" i="1"/>
                            <m:t>𝑛</m:t>
                          </m:r>
                        </m:e>
                        <m:e/>
                        <m:e>
                          <m:r>
                            <m:rPr>
                              <m:nor/>
                            </m:rPr>
                            <a:rPr lang="en-US"/>
                            <m:t>(9</m:t>
                          </m:r>
                          <m:r>
                            <m:rPr>
                              <m:nor/>
                            </m:rPr>
                            <a:rPr lang="en-US"/>
                            <m:t>c</m:t>
                          </m:r>
                          <m:r>
                            <m:rPr>
                              <m:nor/>
                            </m:rPr>
                            <a:rPr lang="en-US"/>
                            <m:t>)</m:t>
                          </m:r>
                        </m:e>
                      </m:mr>
                    </m:m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Thus, maximizing </a:t>
                </a:r>
                <a14:m>
                  <m:oMath xmlns:m="http://schemas.openxmlformats.org/officeDocument/2006/math">
                    <m:r>
                      <a:rPr lang="en-US" i="1"/>
                      <m:t>𝜂</m:t>
                    </m:r>
                  </m:oMath>
                </a14:m>
                <a:r>
                  <a:rPr lang="en-US" dirty="0"/>
                  <a:t>provides </a:t>
                </a:r>
                <a:r>
                  <a:rPr lang="en-US" b="1" dirty="0"/>
                  <a:t>max-min fairness</a:t>
                </a:r>
                <a:r>
                  <a:rPr lang="en-US" dirty="0"/>
                  <a:t> among the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users.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4F0D4F-DFAA-AB8A-BF48-E64763F36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135E7-C0B6-983A-B3BB-335D8000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016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5A59-FFC1-297E-7D6B-B32C0805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6CA1E-E656-1523-701B-BCE4FDB4A6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Scheduling, Power, and Mobility Constraints</a:t>
                </a:r>
              </a:p>
              <a:p>
                <a:pPr lvl="1"/>
                <a:r>
                  <a:rPr lang="en-US" dirty="0"/>
                  <a:t>Binary User Scheduling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      (9d)</a:t>
                </a:r>
              </a:p>
              <a:p>
                <a:pPr lvl="1"/>
                <a:r>
                  <a:rPr lang="en-US" dirty="0"/>
                  <a:t>TDMA Constraint</a:t>
                </a:r>
              </a:p>
              <a:p>
                <a:pPr lvl="2"/>
                <a:r>
                  <a:rPr lang="en-US" dirty="0"/>
                  <a:t>The UAV serves at most one user per time slot: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≤1,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(9e)</a:t>
                </a:r>
              </a:p>
              <a:p>
                <a:pPr lvl="1"/>
                <a:r>
                  <a:rPr lang="en-US" dirty="0"/>
                  <a:t>Maximum-Speed Constraint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(9f)</a:t>
                </a:r>
              </a:p>
              <a:p>
                <a:pPr lvl="1"/>
                <a:r>
                  <a:rPr lang="en-US" dirty="0"/>
                  <a:t>Initial and Final Positions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b="1" dirty="0"/>
                  <a:t>                               </a:t>
                </a:r>
                <a:r>
                  <a:rPr lang="en-US" dirty="0"/>
                  <a:t>(9g)</a:t>
                </a:r>
              </a:p>
              <a:p>
                <a:pPr lvl="1"/>
                <a:r>
                  <a:rPr lang="en-US" dirty="0"/>
                  <a:t>Transmit-Power Constraint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           (9h)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6CA1E-E656-1523-701B-BCE4FDB4A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70A22-57F5-6B8B-5D2D-23696922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304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C659-5014-91C3-1C5C-BF281447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42BD1-8BCC-72D4-AFAF-C22AFF527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Is Problem (9) Difficult?</a:t>
                </a:r>
              </a:p>
              <a:p>
                <a:pPr lvl="1"/>
                <a:r>
                  <a:rPr lang="en-US" dirty="0"/>
                  <a:t>The optimization problem is non-convex because of three major issues.</a:t>
                </a:r>
              </a:p>
              <a:p>
                <a:pPr lvl="1"/>
                <a:r>
                  <a:rPr lang="en-US" dirty="0"/>
                  <a:t>1. Coupled Rate Constraint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𝐬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rate becomes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/>
                                  <m:t>∥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𝐪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𝑢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b="1"/>
                                      <m:t>𝐬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∥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r>
                                  <a:rPr lang="en-US"/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are strongly coupled.</a:t>
                </a:r>
              </a:p>
              <a:p>
                <a:pPr lvl="1"/>
                <a:r>
                  <a:rPr lang="en-US" dirty="0"/>
                  <a:t>2. Complicated Covertness Constraint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 incomplete Gamma functions and depends nonlinearly on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3. Integer Scheduling Variable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makes the problem a mixed-integer non-convex optimization problem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42BD1-8BCC-72D4-AFAF-C22AFF527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92619-9D39-36C5-8FD2-FC012635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634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2A6B-2F9F-7E4E-BB2E-415532E8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EBC26-7BBF-5431-F4FD-A7AC3BDF6D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Warden’s Received-Signal Variances</a:t>
                </a:r>
              </a:p>
              <a:p>
                <a:pPr lvl="1"/>
                <a:r>
                  <a:rPr lang="en-US" dirty="0"/>
                  <a:t>Define the collection of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observations as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𝐘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𝑦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𝑙</m:t>
                                    </m:r>
                                  </m:e>
                                </m:d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</m:sSubSup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Under the two hypotheses: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: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a:rPr lang="en-US"/>
                      <m:t>𝒞𝒩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EBC26-7BBF-5431-F4FD-A7AC3BDF6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BF44C-5BEE-0F22-8167-E2846DE7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888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65C9-6465-FE74-6954-CEC8DE0F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2AAD9-9844-1BA6-AA11-A044A4EDB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Likelihood Functions</a:t>
                </a:r>
              </a:p>
              <a:p>
                <a:pPr lvl="1"/>
                <a:r>
                  <a:rPr lang="en-US" dirty="0"/>
                  <a:t>Following the paper notation, the likelihood function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𝐘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ra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∏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sup>
                                </m:sSub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                       (10)</a:t>
                </a:r>
              </a:p>
              <a:p>
                <a:pPr lvl="1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𝐘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rad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∏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e>
                                    </m:d>
                                  </m:sup>
                                </m:sSub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b="0" dirty="0"/>
                  <a:t>                        (11)</a:t>
                </a:r>
              </a:p>
              <a:p>
                <a:pPr lvl="1"/>
                <a:r>
                  <a:rPr lang="en-US" dirty="0"/>
                  <a:t>The warden distinguishes the hypotheses based on the difference between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/>
                      <m:t> 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 larger received UAV signal power produces a larger variance difference and makes detection easier.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2AAD9-9844-1BA6-AA11-A044A4EDB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B4C1C-762E-2E21-0AE4-FDBCF846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56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F26C-0CAD-DE83-5DE5-8D23A47B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7B933-31EE-575F-FCA6-7AC7D54C7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Log-Likelihood Ratio Test</a:t>
                </a:r>
              </a:p>
              <a:p>
                <a:pPr lvl="1"/>
                <a:r>
                  <a:rPr lang="en-US" dirty="0"/>
                  <a:t>The log-likelihood ratio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ℒ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𝑓</m:t>
                            </m:r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b="1"/>
                                  <m:t>𝐘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ℋ</m:t>
                                    </m:r>
                                  </m:e>
                                  <m:sub>
                                    <m:r>
                                      <a:rPr lang="en-US"/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/>
                              <m:t>𝑓</m:t>
                            </m:r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b="1"/>
                                  <m:t>𝐘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ℋ</m:t>
                                    </m:r>
                                  </m:e>
                                  <m:sub>
                                    <m:r>
                                      <a:rPr lang="en-US"/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Substituting the likelihood functions gives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equal prior probabilities,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(13)</a:t>
                </a:r>
              </a:p>
              <a:p>
                <a:pPr lvl="1"/>
                <a:r>
                  <a:rPr lang="en-US" dirty="0"/>
                  <a:t>Thus, the warden uses a likelihood-ratio-based optimal detector.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7B933-31EE-575F-FCA6-7AC7D54C7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6D6D7-B107-2EC1-7AA1-0F5ABC7E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552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31F-2622-2448-468D-BB3C9E85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3EB99-51E4-F677-3513-C241625E37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Equivalent Energy Detection Rule</a:t>
                </a:r>
              </a:p>
              <a:p>
                <a:pPr lvl="1"/>
                <a:r>
                  <a:rPr lang="en-US" dirty="0"/>
                  <a:t>Define the total received energy: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≜</m:t>
                    </m:r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  <m:e>
                        <m:r>
                          <a:rPr lang="en-US"/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likelihood-ratio test can be rewritten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                            (14)</a:t>
                </a:r>
              </a:p>
              <a:p>
                <a:pPr lvl="1"/>
                <a:r>
                  <a:rPr lang="en-US" dirty="0"/>
                  <a:t>Where the optimal threshold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or equivalently,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𝐿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/>
                                        </m:ctrlPr>
                                      </m:accPr>
                                      <m:e>
                                        <m:r>
                                          <a:rPr lang="en-US" i="1"/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warden decides: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&gt;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3EB99-51E4-F677-3513-C241625E3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0C42-1A7C-9046-9DFC-9685EC03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642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38D06-4074-CBE6-8E67-9314F903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1B63F-8DC2-75B5-41CF-B0ED32E7E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Distribution of the Energy Statistic</a:t>
                </a:r>
              </a:p>
              <a:p>
                <a:pPr lvl="1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𝑙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𝐿</m:t>
                        </m:r>
                      </m:sup>
                      <m:e>
                        <m:r>
                          <a:rPr lang="en-US"/>
                          <m:t>∣</m:t>
                        </m:r>
                      </m:e>
                    </m:nary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𝑦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  <m: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𝑙</m:t>
                            </m:r>
                          </m:e>
                        </m:d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∼</m:t>
                    </m:r>
                    <m:r>
                      <m:rPr>
                        <m:sty m:val="p"/>
                      </m:rPr>
                      <a:rPr lang="en-US"/>
                      <m:t>Γ</m:t>
                    </m:r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𝐿</m:t>
                        </m:r>
                      </m:e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/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 the second parameter denotes the rate parameter.</a:t>
                </a:r>
              </a:p>
              <a:p>
                <a:pPr lvl="1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∼</m:t>
                    </m:r>
                    <m:r>
                      <m:rPr>
                        <m:sty m:val="p"/>
                      </m:rPr>
                      <a:rPr lang="en-US"/>
                      <m:t>Γ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corresponding probability density functions are proportional to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𝑇</m:t>
                        </m:r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∝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𝑡</m:t>
                        </m:r>
                      </m:e>
                      <m:sup>
                        <m:r>
                          <a:rPr lang="en-US" i="1"/>
                          <m:t>𝐿</m:t>
                        </m:r>
                        <m:r>
                          <a:rPr lang="en-US"/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/>
                          <m:t>−</m:t>
                        </m:r>
                        <m:r>
                          <a:rPr lang="en-US" i="1"/>
                          <m:t>𝑡</m:t>
                        </m:r>
                        <m:r>
                          <a:rPr lang="en-US"/>
                          <m:t>/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𝑇</m:t>
                        </m:r>
                        <m:r>
                          <a:rPr lang="en-US"/>
                          <m:t>∣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/>
                              <m:t>ℋ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∝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𝑡</m:t>
                        </m:r>
                      </m:e>
                      <m:sup>
                        <m:r>
                          <a:rPr lang="en-US" i="1"/>
                          <m:t>𝐿</m:t>
                        </m:r>
                        <m:r>
                          <a:rPr lang="en-US"/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/>
                          <m:t>−</m:t>
                        </m:r>
                        <m:r>
                          <a:rPr lang="en-US" i="1"/>
                          <m:t>𝑡</m:t>
                        </m:r>
                        <m:r>
                          <a:rPr lang="en-US"/>
                          <m:t>/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&gt;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distribution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shifts toward larger received-energy values.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1B63F-8DC2-75B5-41CF-B0ED32E7E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B6834-2844-BBD8-1446-9EC91A2A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178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928B-9931-1B14-B05E-448505D1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1B665-9569-511F-8287-6B85D12E1C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False Alarm Probability</a:t>
                </a:r>
              </a:p>
              <a:p>
                <a:pPr lvl="1"/>
                <a:r>
                  <a:rPr lang="en-US" dirty="0"/>
                  <a:t>The false alarm event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∣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 ⟺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&gt;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𝑇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&gt;</m:t>
                            </m:r>
                            <m:r>
                              <a:rPr lang="en-US" i="1"/>
                              <m:t>𝜏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∣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/>
                                  <m:t>ℋ</m:t>
                                </m:r>
                              </m:e>
                              <m:sub>
                                <m:r>
                                  <a:rPr lang="en-US"/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the complementary CDF of the Gamma distribution,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sepChr m:val=",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den>
                    </m:f>
                  </m:oMath>
                </a14:m>
                <a:r>
                  <a:rPr lang="en-US" b="0" dirty="0"/>
                  <a:t>                       (15)</a:t>
                </a:r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/>
                      <m:t>𝐿</m:t>
                    </m:r>
                  </m:oMath>
                </a14:m>
                <a:r>
                  <a:rPr lang="en-US" dirty="0"/>
                  <a:t> is an integer,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Γ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𝐿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𝐿</m:t>
                        </m:r>
                        <m:r>
                          <a:rPr lang="en-US"/>
                          <m:t>−1</m:t>
                        </m:r>
                      </m:e>
                    </m:d>
                    <m:r>
                      <a:rPr lang="en-US"/>
                      <m:t>!.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Thus,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=1−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</m:e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 i="1"/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1B665-9569-511F-8287-6B85D12E1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ECDE9-B87F-7433-89DD-7C7E8F372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495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9771-F86C-A255-1204-EC120505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51C2A-58F7-A276-5D81-29CD24B0AE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Miss Detection Probability</a:t>
                </a:r>
              </a:p>
              <a:p>
                <a:pPr lvl="1"/>
                <a:r>
                  <a:rPr lang="en-US" dirty="0"/>
                  <a:t>The miss detection event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𝐷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  <m:r>
                      <a:rPr lang="en-US"/>
                      <m:t>∣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r>
                      <a:rPr lang="en-US"/>
                      <m:t> ⟺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𝑇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≤</m:t>
                            </m:r>
                            <m:r>
                              <a:rPr lang="en-US" i="1"/>
                              <m:t>𝜏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∣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/>
                                  <m:t>ℋ</m:t>
                                </m:r>
                              </m:e>
                              <m:sub>
                                <m:r>
                                  <a:rPr lang="en-US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the Gamma CDF,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den>
                    </m:f>
                  </m:oMath>
                </a14:m>
                <a:r>
                  <a:rPr lang="en-US" b="0" dirty="0"/>
                  <a:t>                               (16)</a:t>
                </a:r>
              </a:p>
              <a:p>
                <a:pPr lvl="1"/>
                <a:r>
                  <a:rPr lang="en-US" dirty="0"/>
                  <a:t>or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lower incomplete Gamma function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𝛾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/>
                      <m:t>=</m:t>
                    </m:r>
                    <m:nary>
                      <m:naryPr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/>
                          <m:t>0</m:t>
                        </m:r>
                      </m:sub>
                      <m:sup>
                        <m:r>
                          <a:rPr lang="en-US" i="1"/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𝑡</m:t>
                            </m:r>
                          </m:e>
                          <m:sup>
                            <m:r>
                              <a:rPr lang="en-US" i="1"/>
                              <m:t>𝑠</m:t>
                            </m:r>
                            <m:r>
                              <a:rPr lang="en-US"/>
                              <m:t>−1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𝑒</m:t>
                        </m:r>
                      </m:e>
                      <m:sup>
                        <m:r>
                          <a:rPr lang="en-US"/>
                          <m:t>−</m:t>
                        </m:r>
                        <m:r>
                          <a:rPr lang="en-US" i="1"/>
                          <m:t>𝑡</m:t>
                        </m:r>
                      </m:sup>
                    </m:sSup>
                    <m:r>
                      <m:rPr>
                        <m:nor/>
                      </m:rPr>
                      <a:rPr lang="en-US"/>
                      <m:t> </m:t>
                    </m:r>
                    <m:r>
                      <a:rPr lang="en-US" i="1"/>
                      <m:t>𝑑𝑡</m:t>
                    </m:r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51C2A-58F7-A276-5D81-29CD24B0A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7A146-DE29-F60F-E25E-D7EEF5C8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339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2C09-9687-46F0-7326-B51E4F8D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Formulaton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7F2C8-39FF-DDE7-E684-7E9AE06392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Detection Error Probability</a:t>
                </a:r>
              </a:p>
              <a:p>
                <a:pPr lvl="1"/>
                <a:r>
                  <a:rPr lang="en-US" dirty="0"/>
                  <a:t>The total detection error probability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=1−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𝐿</m:t>
                            </m:r>
                            <m:r>
                              <a:rPr lang="en-US"/>
                              <m:t>−1</m:t>
                            </m:r>
                          </m:e>
                        </m:d>
                        <m:r>
                          <a:rPr lang="en-US"/>
                          <m:t>!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covertness constraint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However, this expression is highly nonlinear because both </a:t>
                </a:r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depend on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7F2C8-39FF-DDE7-E684-7E9AE06392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0D9F-455B-DBD1-A9B0-692C91BC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63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9E2F-88A4-3ECE-2620-0CA5C645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23A60F-3F85-F93F-4FA4-B863C7DC5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Monotonicity of Detection Error</a:t>
                </a:r>
              </a:p>
              <a:p>
                <a:pPr lvl="1"/>
                <a:r>
                  <a:rPr lang="en-US" dirty="0"/>
                  <a:t>The paper establishes that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∂</m:t>
                        </m:r>
                        <m:r>
                          <a:rPr lang="en-US" i="1"/>
                          <m:t>𝜉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/>
                          <m:t>∂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den>
                    </m:f>
                    <m:r>
                      <a:rPr lang="en-US"/>
                      <m:t>≤0.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Thus,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increasing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Recall that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↑⇒</m:t>
                    </m:r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↓.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Physical Interpretation</a:t>
                </a:r>
              </a:p>
              <a:p>
                <a:pPr lvl="2"/>
                <a:r>
                  <a:rPr lang="en-US" dirty="0"/>
                  <a:t>Larger received UAV power makes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easier to distinguish. </a:t>
                </a:r>
              </a:p>
              <a:p>
                <a:pPr lvl="2"/>
                <a:r>
                  <a:rPr lang="en-US" dirty="0"/>
                  <a:t>The warden’s total detection error decreases. </a:t>
                </a:r>
              </a:p>
              <a:p>
                <a:pPr lvl="2"/>
                <a:r>
                  <a:rPr lang="en-US" dirty="0"/>
                  <a:t>Covert communication becomes more difficult.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23A60F-3F85-F93F-4FA4-B863C7DC5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A068-1BE5-30C0-F296-85A4517C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094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C62F-3228-F7BC-ECB3-5C912B17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74E0A-8447-0E63-3C67-4A50B04685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Maximum Allowable Received Variance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denote the maximum received variance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ℋ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that satisfies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is determined from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a one-dimensional bisection search.</a:t>
                </a:r>
              </a:p>
              <a:p>
                <a:pPr lvl="1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</m:oMath>
                </a14:m>
                <a:r>
                  <a:rPr lang="en-US" dirty="0"/>
                  <a:t> decreases monotonically with the received variance,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𝜉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equivalent to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/>
                            </m:ctrlPr>
                          </m:accPr>
                          <m:e>
                            <m:r>
                              <a:rPr lang="en-US" i="1"/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obtain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74E0A-8447-0E63-3C67-4A50B04685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14877-34D2-1F77-55E2-17C4D03E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515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A9D6-3D03-6A73-2C29-2CD1937B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30C7C9-4CB9-7199-6EB4-3E11696C7C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Equivalent Tractable Covertness Constraint</a:t>
                </a:r>
              </a:p>
              <a:p>
                <a:pPr lvl="1"/>
                <a:r>
                  <a:rPr lang="en-US" dirty="0"/>
                  <a:t>The original complicated constraint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𝑀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≥1−</m:t>
                    </m:r>
                    <m:r>
                      <a:rPr lang="en-US" i="1"/>
                      <m:t>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transformed into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(17)</a:t>
                </a:r>
              </a:p>
              <a:p>
                <a:pPr lvl="1"/>
                <a:r>
                  <a:rPr lang="en-US" dirty="0"/>
                  <a:t>Substituting the UAV-to-warden channel gain,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or equivalently,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b>
                                <m:r>
                                  <a:rPr lang="en-US" i="1"/>
                                  <m:t>𝑚</m:t>
                                </m:r>
                              </m:sub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bSup>
                            <m:r>
                              <a:rPr lang="en-US"/>
                              <m:t>−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/>
                              <m:t>∥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r>
                              <a:rPr lang="en-US" b="1"/>
                              <m:t>𝐰</m:t>
                            </m:r>
                            <m:sSup>
                              <m:sSupPr>
                                <m:ctrlPr>
                                  <a:rPr lang="en-US" b="1" i="1"/>
                                </m:ctrlPr>
                              </m:sSupPr>
                              <m:e>
                                <m:r>
                                  <a:rPr lang="en-US"/>
                                  <m:t>∥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r>
                              <a:rPr lang="en-US"/>
                              <m:t>+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𝐻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/>
                          <m:t>𝛽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provides a location-dependent upper bound on the UAV transmit power.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30C7C9-4CB9-7199-6EB4-3E11696C7C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8548F-3926-00FB-489C-67A3589D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341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B1C5-4AF7-216D-9DCB-7E0D1473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3D5967-AC3D-F91E-A429-10FE12F62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the Transformed Constraint</a:t>
                </a:r>
              </a:p>
              <a:p>
                <a:pPr lvl="1"/>
                <a:r>
                  <a:rPr lang="en-US" dirty="0"/>
                  <a:t>When the UAV Is Close to the Warden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↓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which implies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↑.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 the UAV must use a smaller transmit power: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↓.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When the UAV Is Far from the Warden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↑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which implies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↓.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Thus, a larger transmit power can be used while maintaining covertness.</a:t>
                </a:r>
              </a:p>
              <a:p>
                <a:pPr lvl="1"/>
                <a:r>
                  <a:rPr lang="en-US" dirty="0"/>
                  <a:t>Main Design Principle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Transmit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strongly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users</m:t>
                    </m:r>
                    <m:r>
                      <m:rPr>
                        <m:nor/>
                      </m:rPr>
                      <a:rPr lang="en-US"/>
                      <m:t>, </m:t>
                    </m:r>
                    <m:r>
                      <m:rPr>
                        <m:nor/>
                      </m:rPr>
                      <a:rPr lang="en-US"/>
                      <m:t>but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remain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sufficiently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warden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3D5967-AC3D-F91E-A429-10FE12F62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A4A89-65B2-3D41-5B47-125C3422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02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AE0A-8B36-07D9-0FF6-390234E4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081DF-7565-FD7B-07B3-E4A1D6EBF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Warden Location Uncertainty</a:t>
                </a:r>
              </a:p>
              <a:p>
                <a:pPr lvl="1"/>
                <a:r>
                  <a:rPr lang="en-US" dirty="0"/>
                  <a:t>Estimated Warden Location</a:t>
                </a:r>
              </a:p>
              <a:p>
                <a:pPr lvl="2"/>
                <a:r>
                  <a:rPr lang="en-US" dirty="0"/>
                  <a:t>The UAV does not know the exact warden location. It only knows an estimated position: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actual warden location is modeled as: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b="1" dirty="0"/>
                  <a:t>                    </a:t>
                </a:r>
                <a:r>
                  <a:rPr lang="en-US" dirty="0"/>
                  <a:t>(18)</a:t>
                </a:r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is the location estimation error.</a:t>
                </a:r>
              </a:p>
              <a:p>
                <a:pPr lvl="1"/>
                <a:r>
                  <a:rPr lang="en-US" dirty="0"/>
                  <a:t>Uncertainty Region</a:t>
                </a:r>
              </a:p>
              <a:p>
                <a:pPr lvl="2"/>
                <a:r>
                  <a:rPr lang="en-US" dirty="0"/>
                  <a:t>The warden is assumed to lie inside a circle centered 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b="0" dirty="0"/>
                  <a:t>                                                  (19)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081DF-7565-FD7B-07B3-E4A1D6EBF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0E958-A3CD-844F-80AE-C656810A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4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600E-E1CB-DD03-33DB-D129AE87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D8E50-6E56-F9E9-4F9E-FD6A8EA73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Covertness Constraint with Perfect Warden Location</a:t>
                </a:r>
              </a:p>
              <a:p>
                <a:pPr lvl="1"/>
                <a:r>
                  <a:rPr lang="en-US" dirty="0"/>
                  <a:t>From the warden-side analysis, the covertness constraint becomes: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        (17)</a:t>
                </a:r>
              </a:p>
              <a:p>
                <a:pPr lvl="1"/>
                <a:r>
                  <a:rPr lang="en-US" dirty="0"/>
                  <a:t>Using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𝑢𝑤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we have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r>
                          <a:rPr lang="en-US"/>
                          <m:t>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b="1"/>
                          <m:t>𝐰</m:t>
                        </m:r>
                        <m:sSup>
                          <m:sSupPr>
                            <m:ctrlPr>
                              <a:rPr lang="en-US" b="1" i="1"/>
                            </m:ctrlPr>
                          </m:sSupPr>
                          <m:e>
                            <m:r>
                              <a:rPr lang="en-US"/>
                              <m:t>∥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𝐻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≤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𝑚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Rearranging: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≥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Ignoring the constant altitude term in the paper’s simplified expression gives the horizontal-distance form: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−∥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sSup>
                      <m:sSupPr>
                        <m:ctrlPr>
                          <a:rPr lang="en-US" b="1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≤0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D8E50-6E56-F9E9-4F9E-FD6A8EA73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58ECE-FD76-D6DB-3920-008231C8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456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4524-6F8A-8F3E-E514-97AE1809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745AB-EA80-F4E5-579F-3FAD381CB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Worst-Case Warden Location Constraint</a:t>
                </a:r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𝐰</m:t>
                    </m:r>
                    <m:r>
                      <a:rPr lang="en-US"/>
                      <m:t>=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covertness constraint must hold for every possible estimation error: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𝑟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b="1"/>
                      <m:t>𝐰</m:t>
                    </m:r>
                    <m:r>
                      <a:rPr lang="en-US"/>
                      <m:t>=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b="0" dirty="0"/>
                  <a:t>                    (20)</a:t>
                </a:r>
              </a:p>
              <a:p>
                <a:r>
                  <a:rPr lang="en-US" dirty="0"/>
                  <a:t>This means: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Covertness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must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hold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possible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warden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locations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inside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circle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Worst-Case Interpretation</a:t>
                </a:r>
              </a:p>
              <a:p>
                <a:pPr lvl="1"/>
                <a:r>
                  <a:rPr lang="en-US" dirty="0"/>
                  <a:t>The worst case happens when the warden is closest to the UAV: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r>
                      <a:rPr lang="en-US"/>
                      <m:t>∥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minimized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 the UAV must design its power and trajectory conservatively.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745AB-EA80-F4E5-579F-3FAD381CB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3BED4-1BC1-44CF-1854-7B91EE48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957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0DB4-449A-F0D7-83B8-70B1B3CD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E05DE4-4EBE-98FB-26B9-C9C5D139CC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Expanding the Quadratic Constraint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sepChr m:val=",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𝑦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r>
                      <a:rPr lang="en-US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  <m:r>
                                <a:rPr lang="en-US" i="1"/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/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  <m:r>
                                <a:rPr lang="en-US" i="1"/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Thus,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𝐞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𝑥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𝑥</m:t>
                                </m:r>
                              </m:e>
                              <m:sub>
                                <m:r>
                                  <a:rPr lang="en-US" i="1"/>
                                  <m:t>𝑒</m:t>
                                </m:r>
                              </m:sub>
                            </m:sSub>
                            <m:r>
                              <a:rPr lang="en-US"/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/>
                              <m:t>Δ</m:t>
                            </m:r>
                            <m:r>
                              <a:rPr lang="en-US" i="1"/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𝑦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𝑦</m:t>
                                </m:r>
                              </m:e>
                              <m:sub>
                                <m:r>
                                  <a:rPr lang="en-US" i="1"/>
                                  <m:t>𝑒</m:t>
                                </m:r>
                              </m:sub>
                            </m:sSub>
                            <m:r>
                              <a:rPr lang="en-US"/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/>
                              <m:t>Δ</m:t>
                            </m:r>
                            <m:r>
                              <a:rPr lang="en-US" i="1"/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So, constraint (20) becomes: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𝑥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𝑒</m:t>
                                    </m:r>
                                  </m:sub>
                                </m:sSub>
                                <m:r>
                                  <a:rPr lang="en-US"/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/>
                                  <m:t>Δ</m:t>
                                </m:r>
                                <m:r>
                                  <a:rPr lang="en-US" i="1"/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/>
                          <m:t>+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𝑦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𝑒</m:t>
                                    </m:r>
                                  </m:sub>
                                </m:sSub>
                                <m:r>
                                  <a:rPr lang="en-US"/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/>
                                  <m:t>Δ</m:t>
                                </m:r>
                                <m:r>
                                  <a:rPr lang="en-US" i="1"/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e>
                    </m:d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a quadratic implication: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𝑟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≤0⇒</m:t>
                    </m:r>
                    <m:r>
                      <a:rPr lang="en-US" i="1"/>
                      <m:t>𝑔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</m:e>
                    </m:d>
                    <m:r>
                      <a:rPr lang="en-US"/>
                      <m:t>≤0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/>
                      <m:t>𝑔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</m:e>
                    </m:d>
                    <m:r>
                      <a:rPr lang="en-US"/>
                      <m:t>=−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𝐞</m:t>
                                </m:r>
                              </m:e>
                              <m:sub>
                                <m:r>
                                  <a:rPr lang="en-US" i="1"/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E05DE4-4EBE-98FB-26B9-C9C5D139CC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31918-F303-2F3F-DD6E-7F2EAFBD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64245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9823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371-E9BF-69F6-373F-C98752CE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480FC-EBD7-2858-40BB-C4C57BEF6F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S-Procedure-Based LMI Transformation</a:t>
                </a:r>
              </a:p>
              <a:p>
                <a:pPr lvl="1"/>
                <a:r>
                  <a:rPr lang="en-US" dirty="0"/>
                  <a:t>The worst-case constraint can be converted into a linear matrix inequality using the S-procedure.</a:t>
                </a:r>
              </a:p>
              <a:p>
                <a:pPr lvl="1"/>
                <a:r>
                  <a:rPr lang="en-US" dirty="0"/>
                  <a:t>There exists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𝜇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such that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</m:t>
                    </m:r>
                  </m:oMath>
                </a14:m>
                <a:r>
                  <a:rPr lang="en-US" b="1" dirty="0"/>
                  <a:t>                </a:t>
                </a:r>
                <a:r>
                  <a:rPr lang="en-US" dirty="0"/>
                  <a:t>(21)</a:t>
                </a:r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 i="1"/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+1</m:t>
                              </m:r>
                            </m:e>
                            <m:e>
                              <m:r>
                                <a:rPr lang="en-US"/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/>
                                <m:t>0</m:t>
                              </m:r>
                            </m:e>
                            <m:e>
                              <m:r>
                                <a:rPr lang="en-US" i="1"/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+1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𝑥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i="1"/>
                                <m:t>𝑧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−</m:t>
                              </m:r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r>
                                    <a:rPr lang="en-US" i="1"/>
                                    <m:t>𝑟</m:t>
                                  </m:r>
                                </m:e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p>
                              <m:r>
                                <a:rPr lang="en-US" i="1"/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/>
                      <m:t>⪰0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Meaning</a:t>
                </a:r>
              </a:p>
              <a:p>
                <a:pPr lvl="2"/>
                <a:r>
                  <a:rPr lang="en-US" dirty="0"/>
                  <a:t>The complicated condition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covertness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holds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for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all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𝐞</m:t>
                        </m:r>
                      </m:e>
                      <m:sub>
                        <m:r>
                          <a:rPr lang="en-US" i="1"/>
                          <m:t>𝑤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is transformed into the LMI: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⪰0.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makes the robust covertness constraint easier to include in convex optimization.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D480FC-EBD7-2858-40BB-C4C57BEF6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5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5212C-0375-7153-5C20-92BA4AFF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895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0EBD-D51D-39D5-90CC-33EF0DC5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Covert Rate Maximization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46D2F-7AFE-D839-F2CB-424149738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Covert Rate Maximization Framework</a:t>
                </a:r>
              </a:p>
              <a:p>
                <a:pPr lvl="1"/>
                <a:r>
                  <a:rPr lang="en-US" dirty="0"/>
                  <a:t>Optimization Objective</a:t>
                </a:r>
              </a:p>
              <a:p>
                <a:pPr lvl="2"/>
                <a:r>
                  <a:rPr lang="en-US" dirty="0"/>
                  <a:t>The objective is to maximize the minimum average covert rate among all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users: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e>
                      <m:lim>
                        <m:r>
                          <a:rPr lang="en-US" i="1"/>
                          <m:t>𝜂</m:t>
                        </m:r>
                        <m:r>
                          <a:rPr lang="en-US"/>
                          <m:t>,</m:t>
                        </m:r>
                        <m:r>
                          <a:rPr lang="en-US" b="1" i="1"/>
                          <m:t>𝜶</m:t>
                        </m:r>
                        <m:r>
                          <a:rPr lang="en-US"/>
                          <m:t>,</m:t>
                        </m:r>
                        <m:r>
                          <a:rPr lang="en-US" b="1"/>
                          <m:t>𝐏</m:t>
                        </m:r>
                        <m:r>
                          <a:rPr lang="en-US"/>
                          <m:t>,</m:t>
                        </m:r>
                        <m:r>
                          <a:rPr lang="en-US" b="1"/>
                          <m:t>𝐐</m:t>
                        </m:r>
                      </m:lim>
                    </m:limLow>
                    <m:r>
                      <a:rPr lang="en-US"/>
                      <m:t> </m:t>
                    </m:r>
                    <m:r>
                      <a:rPr lang="en-US" i="1"/>
                      <m:t>𝜂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Optimization Variables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/>
                      <m:t>𝜶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r>
                      <a:rPr lang="en-US" b="1"/>
                      <m:t>𝐏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 </m:t>
                    </m:r>
                    <m:r>
                      <a:rPr lang="en-US" b="1"/>
                      <m:t>𝐐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variables are strongly coupled, making the original problem a mixed-integer non-convex problem.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46D2F-7AFE-D839-F2CB-424149738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A0CB9-21F8-5C29-07A6-F0128E84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317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8E85-740A-1995-C713-984A5FB4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Covert Rate Maximization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440CC-1CD1-9A59-77E5-F3E969D48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BCD-Based Solution Structure</a:t>
                </a:r>
              </a:p>
              <a:p>
                <a:pPr lvl="1"/>
                <a:r>
                  <a:rPr lang="en-US" dirty="0"/>
                  <a:t>The variables are divided into three blocks: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At iteration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Optimize time-slot allocation with fixed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,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Optimize transmit power with fixed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/>
                            </m:ctrlPr>
                          </m:accPr>
                          <m:e>
                            <m:r>
                              <a:rPr lang="en-US" b="1" i="1"/>
                              <m:t>𝜶</m:t>
                            </m:r>
                          </m:e>
                        </m:acc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,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Optimize trajectory with fixed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/>
                            </m:ctrlPr>
                          </m:accPr>
                          <m:e>
                            <m:r>
                              <a:rPr lang="en-US" b="1" i="1"/>
                              <m:t>𝜶</m:t>
                            </m:r>
                          </m:e>
                        </m:acc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,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This follows the Block Coordinate Descent principle: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/>
                        </m:ctrlPr>
                      </m:sSubSupPr>
                      <m:e>
                        <m:r>
                          <a:rPr lang="en-US" b="1"/>
                          <m:t>𝐱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b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𝐱</m:t>
                                </m:r>
                              </m:e>
                              <m:sub>
                                <m:r>
                                  <a:rPr lang="en-US" i="1"/>
                                  <m:t>𝑖</m:t>
                                </m:r>
                              </m:sub>
                            </m:sSub>
                          </m:lim>
                        </m:limLow>
                      </m:e>
                    </m:func>
                    <m:r>
                      <a:rPr lang="en-US" i="1"/>
                      <m:t>𝑓</m:t>
                    </m:r>
                    <m:d>
                      <m:dPr>
                        <m:sepChr m:val=","/>
                        <m:ctrlPr>
                          <a:rPr lang="en-US" i="1"/>
                        </m:ctrlPr>
                      </m:dPr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  <m:r>
                              <a:rPr lang="en-US"/>
                              <m:t>+1</m:t>
                            </m:r>
                          </m:sup>
                        </m:sSubSup>
                      </m:e>
                      <m:e>
                        <m:r>
                          <a:rPr lang="en-US"/>
                          <m:t>…</m:t>
                        </m:r>
                      </m:e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  <m:r>
                              <a:rPr lang="en-US"/>
                              <m:t>−1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  <m:r>
                              <a:rPr lang="en-US"/>
                              <m:t>+1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𝐱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  <m:r>
                              <a:rPr lang="en-US"/>
                              <m:t>+1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</m:e>
                      <m:e>
                        <m:r>
                          <a:rPr lang="en-US"/>
                          <m:t>…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440CC-1CD1-9A59-77E5-F3E969D48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DE74B-1D2B-A748-406B-13967F74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915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14E9-C622-9CD2-C32D-93ACD1BE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EBC41D-D1FF-4E8B-B4AF-D9A651A7F1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Time-Slot Allocation Subproblem</a:t>
                </a:r>
              </a:p>
              <a:p>
                <a:pPr lvl="1"/>
                <a:r>
                  <a:rPr lang="en-US" dirty="0"/>
                  <a:t>With fixed transmit power </a:t>
                </a:r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</m:oMath>
                </a14:m>
                <a:r>
                  <a:rPr lang="en-US" dirty="0"/>
                  <a:t>and trajectory </a:t>
                </a:r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</m:oMath>
                </a14:m>
                <a:r>
                  <a:rPr lang="en-US" dirty="0"/>
                  <a:t>, the achievable rate coefficient is fixed: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scheduling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(22)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{0,1}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≤1, ∀</m:t>
                    </m:r>
                    <m:r>
                      <a:rPr lang="en-US" i="1"/>
                      <m:t>𝑛</m:t>
                    </m:r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binary constraint makes problem (22) combinatorial.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EBC41D-D1FF-4E8B-B4AF-D9A651A7F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0FD79-CE3B-E97A-FD40-BE6A8FDA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648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96FA-8881-24B1-32CE-0613CA17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7BAE1-DB48-A594-2257-CBEE15FEA7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Continuous Relaxation of Scheduling</a:t>
                </a:r>
              </a:p>
              <a:p>
                <a:pPr lvl="1"/>
                <a:r>
                  <a:rPr lang="en-US" dirty="0"/>
                  <a:t>The binary scheduling variable is relaxed as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≤1,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                                   (23)</a:t>
                </a:r>
              </a:p>
              <a:p>
                <a:pPr lvl="1"/>
                <a:r>
                  <a:rPr lang="en-US" dirty="0"/>
                  <a:t>The relaxed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acc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(24)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≤1, ∀</m:t>
                    </m:r>
                    <m:r>
                      <a:rPr lang="en-US" i="1"/>
                      <m:t>𝑛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𝑟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constant for fixed </a:t>
                </a:r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</m:oMath>
                </a14:m>
                <a:r>
                  <a:rPr lang="en-US" dirty="0"/>
                  <a:t>, all constraints are affine.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(24)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program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It can be solved using an interior-point method.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7BAE1-DB48-A594-2257-CBEE15FEA7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9C9EF-DC29-818C-896C-03D6F26F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8301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2E38-E6E4-8F7F-629B-1E3F7746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E7A1C1-5323-4A83-C123-1C557D60BA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Worst-Case Power Constraint</a:t>
                </a:r>
              </a:p>
              <a:p>
                <a:pPr lvl="1"/>
                <a:r>
                  <a:rPr lang="en-US" dirty="0"/>
                  <a:t>For a fixed UAV trajectory, the robust covertness constraint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b="0" dirty="0"/>
                  <a:t>                           (25)</a:t>
                </a:r>
              </a:p>
              <a:p>
                <a:pPr lvl="1"/>
                <a:r>
                  <a:rPr lang="en-US" dirty="0"/>
                  <a:t>Here,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lim>
                    </m:limLow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∥"/>
                            <m:endChr m:val="∥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(26)</a:t>
                </a:r>
              </a:p>
              <a:p>
                <a:pPr lvl="2"/>
                <a:r>
                  <a:rPr lang="en-US" dirty="0"/>
                  <a:t>is the minimum horizontal squared distance between the UAV and any possible warden location.</a:t>
                </a:r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𝑑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∥"/>
                        <m:endChr m:val="∥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b="1"/>
                              <m:t>𝐰</m:t>
                            </m:r>
                          </m:e>
                        </m:acc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/>
                                <m:t>0,</m:t>
                              </m:r>
                            </m:e>
                            <m:e>
                              <m:r>
                                <a:rPr lang="en-US" i="1"/>
                                <m:t>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≤</m:t>
                              </m:r>
                              <m:r>
                                <a:rPr lang="en-US" i="1"/>
                                <m:t>𝑟</m:t>
                              </m:r>
                              <m:r>
                                <a:rPr lang="en-US"/>
                                <m:t>,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𝑑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r>
                                            <a:rPr lang="en-US" i="1"/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en-US"/>
                                        <m:t>−</m:t>
                                      </m:r>
                                      <m:r>
                                        <a:rPr lang="en-US" i="1"/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</m:e>
                            <m:e>
                              <m:r>
                                <a:rPr lang="en-US" i="1"/>
                                <m:t>𝑑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a:rPr lang="en-US"/>
                                <m:t>&gt;</m:t>
                              </m:r>
                              <m:r>
                                <a:rPr lang="en-US" i="1"/>
                                <m:t>𝑟</m:t>
                              </m:r>
                              <m:r>
                                <a:rPr lang="en-US"/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E7A1C1-5323-4A83-C123-1C557D60BA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9CBB4-7B8A-632C-A2CB-AD82DD07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0503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7EDF-7305-0853-C8B3-01628CE4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498C9-0B59-2A47-EFFA-F986EB9EC9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Geometric Interpretation of </a:t>
                </a:r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warden lies within the uncertainty region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𝒲</m:t>
                    </m:r>
                    <m:r>
                      <a:rPr lang="en-US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b="1"/>
                              <m:t>𝐰</m:t>
                            </m:r>
                          </m:e>
                        </m:acc>
                        <m:r>
                          <a:rPr lang="en-US"/>
                          <m:t>+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r>
                          <a:rPr lang="en-US"/>
                          <m:t>:∥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𝐞</m:t>
                            </m:r>
                          </m:e>
                          <m:sub>
                            <m:r>
                              <a:rPr lang="en-US" i="1"/>
                              <m:t>𝑤</m:t>
                            </m:r>
                          </m:sub>
                        </m:sSub>
                        <m:r>
                          <a:rPr lang="en-US"/>
                          <m:t>∥≤</m:t>
                        </m:r>
                        <m:r>
                          <a:rPr lang="en-US" i="1"/>
                          <m:t>𝑟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</m:e>
                      <m:lim>
                        <m:r>
                          <a:rPr lang="en-US" b="1"/>
                          <m:t>𝐰</m:t>
                        </m:r>
                        <m:r>
                          <a:rPr lang="en-US"/>
                          <m:t>∈</m:t>
                        </m:r>
                        <m:r>
                          <a:rPr lang="en-US"/>
                          <m:t>𝒲</m:t>
                        </m:r>
                      </m:lim>
                    </m:limLow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r>
                      <a:rPr lang="en-US" b="1"/>
                      <m:t>𝐰</m:t>
                    </m:r>
                    <m:r>
                      <a:rPr lang="en-US"/>
                      <m:t>∥=</m:t>
                    </m:r>
                    <m:r>
                      <m:rPr>
                        <m:sty m:val="p"/>
                      </m:rPr>
                      <a:rPr lang="en-US"/>
                      <m:t>max</m:t>
                    </m:r>
                    <m:r>
                      <a:rPr lang="en-US"/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r>
                          <a:rPr lang="en-US" i="1"/>
                          <m:t>𝑟</m:t>
                        </m:r>
                        <m:r>
                          <a:rPr lang="en-US"/>
                          <m:t>0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Squaring both sides gives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  <m:r>
                              <a:rPr lang="en-US"/>
                              <m:t>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Hence,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/>
                            </m:ctrlPr>
                          </m:mPr>
                          <m:mr>
                            <m:e>
                              <m:r>
                                <a:rPr lang="en-US"/>
                                <m:t>0,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b="1"/>
                                    <m:t>𝐪</m:t>
                                  </m:r>
                                </m:e>
                                <m:sub>
                                  <m:r>
                                    <a:rPr lang="en-US" i="1"/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lies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inside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uncertainty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region</m:t>
                              </m:r>
                              <m:r>
                                <a:rPr lang="en-US"/>
                                <m:t>,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r>
                                        <a:rPr lang="en-US" i="1"/>
                                        <m:t>𝑑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r>
                                            <a:rPr lang="en-US" i="1"/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en-US"/>
                                        <m:t>−</m:t>
                                      </m:r>
                                      <m:r>
                                        <a:rPr lang="en-US" i="1"/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p>
                              <m:r>
                                <a:rPr lang="en-US"/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b="1"/>
                                    <m:t>𝐪</m:t>
                                  </m:r>
                                </m:e>
                                <m:sub>
                                  <m:r>
                                    <a:rPr lang="en-US" i="1"/>
                                    <m:t>𝑢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𝑛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lies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outside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/>
                                <m:t>region</m:t>
                              </m:r>
                              <m:r>
                                <a:rPr lang="en-US"/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 smaller </a:t>
                </a:r>
                <a14:m>
                  <m:oMath xmlns:m="http://schemas.openxmlformats.org/officeDocument/2006/math"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results in a stricter allowable transmit-power limit.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498C9-0B59-2A47-EFFA-F986EB9EC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503A0-4DE3-E4F6-49EB-99EF3777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6260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4940-0C89-DEF8-54E5-407CF9DF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FA879-67E0-E4DB-6384-CB896E3E63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Power Allocation Subproblem</a:t>
                </a:r>
              </a:p>
              <a:p>
                <a:pPr lvl="1"/>
                <a:r>
                  <a:rPr lang="en-US" dirty="0"/>
                  <a:t>With fixed scheduling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 i="1"/>
                          <m:t>𝜶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trajectory </a:t>
                </a:r>
                <a14:m>
                  <m:oMath xmlns:m="http://schemas.openxmlformats.org/officeDocument/2006/math">
                    <m:r>
                      <a:rPr lang="en-US" b="1"/>
                      <m:t>𝐐</m:t>
                    </m:r>
                  </m:oMath>
                </a14:m>
                <a:r>
                  <a:rPr lang="en-US" dirty="0"/>
                  <a:t>, optimize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𝐏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   (27)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h</m:t>
                                </m:r>
                              </m:e>
                              <m:sub>
                                <m:r>
                                  <a:rPr lang="en-US" i="1"/>
                                  <m:t>𝑢𝑘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b>
                                <m:r>
                                  <a:rPr lang="en-US" i="1"/>
                                  <m:t>𝑚</m:t>
                                </m:r>
                              </m:sub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bSup>
                            <m:r>
                              <a:rPr lang="en-US"/>
                              <m:t>−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+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𝐻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/>
                          <m:t>𝛽</m:t>
                        </m:r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Because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r>
                          <a:rPr lang="en-US" i="1"/>
                          <m:t>𝑎𝑃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concave in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its superlevel set is convex.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(27)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optimization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problem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FA879-67E0-E4DB-6384-CB896E3E63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64CB7-9EE7-49CB-C3CB-9E69761D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360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7CAC-9655-04C9-2AC1-B995B5F4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52F5B-CF57-6456-0620-77A39E738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Trajectory Optimization Subproblem</a:t>
                </a:r>
              </a:p>
              <a:p>
                <a:pPr lvl="1"/>
                <a:r>
                  <a:rPr lang="en-US" dirty="0"/>
                  <a:t>With fixed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 i="1"/>
                          <m:t>𝜶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/>
                      <m:t>𝐏</m:t>
                    </m:r>
                  </m:oMath>
                </a14:m>
                <a:r>
                  <a:rPr lang="en-US" dirty="0"/>
                  <a:t>, optimize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          (28a)</a:t>
                </a:r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 i="1"/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𝑛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𝑅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𝜂</m:t>
                    </m:r>
                    <m:r>
                      <a:rPr lang="en-US"/>
                      <m:t>, ∀</m:t>
                    </m:r>
                    <m:r>
                      <a:rPr lang="en-US" i="1"/>
                      <m:t>𝑘</m:t>
                    </m:r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/>
                  <a:t>                       </a:t>
                </a:r>
                <a:r>
                  <a:rPr lang="en-US" dirty="0"/>
                  <a:t>(28b)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≥0,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/>
                  <a:t>                        (28c)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  <m:r>
                          <a:rPr lang="en-US"/>
                          <m:t>+1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/>
                                      <m:t>max</m:t>
                                    </m:r>
                                  </m:sub>
                                </m:sSub>
                                <m:r>
                                  <a:rPr lang="en-US" i="1"/>
                                  <m:t>𝑇</m:t>
                                </m:r>
                              </m:num>
                              <m:den>
                                <m:r>
                                  <a:rPr lang="en-US" i="1"/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/>
                          <m:t>1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𝐼</m:t>
                        </m:r>
                      </m:sub>
                    </m:sSub>
                    <m:r>
                      <a:rPr lang="en-US"/>
                      <m:t>,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𝑁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𝐹</m:t>
                        </m:r>
                      </m:sub>
                    </m:sSub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rate constraint and the LMI term containing </a:t>
                </a:r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remain non-convex.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52F5B-CF57-6456-0620-77A39E738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6A9D5-3C26-0E2C-9407-2701E2E2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4923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D047-9F38-60B3-E338-5CA75F31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2315C-2D8F-E324-BA7A-6E3FD44F1B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Rate as a Function of Squared Distance</a:t>
                </a:r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𝑐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𝑑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𝑐</m:t>
                            </m:r>
                          </m:num>
                          <m:den>
                            <m:r>
                              <a:rPr lang="en-US" i="1"/>
                              <m:t>𝑑</m:t>
                            </m:r>
                          </m:den>
                        </m:f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Its first derivative is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𝑓</m:t>
                        </m:r>
                      </m:e>
                      <m:sup>
                        <m:r>
                          <a:rPr lang="en-US"/>
                          <m:t>′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=−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𝑐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</m:sub>
                        </m:sSub>
                        <m:r>
                          <a:rPr lang="en-US" i="1"/>
                          <m:t>𝑒</m:t>
                        </m:r>
                      </m:num>
                      <m:den>
                        <m:r>
                          <a:rPr lang="en-US" i="1"/>
                          <m:t>𝑑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𝑑</m:t>
                            </m:r>
                            <m:r>
                              <a:rPr lang="en-US"/>
                              <m:t>+</m:t>
                            </m:r>
                            <m:r>
                              <a:rPr lang="en-US" i="1"/>
                              <m:t>𝑐</m:t>
                            </m:r>
                          </m:e>
                        </m:d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Its second derivative is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𝑓</m:t>
                        </m:r>
                      </m:e>
                      <m:sup>
                        <m:r>
                          <a:rPr lang="en-US"/>
                          <m:t>′′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𝑐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/>
                              <m:t>2</m:t>
                            </m:r>
                            <m:r>
                              <a:rPr lang="en-US" i="1"/>
                              <m:t>𝑑</m:t>
                            </m:r>
                            <m:r>
                              <a:rPr lang="en-US"/>
                              <m:t>+</m:t>
                            </m:r>
                            <m:r>
                              <a:rPr lang="en-US" i="1"/>
                              <m:t>𝑐</m:t>
                            </m:r>
                          </m:e>
                        </m:d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</m:sub>
                        </m:sSub>
                        <m:r>
                          <a:rPr lang="en-US" i="1"/>
                          <m:t>𝑒</m:t>
                        </m:r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𝑑</m:t>
                                </m:r>
                                <m:r>
                                  <a:rPr lang="en-US"/>
                                  <m:t>+</m:t>
                                </m:r>
                                <m:r>
                                  <a:rPr lang="en-US" i="1"/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&gt;0.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respect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32315C-2D8F-E324-BA7A-6E3FD44F1B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CE18E-383F-7BC1-9FD7-77B128F1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5789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96633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ECCF-CBD5-63AB-13B9-B325C7FA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20677-4543-A2B5-4478-35DC79226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First-Order Lower Bound of User Rate</a:t>
                </a:r>
              </a:p>
              <a:p>
                <a:pPr lvl="1"/>
                <a:r>
                  <a:rPr lang="en-US" dirty="0"/>
                  <a:t>For a convex function, the first-order Taylor approximation provides a global lower bound: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</m:e>
                    </m:d>
                    <m:r>
                      <a:rPr lang="en-US"/>
                      <m:t>≥</m:t>
                    </m:r>
                    <m:r>
                      <a:rPr lang="en-US" i="1"/>
                      <m:t>𝑓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𝑓</m:t>
                        </m:r>
                      </m:e>
                      <m:sup>
                        <m:r>
                          <a:rPr lang="en-US"/>
                          <m:t>′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𝑑</m:t>
                        </m:r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𝑑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𝑑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𝐬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𝐴</m:t>
                        </m:r>
                      </m:e>
                      <m:sub>
                        <m:r>
                          <a:rPr lang="en-US"/>
                          <m:t>1</m:t>
                        </m:r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/>
                          <m:t>log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1+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𝑃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 i="1"/>
                              <m:t>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𝑑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𝐴</m:t>
                        </m:r>
                      </m:e>
                      <m:sub>
                        <m:r>
                          <a:rPr lang="en-US"/>
                          <m:t>2</m:t>
                        </m:r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</m:sub>
                        </m:sSub>
                        <m:r>
                          <a:rPr lang="en-US" i="1"/>
                          <m:t>𝑒</m:t>
                        </m:r>
                      </m:num>
                      <m:den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𝑑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𝑑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+</m:t>
                            </m:r>
                            <m:f>
                              <m:fPr>
                                <m:ctrlPr>
                                  <a:rPr lang="en-US" i="1"/>
                                </m:ctrlPr>
                              </m:fPr>
                              <m:num>
                                <m:r>
                                  <a:rPr lang="en-US" i="1"/>
                                  <m:t>𝑃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𝑛</m:t>
                                    </m:r>
                                  </m:e>
                                </m:d>
                                <m:r>
                                  <a:rPr lang="en-US" i="1"/>
                                  <m:t>𝛽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i="1"/>
                                    </m:ctrlPr>
                                  </m:sSupPr>
                                  <m:e>
                                    <m:r>
                                      <a:rPr lang="en-US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𝐴</m:t>
                            </m:r>
                          </m:e>
                          <m:sub>
                            <m:r>
                              <a:rPr lang="en-US"/>
                              <m:t>1</m:t>
                            </m:r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𝐴</m:t>
                            </m:r>
                          </m:e>
                          <m:sub>
                            <m:r>
                              <a:rPr lang="en-US"/>
                              <m:t>2</m:t>
                            </m:r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/>
                              <m:t>∥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𝐬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∥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  <m:r>
                              <a:rPr lang="en-US"/>
                              <m:t>−∥</m:t>
                            </m:r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b="1"/>
                                  <m:t>𝐬</m:t>
                                </m:r>
                              </m:e>
                              <m:sub>
                                <m:r>
                                  <a:rPr lang="en-US" i="1"/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/>
                                  <m:t>∥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Define this lower bound as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LB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          (29)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20677-4543-A2B5-4478-35DC79226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AA5FB-B69B-6EB3-6F27-64A6CAF1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6223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B7DD-4B72-C0D7-FEC7-3DED3DB8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D31B5-0F40-5D9A-4F0D-6915A0F5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Lower Bound of the Robust LMI Term</a:t>
                </a:r>
              </a:p>
              <a:p>
                <a:pPr lvl="1"/>
                <a:r>
                  <a:rPr lang="en-US" dirty="0"/>
                  <a:t>The nonlinear term 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is convex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its first-order lower bound 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∥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≥∥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+2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(30)</a:t>
                </a:r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𝑏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𝐛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  <m:sup>
                        <m:r>
                          <a:rPr lang="en-US" i="1"/>
                          <m:t>𝑇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𝑏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=∥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  <m:sup>
                        <m:r>
                          <a:rPr lang="en-US" i="1"/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−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∥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−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  <m:r>
                          <a:rPr lang="en-US"/>
                          <m:t>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𝜎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</m:den>
                    </m:f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𝐛</m:t>
                        </m:r>
                      </m:e>
                      <m:sub>
                        <m:r>
                          <a:rPr lang="en-US"/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=2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b="1"/>
                              <m:t>𝐰</m:t>
                            </m:r>
                          </m:e>
                        </m:acc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D31B5-0F40-5D9A-4F0D-6915A0F5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FB4D-EAC4-BC11-FA96-1403742E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0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4342-62FC-AD73-D415-1466CE97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9212F6-BCD8-3B18-D8E9-417A7615B5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Convex Approximation of the Trajectory Problem</a:t>
                </a:r>
              </a:p>
              <a:p>
                <a:pPr lvl="1"/>
                <a:r>
                  <a:rPr lang="en-US" dirty="0"/>
                  <a:t>The original LMI is replaced by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LB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</m:t>
                    </m:r>
                  </m:oMath>
                </a14:m>
                <a:r>
                  <a:rPr lang="en-US" b="1" dirty="0"/>
                  <a:t>                                 </a:t>
                </a:r>
                <a:r>
                  <a:rPr lang="en-US" dirty="0"/>
                  <a:t>(32)</a:t>
                </a:r>
              </a:p>
              <a:p>
                <a:pPr lvl="1"/>
                <a:r>
                  <a:rPr lang="en-US" dirty="0"/>
                  <a:t>The approximated trajectory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lim>
                    </m:limLow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                                    (31)</a:t>
                </a:r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LB</m:t>
                            </m:r>
                          </m:sup>
                        </m:sSubSup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/>
                  <a:t>                 (31a)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/>
                  <a:t>                                  </a:t>
                </a:r>
                <a:r>
                  <a:rPr lang="en-US" dirty="0"/>
                  <a:t>(31b)</a:t>
                </a:r>
              </a:p>
              <a:p>
                <a:pPr lvl="1"/>
                <a:r>
                  <a:rPr lang="en-US" dirty="0"/>
                  <a:t>Together with the mobility and endpoint constraints.</a:t>
                </a:r>
              </a:p>
              <a:p>
                <a:pPr lvl="1"/>
                <a:r>
                  <a:rPr lang="en-US" dirty="0"/>
                  <a:t>Because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≥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have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/>
                      <m:t>𝚽</m:t>
                    </m:r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⪰</m:t>
                    </m:r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b="1"/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Thus, every feasible solution of problem (31) is also feasible for the original trajectory subproblem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9212F6-BCD8-3B18-D8E9-417A7615B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D067F-53B4-A7FD-45D0-D6EEF1B9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196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ACD9-F8DF-991A-92C3-73B8704B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0A6B1-423D-8F98-D4AA-2EAF659DD3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Nature of the Approximated Problem</a:t>
                </a:r>
              </a:p>
              <a:p>
                <a:pPr lvl="1"/>
                <a:r>
                  <a:rPr lang="en-US" dirty="0"/>
                  <a:t>In problem (31):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𝑅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concave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is affine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/>
                        </m:ctrlPr>
                      </m:sSubPr>
                      <m:e>
                        <m:r>
                          <a:rPr lang="en-US" b="1"/>
                          <m:t>𝐪</m:t>
                        </m:r>
                      </m:e>
                      <m:sub>
                        <m:r>
                          <a:rPr lang="en-US" i="1"/>
                          <m:t>𝑢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/>
                        </m:ctrlPr>
                      </m:accPr>
                      <m:e>
                        <m:r>
                          <a:rPr lang="en-US" b="1"/>
                          <m:t>𝚽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1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⪰0</m:t>
                    </m:r>
                  </m:oMath>
                </a14:m>
                <a:r>
                  <a:rPr lang="en-US" dirty="0"/>
                  <a:t>is an LMI. </a:t>
                </a:r>
              </a:p>
              <a:p>
                <a:pPr lvl="2"/>
                <a:r>
                  <a:rPr lang="en-US" dirty="0"/>
                  <a:t>UAV mobility constraints are convex quadratic constraints. 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(31)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semidefinite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programming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problem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It can be efficiently solved using an interior-point solver such as CVX.</a:t>
                </a:r>
              </a:p>
              <a:p>
                <a:pPr lvl="1"/>
                <a:r>
                  <a:rPr lang="en-US" dirty="0"/>
                  <a:t>The SCA approximation is updated around the current trajectory: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⟶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0A6B1-423D-8F98-D4AA-2EAF659DD3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A2516-848C-9228-4B13-54B909F4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1569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043F-0D11-FCBE-A597-E6AFFE5F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6C320-28E6-5763-AF5C-05190E63B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</m:oMath>
                </a14:m>
                <a:r>
                  <a:rPr lang="en-US" b="1" dirty="0"/>
                  <a:t>-Assisted Power Constraint</a:t>
                </a:r>
              </a:p>
              <a:p>
                <a:pPr lvl="1"/>
                <a:r>
                  <a:rPr lang="en-US" dirty="0"/>
                  <a:t>At iteration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, the power constraint is tightened as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/>
                  <a:t>                           (33)</a:t>
                </a:r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0&lt;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≤1.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Initially,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&lt;1,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Which leaves a safety margin in the covertness constraint.</a:t>
                </a:r>
              </a:p>
              <a:p>
                <a:pPr lvl="1"/>
                <a:r>
                  <a:rPr lang="en-US" dirty="0"/>
                  <a:t>The parameter is gradually increased: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+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step</m:t>
                        </m:r>
                      </m:sub>
                    </m:sSub>
                    <m:r>
                      <a:rPr lang="en-US"/>
                      <m:t>,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𝜃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step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/>
                          <m:t>1−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𝜃</m:t>
                            </m:r>
                          </m:e>
                          <m:sup>
                            <m:r>
                              <a:rPr lang="en-US"/>
                              <m:t>0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𝐼</m:t>
                            </m:r>
                          </m:e>
                          <m:sub>
                            <m:r>
                              <a:rPr lang="en-US" i="1"/>
                              <m:t>𝑚</m:t>
                            </m:r>
                          </m:sub>
                        </m:sSub>
                      </m:den>
                    </m:f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At the final iteration,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=1.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6C320-28E6-5763-AF5C-05190E63B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53163-8FE7-E79E-087D-6A6FA4B5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8201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B178-6B0D-2168-3E16-ECAE022A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CA5275-1818-D0FC-1BCC-01C81EED2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Modified Linearization Under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Under the </a:t>
                </a:r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</m:oMath>
                </a14:m>
                <a:r>
                  <a:rPr lang="en-US" dirty="0"/>
                  <a:t>-assisted method, the power constraint implies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 i="1"/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 i="1"/>
                          <m:t>𝛽</m:t>
                        </m:r>
                      </m:num>
                      <m:den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b>
                                <m:r>
                                  <a:rPr lang="en-US" i="1"/>
                                  <m:t>𝑚</m:t>
                                </m:r>
                              </m:sub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bSup>
                            <m:r>
                              <a:rPr lang="en-US"/>
                              <m:t>−</m:t>
                            </m:r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𝜃</m:t>
                            </m:r>
                          </m:e>
                          <m:sup>
                            <m:r>
                              <a:rPr lang="en-US" i="1"/>
                              <m:t>𝜈</m:t>
                            </m:r>
                          </m:sup>
                        </m:sSup>
                      </m:den>
                    </m:f>
                    <m:r>
                      <a:rPr lang="en-US"/>
                      <m:t>≤</m:t>
                    </m:r>
                    <m:r>
                      <a:rPr lang="en-US" i="1"/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𝐻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 the constant term in the lower bound is modified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b="0" dirty="0"/>
                  <a:t>                      (34)</a:t>
                </a:r>
              </a:p>
              <a:p>
                <a:pPr lvl="1"/>
                <a:r>
                  <a:rPr lang="en-US" dirty="0"/>
                  <a:t>The lower-bound expression becomes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/>
                          <m:t>LB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𝑏</m:t>
                        </m:r>
                      </m:e>
                      <m:sub>
                        <m:r>
                          <a:rPr lang="en-US"/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+2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/>
                                </m:ctrlPr>
                              </m:sSubSupPr>
                              <m:e>
                                <m:r>
                                  <a:rPr lang="en-US" b="1"/>
                                  <m:t>𝐪</m:t>
                                </m:r>
                              </m:e>
                              <m:sub>
                                <m:r>
                                  <a:rPr lang="en-US" i="1"/>
                                  <m:t>𝑢</m:t>
                                </m:r>
                              </m:sub>
                              <m:sup>
                                <m:r>
                                  <a:rPr lang="en-US" i="1"/>
                                  <m:t>𝜈</m:t>
                                </m:r>
                              </m:sup>
                            </m:sSub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/>
                                </m:ctrlPr>
                              </m:dPr>
                              <m:e>
                                <m:r>
                                  <a:rPr lang="en-US" i="1"/>
                                  <m:t>𝑛</m:t>
                                </m:r>
                              </m:e>
                            </m:d>
                            <m:r>
                              <a:rPr lang="en-US"/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/>
                                  <m:t>𝐰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/>
                          <m:t>𝑇</m:t>
                        </m:r>
                      </m:sup>
                    </m:sSup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b="1"/>
                              <m:t>𝐪</m:t>
                            </m:r>
                          </m:e>
                          <m:sub>
                            <m:r>
                              <a:rPr lang="en-US" i="1"/>
                              <m:t>𝑢</m:t>
                            </m:r>
                          </m:sub>
                          <m:sup>
                            <m:r>
                              <a:rPr lang="en-US" i="1"/>
                              <m:t>𝜈</m:t>
                            </m:r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𝑛</m:t>
                            </m:r>
                          </m:e>
                        </m:d>
                      </m:e>
                    </m:d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slack created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&lt;1</m:t>
                    </m:r>
                  </m:oMath>
                </a14:m>
                <a:r>
                  <a:rPr lang="en-US" dirty="0"/>
                  <a:t>allows the trajectory to move without immediately violating covertness.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CA5275-1818-D0FC-1BCC-01C81EED2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8A9B-E43D-AC50-2C9E-9ACA2901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0835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489D-213C-647C-69EA-FEC6B4C5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FCCB1-BE56-E5E8-4B59-DA1FB7F11B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Complete Iterative Algorithm</a:t>
                </a:r>
              </a:p>
              <a:p>
                <a:pPr lvl="1"/>
                <a:r>
                  <a:rPr lang="en-US" dirty="0"/>
                  <a:t>Initialization</a:t>
                </a:r>
              </a:p>
              <a:p>
                <a:pPr lvl="2"/>
                <a:r>
                  <a:rPr lang="en-US" dirty="0"/>
                  <a:t>Set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  <m:r>
                      <a:rPr lang="en-US"/>
                      <m:t>=0,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 initialize feasible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, 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, 0&lt;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≤1.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Iteration</a:t>
                </a:r>
              </a:p>
              <a:p>
                <a:pPr lvl="2"/>
                <a:r>
                  <a:rPr lang="en-US" dirty="0"/>
                  <a:t>Solve problem (24): 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/>
                            </m:ctrlPr>
                          </m:accPr>
                          <m:e>
                            <m:r>
                              <a:rPr lang="en-US" b="1" i="1"/>
                              <m:t>𝜶</m:t>
                            </m:r>
                          </m:e>
                        </m:acc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acc>
                              <m:accPr>
                                <m:chr m:val="̂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b="1" i="1"/>
                                  <m:t>𝜶</m:t>
                                </m:r>
                              </m:e>
                            </m:acc>
                            <m:r>
                              <a:rPr lang="en-US"/>
                              <m:t>,</m:t>
                            </m:r>
                            <m:r>
                              <a:rPr lang="en-US" i="1"/>
                              <m:t>𝜂</m:t>
                            </m:r>
                          </m:lim>
                        </m:limLow>
                      </m:e>
                    </m:func>
                    <m:r>
                      <a:rPr lang="en-US" i="1"/>
                      <m:t>𝜂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Solve problem (27) using constraint (33): 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𝐏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r>
                              <a:rPr lang="en-US" b="1"/>
                              <m:t>𝐏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i="1"/>
                              <m:t>𝜂</m:t>
                            </m:r>
                          </m:lim>
                        </m:limLow>
                      </m:e>
                    </m:func>
                    <m:r>
                      <a:rPr lang="en-US" i="1"/>
                      <m:t>𝜂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Update: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𝑠𝑡𝑒𝑝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Solve problem (31): 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/>
                        </m:ctrlPr>
                      </m:sSupPr>
                      <m:e>
                        <m:r>
                          <a:rPr lang="en-US" b="1"/>
                          <m:t>𝐐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=</m:t>
                    </m:r>
                    <m:func>
                      <m:funcPr>
                        <m:ctrlPr>
                          <a:rPr 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/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e>
                          <m:lim>
                            <m:r>
                              <a:rPr lang="en-US" b="1"/>
                              <m:t>𝐐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b="1" i="1"/>
                              <m:t>𝝁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i="1"/>
                              <m:t>𝜂</m:t>
                            </m:r>
                          </m:lim>
                        </m:limLow>
                      </m:e>
                    </m:func>
                    <m:r>
                      <a:rPr lang="en-US" i="1"/>
                      <m:t>𝜂</m:t>
                    </m:r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Set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  <m:r>
                      <a:rPr lang="en-US"/>
                      <m:t>←</m:t>
                    </m:r>
                    <m:r>
                      <a:rPr lang="en-US" i="1"/>
                      <m:t>𝜈</m:t>
                    </m:r>
                    <m:r>
                      <a:rPr lang="en-US"/>
                      <m:t>+1.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Repeat until the objective improvement is sufficiently small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𝜃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=1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FCCB1-BE56-E5E8-4B59-DA1FB7F11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6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6124D-39B2-524B-D180-22C3A16A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79765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10392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3013-0AD0-0D92-8ACC-926928A0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56ABD-B364-09DA-36AE-3E181923C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Reconstruction of Binary Scheduling</a:t>
                </a:r>
              </a:p>
              <a:p>
                <a:pPr lvl="1"/>
                <a:r>
                  <a:rPr lang="en-US" dirty="0"/>
                  <a:t>After convergence, the relaxed scheduling variables satisfy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0≤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≤1.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They are converted into binary variables using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arg</m:t>
                                  </m:r>
                                </m:fName>
                                <m:e>
                                  <m:limLow>
                                    <m:limLow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sepChr m:val=",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…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</m:d>
                                    </m:lim>
                                  </m:limLow>
                                </m:e>
                              </m:func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otherwise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                         (35)</a:t>
                </a:r>
              </a:p>
              <a:p>
                <a:pPr lvl="1"/>
                <a:r>
                  <a:rPr lang="en-US" dirty="0"/>
                  <a:t>Thus, each slot is assigned to the user with the largest relaxed scheduling value.</a:t>
                </a:r>
              </a:p>
              <a:p>
                <a:pPr lvl="1"/>
                <a:r>
                  <a:rPr lang="en-US" dirty="0"/>
                  <a:t>The TDMA condition is automatically satisfied: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/>
                        </m:ctrlPr>
                      </m:naryPr>
                      <m:sub>
                        <m:r>
                          <a:rPr lang="en-US" i="1"/>
                          <m:t>𝑘</m:t>
                        </m:r>
                        <m:r>
                          <a:rPr lang="en-US"/>
                          <m:t>=1</m:t>
                        </m:r>
                      </m:sub>
                      <m:sup>
                        <m:r>
                          <a:rPr lang="en-US" i="1"/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</m:sSub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=1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an active transmission slot.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56ABD-B364-09DA-36AE-3E181923C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192A3-A56C-7EA9-0173-C902BBE3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488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5A210-9659-DC42-9061-C3C667C3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389B4-C287-0A0B-4217-EF66C3B4CC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Convergence Analysis</a:t>
                </a:r>
              </a:p>
              <a:p>
                <a:pPr lvl="1"/>
                <a:r>
                  <a:rPr lang="en-US" dirty="0"/>
                  <a:t>Each subproblem maximizes the same objective </a:t>
                </a:r>
                <a14:m>
                  <m:oMath xmlns:m="http://schemas.openxmlformats.org/officeDocument/2006/math">
                    <m:r>
                      <a:rPr lang="en-US" i="1"/>
                      <m:t>𝜂</m:t>
                    </m:r>
                  </m:oMath>
                </a14:m>
                <a:r>
                  <a:rPr lang="en-US" dirty="0"/>
                  <a:t>while fixing the remaining variable blocks.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 i="1"/>
                          <m:t>𝜈</m:t>
                        </m:r>
                        <m:r>
                          <a:rPr lang="en-US"/>
                          <m:t>+1</m:t>
                        </m:r>
                      </m:sup>
                    </m:sSup>
                    <m:r>
                      <a:rPr lang="en-US"/>
                      <m:t>≥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objective sequence is non-decreasing: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/>
                          <m:t>0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/>
                          <m:t>1</m:t>
                        </m:r>
                      </m:sup>
                    </m:sSup>
                    <m:r>
                      <a:rPr lang="en-US"/>
                      <m:t>≤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≤⋯</m:t>
                    </m:r>
                    <m:r>
                      <m:rPr>
                        <m:nor/>
                      </m:rPr>
                      <a:rPr lang="en-US"/>
                      <m:t> </m:t>
                    </m:r>
                    <m:r>
                      <a:rPr lang="en-US"/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achievable rate is upper-bounded because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𝑛</m:t>
                        </m:r>
                      </m:e>
                    </m:d>
                    <m:r>
                      <a:rPr lang="en-US"/>
                      <m:t>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all channel gains are finite.</a:t>
                </a:r>
              </a:p>
              <a:p>
                <a:pPr lvl="1"/>
                <a:r>
                  <a:rPr lang="en-US" dirty="0"/>
                  <a:t>Hence,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i="1"/>
                          <m:t>𝜂</m:t>
                        </m:r>
                      </m:e>
                      <m:sup>
                        <m:r>
                          <a:rPr lang="en-US" i="1"/>
                          <m:t>𝜈</m:t>
                        </m:r>
                      </m:sup>
                    </m:sSup>
                    <m:r>
                      <a:rPr lang="en-US"/>
                      <m:t>≤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/>
                          <m:t>max</m:t>
                        </m:r>
                      </m:sub>
                    </m:sSub>
                    <m:r>
                      <a:rPr lang="en-US"/>
                      <m:t>&lt;∞.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monotonic and upper-bounded sequence converges. Therefore, Algorithm 1 converges to a stationary or locally optimal solution.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389B4-C287-0A0B-4217-EF66C3B4CC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E8A03-3C2F-9952-654F-D6345EC3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5998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335D-E063-586C-FCF3-0E53BD3A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Covert Rate Maximization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FD116-A2F1-9DA9-3F72-0A997F35F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Complexity and Final Remarks</a:t>
                </a:r>
              </a:p>
              <a:p>
                <a:pPr lvl="1"/>
                <a:r>
                  <a:rPr lang="en-US" dirty="0"/>
                  <a:t>At each BCD iteration, the algorithm solves:</a:t>
                </a:r>
              </a:p>
              <a:p>
                <a:pPr lvl="2"/>
                <a:r>
                  <a:rPr lang="en-US" dirty="0"/>
                  <a:t>One linear scheduling problem </a:t>
                </a:r>
              </a:p>
              <a:p>
                <a:pPr lvl="2"/>
                <a:r>
                  <a:rPr lang="en-US" dirty="0"/>
                  <a:t>One convex power-allocation problem </a:t>
                </a:r>
              </a:p>
              <a:p>
                <a:pPr lvl="2"/>
                <a:r>
                  <a:rPr lang="en-US" dirty="0"/>
                  <a:t>One semidefinite trajectory problem </a:t>
                </a:r>
              </a:p>
              <a:p>
                <a:pPr lvl="2"/>
                <a:r>
                  <a:rPr lang="en-US" dirty="0"/>
                  <a:t>The computational complexity is approximately</a:t>
                </a:r>
              </a:p>
              <a:p>
                <a:pPr lvl="2"/>
                <a14:m>
                  <m:oMath xmlns:m="http://schemas.openxmlformats.org/officeDocument/2006/math">
                    <m:borderBox>
                      <m:borderBoxPr>
                        <m:ctrlPr>
                          <a:rPr lang="en-US"/>
                        </m:ctrlPr>
                      </m:borderBoxPr>
                      <m:e>
                        <m:r>
                          <a:rPr lang="en-US"/>
                          <m:t>𝒪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r>
                                      <a:rPr lang="en-US" i="1"/>
                                      <m:t>𝐾𝑁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/>
                                  <m:t>3.5</m:t>
                                </m:r>
                              </m:sup>
                            </m:sSup>
                          </m:e>
                        </m:d>
                      </m:e>
                    </m:borderBox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per iteration.</a:t>
                </a:r>
              </a:p>
              <a:p>
                <a:r>
                  <a:rPr lang="en-US" dirty="0"/>
                  <a:t>Key Characteristics</a:t>
                </a:r>
              </a:p>
              <a:p>
                <a:pPr lvl="2"/>
                <a:r>
                  <a:rPr lang="en-US" dirty="0"/>
                  <a:t>Exploits TDMA scheduling </a:t>
                </a:r>
              </a:p>
              <a:p>
                <a:pPr lvl="2"/>
                <a:r>
                  <a:rPr lang="en-US" dirty="0"/>
                  <a:t>Controls transmit power under worst-case covertness </a:t>
                </a:r>
              </a:p>
              <a:p>
                <a:pPr lvl="2"/>
                <a:r>
                  <a:rPr lang="en-US" dirty="0"/>
                  <a:t>Designs a physically feasible UAV trajectory </a:t>
                </a:r>
              </a:p>
              <a:p>
                <a:pPr lvl="2"/>
                <a:r>
                  <a:rPr lang="en-US" dirty="0"/>
                  <a:t>Uses SCA to handle non-convex trajectory constraints </a:t>
                </a:r>
              </a:p>
              <a:p>
                <a:pPr lvl="2"/>
                <a:r>
                  <a:rPr lang="en-US" dirty="0"/>
                  <a:t>Uses </a:t>
                </a:r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</m:oMath>
                </a14:m>
                <a:r>
                  <a:rPr lang="en-US" dirty="0"/>
                  <a:t>to preserve trajectory-update feasibility </a:t>
                </a:r>
              </a:p>
              <a:p>
                <a:pPr lvl="2"/>
                <a:r>
                  <a:rPr lang="en-US" dirty="0"/>
                  <a:t>Converges, but global optimality is not guaranteed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algorithm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provides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efficient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locally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solution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Problem</m:t>
                    </m:r>
                    <m:r>
                      <m:rPr>
                        <m:nor/>
                      </m:rPr>
                      <a:rPr lang="en-US"/>
                      <m:t> (9)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7FD116-A2F1-9DA9-3F72-0A997F35F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2C726-0C53-6956-4F54-1EB3F548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571150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69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4770</Words>
  <Application>Microsoft Office PowerPoint</Application>
  <PresentationFormat>Widescreen</PresentationFormat>
  <Paragraphs>861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맑은 고딕</vt:lpstr>
      <vt:lpstr>Arial</vt:lpstr>
      <vt:lpstr>Cambria Math</vt:lpstr>
      <vt:lpstr>Tahoma</vt:lpstr>
      <vt:lpstr>Office 테마</vt:lpstr>
      <vt:lpstr>Resource Allocation and Trajectory Optimization for UAV-Enabled Multi-User Covert Communications</vt:lpstr>
      <vt:lpstr>Table of Contents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Problem Formulation</vt:lpstr>
      <vt:lpstr>Problem Formulation</vt:lpstr>
      <vt:lpstr>Problem Formulation</vt:lpstr>
      <vt:lpstr>Problem Formulation</vt:lpstr>
      <vt:lpstr>Problem Formulation</vt:lpstr>
      <vt:lpstr>System Model</vt:lpstr>
      <vt:lpstr>System Model</vt:lpstr>
      <vt:lpstr>System Model</vt:lpstr>
      <vt:lpstr>Problem Formulation</vt:lpstr>
      <vt:lpstr>Problem Formulation</vt:lpstr>
      <vt:lpstr>Problem Formulation</vt:lpstr>
      <vt:lpstr>Problem Formulaton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  <vt:lpstr>Covert Rate Maximization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5</cp:revision>
  <dcterms:created xsi:type="dcterms:W3CDTF">2018-05-20T06:28:16Z</dcterms:created>
  <dcterms:modified xsi:type="dcterms:W3CDTF">2026-07-30T12:28:26Z</dcterms:modified>
</cp:coreProperties>
</file>